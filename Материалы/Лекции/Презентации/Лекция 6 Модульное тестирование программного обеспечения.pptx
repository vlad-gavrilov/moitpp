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73" r:id="rId4"/>
    <p:sldId id="274" r:id="rId5"/>
    <p:sldId id="285" r:id="rId6"/>
    <p:sldId id="286" r:id="rId7"/>
    <p:sldId id="287" r:id="rId8"/>
    <p:sldId id="288" r:id="rId9"/>
    <p:sldId id="289" r:id="rId10"/>
    <p:sldId id="299" r:id="rId11"/>
    <p:sldId id="290" r:id="rId12"/>
    <p:sldId id="291" r:id="rId13"/>
    <p:sldId id="292" r:id="rId14"/>
    <p:sldId id="293" r:id="rId15"/>
    <p:sldId id="294" r:id="rId16"/>
    <p:sldId id="328" r:id="rId17"/>
    <p:sldId id="359" r:id="rId18"/>
    <p:sldId id="330" r:id="rId19"/>
    <p:sldId id="331" r:id="rId20"/>
    <p:sldId id="332" r:id="rId21"/>
    <p:sldId id="333" r:id="rId22"/>
    <p:sldId id="334" r:id="rId23"/>
    <p:sldId id="336" r:id="rId24"/>
    <p:sldId id="345" r:id="rId25"/>
    <p:sldId id="337" r:id="rId26"/>
    <p:sldId id="338" r:id="rId27"/>
    <p:sldId id="344" r:id="rId28"/>
    <p:sldId id="339" r:id="rId29"/>
    <p:sldId id="341" r:id="rId30"/>
    <p:sldId id="360" r:id="rId31"/>
    <p:sldId id="361" r:id="rId32"/>
    <p:sldId id="362" r:id="rId33"/>
    <p:sldId id="363" r:id="rId34"/>
    <p:sldId id="364" r:id="rId35"/>
    <p:sldId id="347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F9580-42EB-48AC-810B-BB0E7F2D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E8292E-6725-4EBA-AF64-0242450F3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5D51C-1AE2-41A1-A243-A88A3F18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500DA-FFB6-4F18-B2B6-B5259CED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ADE00-A412-4690-AB4D-5BA86C6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0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AFB2-5487-43BD-A645-C4A3E33B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6A168-825C-4326-A59F-C3BB7887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3C725-B896-48F2-ADDE-D37B1A50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AC956-C61E-4D74-AAAE-3297BC39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7295A-E096-48F5-ACE3-9E151134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8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B02D1-10E1-473A-8134-134AD3AA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E004C6-1147-4469-A70E-D8E150A3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F3FB5-2E7D-4603-820F-B85A6647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9286F-A86D-4991-8995-00B81E7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A1E1C-85B8-4977-9507-D3C08713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66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34FE5-5BD8-43AA-91BC-2D147142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B1232-01C2-4007-A922-E184E0B7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1081E9-62C3-4FAD-9C53-26802FA3D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7B8451-3D16-4C30-A2E6-3FA46A78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6A1F6-D99A-49EB-8A2D-566F766C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4F96EA-37A5-4595-91BC-5E17DEA0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9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2972D-3909-4348-8D3E-FB0B9C48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2F1E4-21B0-4F61-9AFC-1EF4F735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EFD26D-70FD-453E-A183-F97316B1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F60524-08FD-4F48-B481-D6C99A1A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A8C5EC-3CA1-49B0-97D2-402967F34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BD85B-1719-4E6F-9257-854B45D4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41837F-12FB-4E67-935B-C8BE0B3A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B0F62C-8BB2-459C-9B31-87EAAC6D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5281C-70FB-4D37-BCB6-FFFFF20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0B246F-1ED8-4FA0-960B-0CBD67BF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5F674F-EDC4-498F-B8F9-8DBBB9A7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6973A7-DA5C-4FF8-80B2-B76580BC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6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5361D-F9C0-4A4B-94C5-36D3C59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271546-2724-47C4-9DBB-C1EC3454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4A4A9-C09F-4A05-8121-46D919C1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47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63F6E-0050-42E8-A4DC-A5C05B4E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7F604-2E61-4106-8A08-9CF362EDF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603790-11D4-4A58-92FB-E58F04DE4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0B2516-2379-4206-A700-3E2C62F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CCECC-4067-4DF3-8362-A7848314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0ACDA-122C-47C2-A550-2554ECA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1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81A8F-5421-4CF5-9353-AE0E071C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CF67F5-9A8B-46B3-9C57-7B0630670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160048-8570-4BC9-AD31-FE0F54260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636A0-F77B-462D-836A-DE63125E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A56B6-E062-437F-A6EF-910DED94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28C62A-C851-43B2-BB27-EF26B0CC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6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577A5-AB23-469C-9601-9E46E07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2F9A3F-B16C-4790-AF7F-204D4A17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530A9-1D7E-461B-B792-697E0C31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210732-5E6F-40CE-9BAF-750B81CD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0B9CB-1BC6-4831-A2B9-65DF8710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94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CB3DD1-B640-4F42-8618-52DC401E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65716-E894-40E3-A7A6-48B7AA74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D1B5BE-4A56-48E5-B5DD-F8F4A50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142BC-0189-40CA-8E9E-51AC0DFB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C32AEA-D104-4738-8026-3CF7CE3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6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4A46D-0D20-4678-81AC-04EC7360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AA3114-F7E3-425F-A0BA-D191E63F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81F7B-6C4A-4289-A00A-38C8374ED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D8831-BA5A-4BEB-8C70-04E60106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EEA7DA-BF0A-4142-BAC7-C32D4D74C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6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unit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sergworks.files.wordpress.com/2012/08/fputest5.png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D1D42-66DD-4454-B5DC-E175F8AFE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366" y="1122363"/>
            <a:ext cx="9960634" cy="2387600"/>
          </a:xfrm>
        </p:spPr>
        <p:txBody>
          <a:bodyPr>
            <a:normAutofit/>
          </a:bodyPr>
          <a:lstStyle/>
          <a:p>
            <a:r>
              <a:rPr lang="ru-RU" dirty="0"/>
              <a:t>Лекция 6. 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</a:rPr>
              <a:t>Модульное т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естирование программы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AD359-AF07-4600-834C-249723F99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Методы отладки и тестирования программных продуктов </a:t>
            </a:r>
          </a:p>
          <a:p>
            <a:r>
              <a:rPr lang="ru-RU" dirty="0"/>
              <a:t>Б1.В.17,  09.03.01, набор 2017г.</a:t>
            </a:r>
          </a:p>
          <a:p>
            <a:r>
              <a:rPr lang="ru-RU" dirty="0"/>
              <a:t>СКФ МТУСИ, каф. ИВТ, доцент Ткачук Е.О.</a:t>
            </a:r>
          </a:p>
          <a:p>
            <a:r>
              <a:rPr lang="ru-RU" dirty="0"/>
              <a:t>2019/2020г.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1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884" y="620688"/>
            <a:ext cx="8712968" cy="216024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Тест-кейс – это структура вида: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 </a:t>
            </a:r>
            <a:r>
              <a:rPr lang="en-US" b="1" dirty="0"/>
              <a:t>&lt;</a:t>
            </a:r>
            <a:r>
              <a:rPr lang="ru-RU" b="1" dirty="0"/>
              <a:t>Действие</a:t>
            </a:r>
            <a:r>
              <a:rPr lang="en-US" b="1" dirty="0"/>
              <a:t>&gt;</a:t>
            </a:r>
            <a:r>
              <a:rPr lang="ru-RU" b="1" dirty="0"/>
              <a:t> / </a:t>
            </a:r>
            <a:r>
              <a:rPr lang="en-US" b="1" dirty="0"/>
              <a:t>&lt;</a:t>
            </a:r>
            <a:r>
              <a:rPr lang="ru-RU" b="1" dirty="0"/>
              <a:t>Ожидаемый результат</a:t>
            </a:r>
            <a:r>
              <a:rPr lang="en-US" b="1" dirty="0"/>
              <a:t>&gt; 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91916" y="233407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необязательно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8420" y="233870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обязательно</a:t>
            </a:r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1703884" y="3573016"/>
            <a:ext cx="8712968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2800" dirty="0"/>
              <a:t>В результате </a:t>
            </a:r>
            <a:r>
              <a:rPr lang="ru-RU" sz="2800" b="1" i="1" dirty="0"/>
              <a:t>исполнения</a:t>
            </a:r>
            <a:r>
              <a:rPr lang="ru-RU" sz="2800" dirty="0"/>
              <a:t> тест-кейса получаем:</a:t>
            </a:r>
          </a:p>
          <a:p>
            <a:pPr marL="0" indent="0" algn="ctr">
              <a:buNone/>
            </a:pPr>
            <a:endParaRPr lang="ru-RU" sz="800" b="1" dirty="0"/>
          </a:p>
          <a:p>
            <a:pPr marL="0" indent="0" algn="ctr">
              <a:buNone/>
            </a:pPr>
            <a:r>
              <a:rPr lang="en-US" sz="2800" b="1" dirty="0"/>
              <a:t>&lt;</a:t>
            </a:r>
            <a:r>
              <a:rPr lang="ru-RU" sz="2800" b="1" dirty="0"/>
              <a:t>Фактический результат</a:t>
            </a:r>
            <a:r>
              <a:rPr lang="en-US" sz="2800" b="1" dirty="0"/>
              <a:t>&gt; 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88807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2916" y="1196752"/>
            <a:ext cx="9144000" cy="439248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Если:</a:t>
            </a:r>
          </a:p>
          <a:p>
            <a:pPr marL="0" indent="0" algn="ctr">
              <a:buNone/>
            </a:pPr>
            <a:endParaRPr lang="ru-RU" sz="800" b="1" dirty="0"/>
          </a:p>
          <a:p>
            <a:pPr marL="0" indent="0" algn="ctr">
              <a:buNone/>
            </a:pPr>
            <a:r>
              <a:rPr lang="en-US" b="1" dirty="0"/>
              <a:t>&lt;</a:t>
            </a:r>
            <a:r>
              <a:rPr lang="ru-RU" b="1" dirty="0"/>
              <a:t>Фактический результат</a:t>
            </a:r>
            <a:r>
              <a:rPr lang="en-US" b="1" dirty="0"/>
              <a:t>&gt;</a:t>
            </a:r>
            <a:r>
              <a:rPr lang="ru-RU" b="1" dirty="0"/>
              <a:t> = </a:t>
            </a:r>
          </a:p>
          <a:p>
            <a:pPr marL="0" indent="0" algn="ctr">
              <a:buNone/>
            </a:pPr>
            <a:r>
              <a:rPr lang="en-US" b="1" dirty="0"/>
              <a:t>&lt;</a:t>
            </a:r>
            <a:r>
              <a:rPr lang="ru-RU" b="1" dirty="0"/>
              <a:t>Ожидаемый результат</a:t>
            </a:r>
            <a:r>
              <a:rPr lang="en-US" b="1" dirty="0"/>
              <a:t>&gt; </a:t>
            </a:r>
            <a:r>
              <a:rPr lang="ru-RU" b="1" dirty="0"/>
              <a:t>,</a:t>
            </a:r>
          </a:p>
          <a:p>
            <a:pPr marL="0" indent="0" algn="ctr">
              <a:buNone/>
            </a:pPr>
            <a:r>
              <a:rPr lang="ru-RU" dirty="0"/>
              <a:t>то: </a:t>
            </a:r>
          </a:p>
          <a:p>
            <a:pPr marL="0" indent="0" algn="ctr">
              <a:buNone/>
            </a:pPr>
            <a:r>
              <a:rPr lang="ru-RU" b="1" dirty="0"/>
              <a:t>исход теста </a:t>
            </a:r>
            <a:r>
              <a:rPr lang="ru-RU" dirty="0"/>
              <a:t>положительный (</a:t>
            </a:r>
            <a:r>
              <a:rPr lang="en-US" dirty="0"/>
              <a:t>PASSED</a:t>
            </a:r>
            <a:r>
              <a:rPr lang="ru-RU" dirty="0"/>
              <a:t>),</a:t>
            </a:r>
          </a:p>
          <a:p>
            <a:pPr marL="0" indent="0" algn="ctr">
              <a:buNone/>
            </a:pPr>
            <a:r>
              <a:rPr lang="ru-RU" dirty="0"/>
              <a:t>иначе:</a:t>
            </a:r>
          </a:p>
          <a:p>
            <a:pPr marL="0" indent="0" algn="ctr">
              <a:buNone/>
            </a:pPr>
            <a:r>
              <a:rPr lang="ru-RU" b="1" dirty="0"/>
              <a:t>исход теста </a:t>
            </a:r>
            <a:r>
              <a:rPr lang="ru-RU" dirty="0"/>
              <a:t>отрицательный (</a:t>
            </a:r>
            <a:r>
              <a:rPr lang="en-US" dirty="0"/>
              <a:t>FAILED</a:t>
            </a:r>
            <a:r>
              <a:rPr lang="ru-RU" dirty="0"/>
              <a:t>)</a:t>
            </a:r>
          </a:p>
          <a:p>
            <a:pPr marL="0" indent="0" algn="ctr">
              <a:buNone/>
            </a:pPr>
            <a:endParaRPr lang="ru-RU" dirty="0"/>
          </a:p>
        </p:txBody>
      </p:sp>
      <p:pic>
        <p:nvPicPr>
          <p:cNvPr id="7" name="Picture 4" descr="http://im0-tub-ru.yandex.net/i?id=29933000-04-72&amp;n=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34067">
            <a:off x="9552384" y="4509121"/>
            <a:ext cx="792088" cy="99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48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usovi.ru/uroki_sovi/azbuka/book/17-b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476673"/>
            <a:ext cx="4752528" cy="51190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47728" y="5877273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FAILED!!! </a:t>
            </a:r>
            <a:r>
              <a:rPr lang="ru-RU" sz="3200" dirty="0"/>
              <a:t>Баг пойман!!!</a:t>
            </a:r>
          </a:p>
        </p:txBody>
      </p:sp>
    </p:spTree>
    <p:extLst>
      <p:ext uri="{BB962C8B-B14F-4D97-AF65-F5344CB8AC3E}">
        <p14:creationId xmlns:p14="http://schemas.microsoft.com/office/powerpoint/2010/main" val="378499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77814"/>
            <a:ext cx="8229600" cy="846931"/>
          </a:xfrm>
        </p:spPr>
        <p:txBody>
          <a:bodyPr/>
          <a:lstStyle/>
          <a:p>
            <a:r>
              <a:rPr lang="ru-RU" sz="3600" b="1" dirty="0"/>
              <a:t>Еще немного терминологии…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1600201"/>
            <a:ext cx="8784976" cy="4530725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Процесс придумывания ситуаций для тестирования  называется </a:t>
            </a:r>
            <a:r>
              <a:rPr lang="ru-RU" sz="2400" b="1" dirty="0"/>
              <a:t>созданием тест-кейса</a:t>
            </a:r>
            <a:r>
              <a:rPr lang="ru-RU" sz="2400" dirty="0"/>
              <a:t> (</a:t>
            </a:r>
            <a:r>
              <a:rPr lang="en-US" sz="2400" i="1" dirty="0"/>
              <a:t>test case generation</a:t>
            </a:r>
            <a:r>
              <a:rPr lang="ru-RU" sz="2400" dirty="0"/>
              <a:t>).</a:t>
            </a:r>
            <a:endParaRPr lang="en-US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Процесс использования тест-кейса для испытания тестируемой программы называется </a:t>
            </a:r>
            <a:r>
              <a:rPr lang="ru-RU" sz="2400" b="1" dirty="0"/>
              <a:t>исполнением тест-кейса </a:t>
            </a:r>
            <a:r>
              <a:rPr lang="ru-RU" sz="2400" dirty="0"/>
              <a:t>(</a:t>
            </a:r>
            <a:r>
              <a:rPr lang="en-US" sz="2400" i="1" dirty="0"/>
              <a:t>test case execution</a:t>
            </a:r>
            <a:r>
              <a:rPr lang="ru-RU" sz="2400" dirty="0"/>
              <a:t>).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b="1" dirty="0"/>
              <a:t>Исход исполнения тест-кейса </a:t>
            </a:r>
            <a:r>
              <a:rPr lang="ru-RU" sz="2400" dirty="0"/>
              <a:t>(</a:t>
            </a:r>
            <a:r>
              <a:rPr lang="en-US" sz="2400" i="1" dirty="0"/>
              <a:t>test case result</a:t>
            </a:r>
            <a:r>
              <a:rPr lang="ru-RU" sz="2400" dirty="0"/>
              <a:t>) может быть либо </a:t>
            </a:r>
            <a:r>
              <a:rPr lang="ru-RU" sz="2400" b="1" dirty="0"/>
              <a:t>положительный</a:t>
            </a:r>
            <a:r>
              <a:rPr lang="ru-RU" sz="2400" dirty="0"/>
              <a:t> </a:t>
            </a:r>
            <a:r>
              <a:rPr lang="en-US" sz="2400" dirty="0"/>
              <a:t>(PASSED)</a:t>
            </a:r>
            <a:r>
              <a:rPr lang="ru-RU" sz="2400" dirty="0"/>
              <a:t>, либо </a:t>
            </a:r>
            <a:r>
              <a:rPr lang="ru-RU" sz="2400" b="1" dirty="0"/>
              <a:t>отрицательный</a:t>
            </a:r>
            <a:r>
              <a:rPr lang="ru-RU" sz="2400" dirty="0"/>
              <a:t> (</a:t>
            </a:r>
            <a:r>
              <a:rPr lang="en-US" sz="2400" dirty="0"/>
              <a:t>FAILED</a:t>
            </a:r>
            <a:r>
              <a:rPr lang="ru-RU" sz="2400" dirty="0"/>
              <a:t>). Третьего не дано.</a:t>
            </a:r>
          </a:p>
        </p:txBody>
      </p:sp>
    </p:spTree>
    <p:extLst>
      <p:ext uri="{BB962C8B-B14F-4D97-AF65-F5344CB8AC3E}">
        <p14:creationId xmlns:p14="http://schemas.microsoft.com/office/powerpoint/2010/main" val="323779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31504" y="277814"/>
            <a:ext cx="8928992" cy="1278979"/>
          </a:xfrm>
        </p:spPr>
        <p:txBody>
          <a:bodyPr/>
          <a:lstStyle/>
          <a:p>
            <a:r>
              <a:rPr lang="ru-RU" sz="3200" b="1" dirty="0"/>
              <a:t>Документальное оформление тест-кейса. Общая структура.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69160"/>
          </a:xfrm>
        </p:spPr>
        <p:txBody>
          <a:bodyPr/>
          <a:lstStyle/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Уникальный </a:t>
            </a:r>
            <a:r>
              <a:rPr lang="en-US" sz="2400" dirty="0"/>
              <a:t>ID.</a:t>
            </a:r>
            <a:endParaRPr lang="ru-RU" sz="2400" dirty="0"/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Наименование проекта.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Ссылка на разделы функциональной спецификации.</a:t>
            </a:r>
            <a:endParaRPr lang="en-US" sz="2400" dirty="0"/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Приоритет.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Идея.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Подготовительная часть.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Исполнение.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Ожидаемый результат.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ru-RU" sz="2400" dirty="0"/>
              <a:t>История редактирования. </a:t>
            </a:r>
          </a:p>
        </p:txBody>
      </p:sp>
    </p:spTree>
    <p:extLst>
      <p:ext uri="{BB962C8B-B14F-4D97-AF65-F5344CB8AC3E}">
        <p14:creationId xmlns:p14="http://schemas.microsoft.com/office/powerpoint/2010/main" val="150747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9008" y="1"/>
            <a:ext cx="8928992" cy="630907"/>
          </a:xfrm>
        </p:spPr>
        <p:txBody>
          <a:bodyPr/>
          <a:lstStyle/>
          <a:p>
            <a:r>
              <a:rPr lang="ru-RU" sz="3200" b="1" dirty="0"/>
              <a:t>Документальное оформление тест-кейса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836713"/>
            <a:ext cx="8964488" cy="529421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Уникальный </a:t>
            </a:r>
            <a:r>
              <a:rPr lang="en-US" sz="2400" b="1" dirty="0"/>
              <a:t>ID</a:t>
            </a:r>
            <a:endParaRPr lang="en-US" sz="2400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Идентификатор тест-кейса должен быть уникальным в пределах проекта. Например</a:t>
            </a:r>
            <a:r>
              <a:rPr lang="en-US" sz="2400" dirty="0"/>
              <a:t>:</a:t>
            </a:r>
            <a:r>
              <a:rPr lang="ru-RU" sz="2400" dirty="0"/>
              <a:t> </a:t>
            </a:r>
            <a:r>
              <a:rPr lang="en-US" sz="2400" i="1" dirty="0"/>
              <a:t>#</a:t>
            </a:r>
            <a:r>
              <a:rPr lang="ru-RU" sz="2400" i="1" dirty="0"/>
              <a:t>ТС</a:t>
            </a:r>
            <a:r>
              <a:rPr lang="en-US" sz="2400" i="1" dirty="0"/>
              <a:t>123456</a:t>
            </a:r>
            <a:r>
              <a:rPr lang="ru-RU" sz="2400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Наименование проекта</a:t>
            </a:r>
            <a:endParaRPr lang="en-US" sz="2400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Полезно указывать, чтобы не вносить путаницу, если в компании одновременно разрабатывается несколько проектов.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Ссылка на разделы функциональной спецификации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Очень полезно ее приводить, чтобы понимать, какую именно функцию программы мы тестируем и как она связана с другими.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0803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9008" y="1"/>
            <a:ext cx="8928992" cy="630907"/>
          </a:xfrm>
        </p:spPr>
        <p:txBody>
          <a:bodyPr/>
          <a:lstStyle/>
          <a:p>
            <a:r>
              <a:rPr lang="ru-RU" sz="3200" b="1" dirty="0"/>
              <a:t>Документальное оформление тест-кейса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836713"/>
            <a:ext cx="8784976" cy="529421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Приоритет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Обычно используется 4-балльная шкала, например: </a:t>
            </a:r>
            <a:r>
              <a:rPr lang="ru-RU" sz="2400" i="1" dirty="0"/>
              <a:t>П1</a:t>
            </a:r>
            <a:r>
              <a:rPr lang="ru-RU" sz="2400" dirty="0"/>
              <a:t> – высший приоритет (очень важно, нужно исполнить в первую очередь); </a:t>
            </a:r>
            <a:r>
              <a:rPr lang="ru-RU" sz="2400" i="1" dirty="0"/>
              <a:t>П4</a:t>
            </a:r>
            <a:r>
              <a:rPr lang="ru-RU" sz="2400" dirty="0"/>
              <a:t> – низший приоритет (не срочно, можно оставить на потом).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Идея</a:t>
            </a:r>
            <a:endParaRPr lang="en-US" sz="2400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Описание, что конкретно мы будем тестировать. Например: </a:t>
            </a:r>
            <a:r>
              <a:rPr lang="ru-RU" sz="2400" i="1" dirty="0"/>
              <a:t>«Проверка функции вставки из буфера обмена в редактируемый текст»</a:t>
            </a:r>
          </a:p>
        </p:txBody>
      </p:sp>
    </p:spTree>
    <p:extLst>
      <p:ext uri="{BB962C8B-B14F-4D97-AF65-F5344CB8AC3E}">
        <p14:creationId xmlns:p14="http://schemas.microsoft.com/office/powerpoint/2010/main" val="337928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9008" y="1"/>
            <a:ext cx="8928992" cy="630907"/>
          </a:xfrm>
        </p:spPr>
        <p:txBody>
          <a:bodyPr/>
          <a:lstStyle/>
          <a:p>
            <a:r>
              <a:rPr lang="ru-RU" sz="3200" b="1" dirty="0"/>
              <a:t>Документальное оформление тест-кейса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1340768"/>
            <a:ext cx="8784976" cy="4320480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Подготовительная часть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Информация о том, как подготовится к исполнению тест-кейса, какие инструменты (файлы, учетные данные, запросы к БД и т. п.) понадобятся для этого. А также комментарии в помощь </a:t>
            </a:r>
            <a:r>
              <a:rPr lang="ru-RU" sz="2400" dirty="0" err="1"/>
              <a:t>тестировщику</a:t>
            </a:r>
            <a:r>
              <a:rPr lang="ru-RU" sz="2400" dirty="0"/>
              <a:t>. Например: </a:t>
            </a:r>
            <a:endParaRPr lang="ru-RU" sz="2400" i="1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i="1" dirty="0"/>
              <a:t>1. Открыть тестовый файл </a:t>
            </a:r>
            <a:r>
              <a:rPr lang="en-US" sz="2400" i="1" dirty="0"/>
              <a:t>TC123456.rtf </a:t>
            </a:r>
            <a:r>
              <a:rPr lang="ru-RU" sz="2400" i="1" dirty="0"/>
              <a:t>в редакторе </a:t>
            </a:r>
            <a:r>
              <a:rPr lang="en-US" sz="2400" i="1" dirty="0"/>
              <a:t>WordPad</a:t>
            </a:r>
            <a:r>
              <a:rPr lang="ru-RU" sz="2400" i="1" dirty="0"/>
              <a:t> (или </a:t>
            </a:r>
            <a:r>
              <a:rPr lang="en-US" sz="2400" i="1" dirty="0"/>
              <a:t>Word</a:t>
            </a:r>
            <a:r>
              <a:rPr lang="ru-RU" sz="2400" i="1" dirty="0"/>
              <a:t>).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i="1" dirty="0"/>
              <a:t>2. Запустить тестируемое</a:t>
            </a:r>
            <a:r>
              <a:rPr lang="en-US" sz="2400" i="1" dirty="0"/>
              <a:t> </a:t>
            </a:r>
            <a:r>
              <a:rPr lang="ru-RU" sz="2400" i="1" dirty="0"/>
              <a:t>приложение и создать в нем новый документ»  </a:t>
            </a:r>
            <a:endParaRPr lang="en-US" sz="2400" i="1" dirty="0"/>
          </a:p>
          <a:p>
            <a:pPr marL="0" indent="0">
              <a:spcBef>
                <a:spcPts val="1200"/>
              </a:spcBef>
              <a:buNone/>
            </a:pP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684906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9008" y="1"/>
            <a:ext cx="8928992" cy="630907"/>
          </a:xfrm>
        </p:spPr>
        <p:txBody>
          <a:bodyPr/>
          <a:lstStyle/>
          <a:p>
            <a:r>
              <a:rPr lang="ru-RU" sz="3200" b="1" dirty="0"/>
              <a:t>Документальное оформление тест-кейса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1268760"/>
            <a:ext cx="8784976" cy="4104456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Исполнение</a:t>
            </a:r>
            <a:endParaRPr lang="en-US" sz="2400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Описание, последовательности шагов исполнения тест-кейса. Например: </a:t>
            </a:r>
          </a:p>
          <a:p>
            <a:pPr marL="0" indent="0">
              <a:spcBef>
                <a:spcPts val="1200"/>
              </a:spcBef>
              <a:buNone/>
            </a:pPr>
            <a:endParaRPr lang="ru-RU" sz="800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i="1" dirty="0"/>
              <a:t>1. Скопировать содержимое абзаца 1 тестового файла, открытого в другом приложении.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i="1" dirty="0"/>
              <a:t>2. Перейти в тестируемое приложение, установить курсор в позицию 1 редактируемого текста.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i="1" dirty="0"/>
              <a:t>3.  Нажать на кнопку «Вставить».</a:t>
            </a:r>
          </a:p>
        </p:txBody>
      </p:sp>
    </p:spTree>
    <p:extLst>
      <p:ext uri="{BB962C8B-B14F-4D97-AF65-F5344CB8AC3E}">
        <p14:creationId xmlns:p14="http://schemas.microsoft.com/office/powerpoint/2010/main" val="276622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9008" y="1"/>
            <a:ext cx="8928992" cy="630907"/>
          </a:xfrm>
        </p:spPr>
        <p:txBody>
          <a:bodyPr/>
          <a:lstStyle/>
          <a:p>
            <a:r>
              <a:rPr lang="ru-RU" sz="3200" b="1" dirty="0"/>
              <a:t>Документальное оформление тест-кейса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1124745"/>
            <a:ext cx="8784976" cy="529421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Ожидаемый результат</a:t>
            </a:r>
            <a:endParaRPr lang="en-US" sz="2400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Описание того, что должно произойти при исполнении тест-кейса.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Например: «</a:t>
            </a:r>
            <a:r>
              <a:rPr lang="ru-RU" sz="2400" i="1" dirty="0"/>
              <a:t>Содержание и формат вставленного текста соответствуют оригинальному (из тестового файла)».</a:t>
            </a:r>
          </a:p>
          <a:p>
            <a:pPr marL="0" indent="0">
              <a:spcBef>
                <a:spcPts val="1200"/>
              </a:spcBef>
              <a:buNone/>
            </a:pPr>
            <a:endParaRPr lang="ru-RU" sz="2400" i="1" dirty="0"/>
          </a:p>
          <a:p>
            <a:pPr marL="0" indent="0">
              <a:spcBef>
                <a:spcPts val="1200"/>
              </a:spcBef>
              <a:buNone/>
            </a:pPr>
            <a:r>
              <a:rPr lang="ru-RU" sz="2400" b="1" dirty="0"/>
              <a:t>История редактирования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2400" dirty="0"/>
              <a:t>Даты и авторы создания и последней модификации тест-кейса.</a:t>
            </a:r>
          </a:p>
        </p:txBody>
      </p:sp>
    </p:spTree>
    <p:extLst>
      <p:ext uri="{BB962C8B-B14F-4D97-AF65-F5344CB8AC3E}">
        <p14:creationId xmlns:p14="http://schemas.microsoft.com/office/powerpoint/2010/main" val="319598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630907"/>
          </a:xfrm>
        </p:spPr>
        <p:txBody>
          <a:bodyPr/>
          <a:lstStyle/>
          <a:p>
            <a:r>
              <a:rPr lang="ru-RU" sz="2800" b="1" dirty="0"/>
              <a:t>В результате должно получиться вот так: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90" y="668505"/>
            <a:ext cx="4372519" cy="603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67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332656"/>
            <a:ext cx="9144000" cy="1512168"/>
          </a:xfrm>
        </p:spPr>
        <p:txBody>
          <a:bodyPr/>
          <a:lstStyle/>
          <a:p>
            <a:r>
              <a:rPr lang="ru-RU" sz="2800" dirty="0"/>
              <a:t>Набор тест-кейсов для тестирования родственных функций программы называется </a:t>
            </a:r>
            <a:r>
              <a:rPr lang="ru-RU" sz="2800" b="1" dirty="0"/>
              <a:t>тест-комплект </a:t>
            </a:r>
            <a:br>
              <a:rPr lang="ru-RU" sz="2800" b="1" dirty="0"/>
            </a:br>
            <a:r>
              <a:rPr lang="ru-RU" sz="2800" dirty="0"/>
              <a:t>(</a:t>
            </a:r>
            <a:r>
              <a:rPr lang="en-US" sz="2800" i="1" dirty="0"/>
              <a:t>test suite</a:t>
            </a:r>
            <a:r>
              <a:rPr lang="ru-RU" sz="2800" dirty="0"/>
              <a:t>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829" y="1974975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607" y="2046983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553" y="2118991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567" y="2266579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543" y="2407023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520" y="2460527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534" y="2608115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510" y="2748559"/>
            <a:ext cx="2572834" cy="348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231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3603" y="116633"/>
            <a:ext cx="8928992" cy="630907"/>
          </a:xfrm>
        </p:spPr>
        <p:txBody>
          <a:bodyPr/>
          <a:lstStyle/>
          <a:p>
            <a:r>
              <a:rPr lang="ru-RU" sz="3200" b="1" dirty="0"/>
              <a:t>Основные требования к тест-кейсу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1124745"/>
            <a:ext cx="8784976" cy="432048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ru-RU" dirty="0"/>
              <a:t>Тест-кейсы должны быть независимы друг от друга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Идея должна быть сформулирована понятно. </a:t>
            </a:r>
          </a:p>
          <a:p>
            <a:pPr>
              <a:spcBef>
                <a:spcPts val="12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Шаги исполнения и ожидаемый результат должны быть сформулированы четко, без возможности двоякого толкования.</a:t>
            </a:r>
          </a:p>
        </p:txBody>
      </p:sp>
    </p:spTree>
    <p:extLst>
      <p:ext uri="{BB962C8B-B14F-4D97-AF65-F5344CB8AC3E}">
        <p14:creationId xmlns:p14="http://schemas.microsoft.com/office/powerpoint/2010/main" val="2255647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12701"/>
            <a:ext cx="9253536" cy="630907"/>
          </a:xfrm>
        </p:spPr>
        <p:txBody>
          <a:bodyPr/>
          <a:lstStyle/>
          <a:p>
            <a:r>
              <a:rPr lang="ru-RU" sz="3000" b="1" dirty="0"/>
              <a:t>Зачем документально оформлять тест-кейсы?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63953" y="930225"/>
            <a:ext cx="5184575" cy="1066427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ru-RU" sz="2400" dirty="0" err="1"/>
              <a:t>Тестировщик</a:t>
            </a:r>
            <a:r>
              <a:rPr lang="ru-RU" sz="2400" dirty="0"/>
              <a:t> может забыть подробности тест-кейса</a:t>
            </a:r>
          </a:p>
        </p:txBody>
      </p:sp>
      <p:pic>
        <p:nvPicPr>
          <p:cNvPr id="12290" name="Picture 2" descr="http://ma-rss.ru/kartinki/2012/6/skleroz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51" y="637264"/>
            <a:ext cx="1769740" cy="15121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://wiki.iteach.ru/images/c/c4/Www.donnews.r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761" y="2126617"/>
            <a:ext cx="1731641" cy="20574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http://www.magicwish.ru/_pu/14/1322099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4768970"/>
            <a:ext cx="1979712" cy="16897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/>
          <p:cNvSpPr txBox="1">
            <a:spLocks/>
          </p:cNvSpPr>
          <p:nvPr/>
        </p:nvSpPr>
        <p:spPr bwMode="auto">
          <a:xfrm>
            <a:off x="4862556" y="2486454"/>
            <a:ext cx="5544615" cy="761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spcBef>
                <a:spcPts val="1200"/>
              </a:spcBef>
            </a:pPr>
            <a:r>
              <a:rPr lang="ru-RU" sz="2400" dirty="0" err="1"/>
              <a:t>Тестировщик</a:t>
            </a:r>
            <a:r>
              <a:rPr lang="ru-RU" sz="2400" dirty="0"/>
              <a:t> может уволиться</a:t>
            </a:r>
          </a:p>
          <a:p>
            <a:pPr marL="0" indent="0">
              <a:spcBef>
                <a:spcPts val="1200"/>
              </a:spcBef>
              <a:buNone/>
            </a:pPr>
            <a:endParaRPr lang="ru-RU" sz="2400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 bwMode="auto">
          <a:xfrm>
            <a:off x="4151784" y="4293097"/>
            <a:ext cx="6516217" cy="2369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ru-RU" sz="2000" b="1" dirty="0"/>
              <a:t>И главное…</a:t>
            </a:r>
          </a:p>
          <a:p>
            <a:pPr>
              <a:spcBef>
                <a:spcPts val="1200"/>
              </a:spcBef>
            </a:pPr>
            <a:r>
              <a:rPr lang="ru-RU" sz="2000" dirty="0"/>
              <a:t>Исходный код приложения меняется от релиза к релизу. Поэтому приходится многократно исполнять одни и те же тест-комплекты, чтобы убедиться, что изменения не нарушили работоспособности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28201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1544" y="2420889"/>
            <a:ext cx="8229600" cy="1139825"/>
          </a:xfrm>
        </p:spPr>
        <p:txBody>
          <a:bodyPr/>
          <a:lstStyle/>
          <a:p>
            <a:r>
              <a:rPr lang="ru-RU" sz="4800" dirty="0"/>
              <a:t>Модульное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378108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775520" y="1196752"/>
            <a:ext cx="8610694" cy="3600400"/>
          </a:xfrm>
        </p:spPr>
        <p:txBody>
          <a:bodyPr/>
          <a:lstStyle/>
          <a:p>
            <a:pPr marL="0" indent="0">
              <a:buNone/>
            </a:pPr>
            <a:r>
              <a:rPr lang="ru-RU" sz="2600" i="1" dirty="0">
                <a:latin typeface="+mj-lt"/>
              </a:rPr>
              <a:t>«В  поиски  повышения  надежности  будут  вкладываться средства  до тех пор, пока они не превысят величину убытков от неизбежных ошибок или пока кто-нибудь не потребует, чтобы была сделана хоть какая-то полезная работа»</a:t>
            </a:r>
          </a:p>
          <a:p>
            <a:pPr marL="0" indent="0" algn="r">
              <a:buNone/>
            </a:pPr>
            <a:endParaRPr lang="ru-RU" sz="2400" i="1" dirty="0">
              <a:latin typeface="+mj-lt"/>
            </a:endParaRPr>
          </a:p>
          <a:p>
            <a:pPr marL="0" indent="0" algn="r">
              <a:buNone/>
            </a:pPr>
            <a:r>
              <a:rPr lang="ru-RU" sz="2400" i="1" dirty="0">
                <a:latin typeface="+mj-lt"/>
              </a:rPr>
              <a:t>4-й закон ненадежности Джилба</a:t>
            </a:r>
          </a:p>
          <a:p>
            <a:pPr marL="0" indent="0" algn="r">
              <a:buNone/>
            </a:pPr>
            <a:r>
              <a:rPr lang="ru-RU" sz="2400" i="1" dirty="0">
                <a:latin typeface="+mj-lt"/>
              </a:rPr>
              <a:t>(Артур Блох «Законы </a:t>
            </a:r>
            <a:r>
              <a:rPr lang="ru-RU" sz="2400" i="1" dirty="0" err="1">
                <a:latin typeface="+mj-lt"/>
              </a:rPr>
              <a:t>Мёрфи</a:t>
            </a:r>
            <a:r>
              <a:rPr lang="ru-RU" sz="2400" i="1" dirty="0">
                <a:latin typeface="+mj-lt"/>
              </a:rPr>
              <a:t>») </a:t>
            </a:r>
          </a:p>
        </p:txBody>
      </p:sp>
      <p:pic>
        <p:nvPicPr>
          <p:cNvPr id="9218" name="Picture 2" descr="http://cs5334.userapi.com/u8620368/-5/x_2908389f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1053" y1="53477" x2="41053" y2="53477"/>
                        <a14:foregroundMark x1="51053" y1="51490" x2="51053" y2="51490"/>
                        <a14:foregroundMark x1="54211" y1="61424" x2="54211" y2="61424"/>
                        <a14:foregroundMark x1="55614" y1="53146" x2="55614" y2="53146"/>
                        <a14:foregroundMark x1="4035" y1="37748" x2="4035" y2="37748"/>
                        <a14:foregroundMark x1="85263" y1="20530" x2="85263" y2="20530"/>
                        <a14:foregroundMark x1="41053" y1="50166" x2="44561" y2="47185"/>
                        <a14:foregroundMark x1="49123" y1="58775" x2="52807" y2="50497"/>
                        <a14:backgroundMark x1="84475" y1="22366" x2="84475" y2="22366"/>
                        <a14:backgroundMark x1="81735" y1="15054" x2="92237" y2="24946"/>
                        <a14:backgroundMark x1="1598" y1="33548" x2="7763" y2="44086"/>
                        <a14:backgroundMark x1="81735" y1="11828" x2="94292" y2="36774"/>
                        <a14:backgroundMark x1="79680" y1="28387" x2="93607" y2="111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3645025"/>
            <a:ext cx="1819275" cy="192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46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91544" y="1196752"/>
            <a:ext cx="8229600" cy="424847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Модульное тестирование</a:t>
            </a:r>
            <a:r>
              <a:rPr lang="ru-RU" dirty="0"/>
              <a:t> (</a:t>
            </a:r>
            <a:r>
              <a:rPr lang="ru-RU" i="1" dirty="0"/>
              <a:t>англ. </a:t>
            </a:r>
            <a:r>
              <a:rPr lang="en-US" i="1" dirty="0"/>
              <a:t>unit testing</a:t>
            </a:r>
            <a:r>
              <a:rPr lang="en-US" dirty="0"/>
              <a:t>)</a:t>
            </a:r>
            <a:r>
              <a:rPr lang="ru-RU" dirty="0"/>
              <a:t> – способ написания исходного кода, позволяющий в ходе разработки проверить на корректность отдельные функциональные части программы: функции, процедуры, методы, классы.</a:t>
            </a:r>
          </a:p>
        </p:txBody>
      </p:sp>
    </p:spTree>
    <p:extLst>
      <p:ext uri="{BB962C8B-B14F-4D97-AF65-F5344CB8AC3E}">
        <p14:creationId xmlns:p14="http://schemas.microsoft.com/office/powerpoint/2010/main" val="4173330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6" y="1628800"/>
            <a:ext cx="8452752" cy="388843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Цель модульного тестирования </a:t>
            </a:r>
            <a:r>
              <a:rPr lang="ru-RU" dirty="0"/>
              <a:t>– изолировать отдельные части программы и добиться работоспособности этих частей по отдельности.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2400" dirty="0"/>
              <a:t>При этом тестирующий код закладывается в программу </a:t>
            </a:r>
            <a:r>
              <a:rPr lang="ru-RU" sz="2400" b="1" dirty="0"/>
              <a:t>заранее</a:t>
            </a:r>
            <a:r>
              <a:rPr lang="ru-RU" sz="2400" dirty="0"/>
              <a:t> и остается в ней </a:t>
            </a:r>
            <a:r>
              <a:rPr lang="ru-RU" sz="2400" b="1" dirty="0"/>
              <a:t>навсегда</a:t>
            </a:r>
            <a:r>
              <a:rPr lang="ru-RU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87595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4847" y="116632"/>
            <a:ext cx="8964488" cy="64807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Модульное тестирование позволяет:</a:t>
            </a:r>
          </a:p>
          <a:p>
            <a:pPr marL="0" indent="0">
              <a:buNone/>
            </a:pPr>
            <a:endParaRPr lang="ru-RU" sz="800" dirty="0"/>
          </a:p>
          <a:p>
            <a:r>
              <a:rPr lang="ru-RU" sz="2400" dirty="0"/>
              <a:t>находить баги на самом </a:t>
            </a:r>
            <a:r>
              <a:rPr lang="ru-RU" sz="2400" b="1" dirty="0"/>
              <a:t>раннем этапе</a:t>
            </a:r>
            <a:r>
              <a:rPr lang="ru-RU" sz="2400" dirty="0"/>
              <a:t>;</a:t>
            </a:r>
          </a:p>
          <a:p>
            <a:r>
              <a:rPr lang="ru-RU" sz="2400" b="1" dirty="0"/>
              <a:t>автоматизировать</a:t>
            </a:r>
            <a:r>
              <a:rPr lang="ru-RU" sz="2400" dirty="0"/>
              <a:t> процесс исполнения тест-кейсов;</a:t>
            </a:r>
          </a:p>
          <a:p>
            <a:r>
              <a:rPr lang="ru-RU" sz="2400" dirty="0"/>
              <a:t>реализовать процедуру </a:t>
            </a:r>
            <a:r>
              <a:rPr lang="ru-RU" sz="2400" b="1" dirty="0"/>
              <a:t>регрессионного тестирования</a:t>
            </a:r>
            <a:r>
              <a:rPr lang="ru-RU" sz="2400" dirty="0"/>
              <a:t> (быстро проверить, не привело ли очередное изменение кода к регрессии);</a:t>
            </a:r>
          </a:p>
          <a:p>
            <a:r>
              <a:rPr lang="ru-RU" sz="2400" dirty="0"/>
              <a:t>облегчить </a:t>
            </a:r>
            <a:r>
              <a:rPr lang="ru-RU" sz="2400" b="1" dirty="0"/>
              <a:t>документирование</a:t>
            </a:r>
            <a:r>
              <a:rPr lang="ru-RU" sz="2400" dirty="0"/>
              <a:t> кода (модульный   тест-кейс – «живой </a:t>
            </a:r>
            <a:r>
              <a:rPr lang="en-US" sz="2400" dirty="0"/>
              <a:t>help</a:t>
            </a:r>
            <a:r>
              <a:rPr lang="ru-RU" sz="2400" dirty="0"/>
              <a:t>»</a:t>
            </a:r>
            <a:r>
              <a:rPr lang="en-US" sz="2400" dirty="0"/>
              <a:t> </a:t>
            </a:r>
            <a:r>
              <a:rPr lang="ru-RU" sz="2400" dirty="0"/>
              <a:t>для тестируемого модуля);</a:t>
            </a:r>
          </a:p>
          <a:p>
            <a:r>
              <a:rPr lang="ru-RU" sz="2400" dirty="0"/>
              <a:t>тестировать базовую функциональность без </a:t>
            </a:r>
            <a:r>
              <a:rPr lang="en-US" sz="2400" dirty="0"/>
              <a:t>G</a:t>
            </a:r>
            <a:r>
              <a:rPr lang="ru-RU" sz="2400" dirty="0"/>
              <a:t>UI</a:t>
            </a:r>
            <a:r>
              <a:rPr lang="en-US" sz="2400" dirty="0"/>
              <a:t> (</a:t>
            </a:r>
            <a:r>
              <a:rPr lang="ru-RU" sz="2400" dirty="0"/>
              <a:t>например, проводить нагрузочные тесты, не прибегая к инструментам внешнего доступа</a:t>
            </a:r>
            <a:r>
              <a:rPr lang="en-US" sz="2400" dirty="0"/>
              <a:t>);</a:t>
            </a:r>
            <a:endParaRPr lang="ru-RU" sz="2400" dirty="0"/>
          </a:p>
          <a:p>
            <a:r>
              <a:rPr lang="ru-RU" sz="2400" b="1" dirty="0"/>
              <a:t>улучшить качество кода</a:t>
            </a:r>
            <a:r>
              <a:rPr lang="ru-RU" sz="2400" dirty="0"/>
              <a:t>, сделать его максимально «чистым» (при использовании в проекте процедуры </a:t>
            </a:r>
            <a:r>
              <a:rPr lang="en-US" sz="2400" dirty="0"/>
              <a:t>TDD</a:t>
            </a:r>
            <a:r>
              <a:rPr lang="ru-RU" sz="2400" dirty="0"/>
              <a:t>).</a:t>
            </a:r>
          </a:p>
          <a:p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79951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4847" y="116632"/>
            <a:ext cx="8964488" cy="64807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Недостатки модульного тестирования</a:t>
            </a:r>
          </a:p>
          <a:p>
            <a:pPr marL="0" indent="0">
              <a:buNone/>
            </a:pPr>
            <a:endParaRPr lang="ru-RU" sz="800" dirty="0"/>
          </a:p>
          <a:p>
            <a:r>
              <a:rPr lang="ru-RU" sz="2300" dirty="0"/>
              <a:t>Перегрузка программы «лишним» кодом и потери рабочего времени разработчика. Сама идея предохраняться от багов заранее является спорной. Может лучше чинить именно то, что сломалось по факту?</a:t>
            </a:r>
          </a:p>
          <a:p>
            <a:r>
              <a:rPr lang="ru-RU" sz="2300" dirty="0"/>
              <a:t>Тестирование отдельного модуля выполняются «в стерильных условиях», в отрыве от работы остальных частей приложения. Это может привести к пропуску багов, связанных с совместимостью разных модулей друг с другом или проблем с интегральной производительностью.</a:t>
            </a:r>
          </a:p>
          <a:p>
            <a:r>
              <a:rPr lang="ru-RU" sz="2300" dirty="0"/>
              <a:t>Внедрять модульное тестирование необходимо на самой ранней стадии проекта. Если большая часть кода уже написана без соответствующих «закладок», переписывать его заново нецелесообразно.</a:t>
            </a:r>
          </a:p>
          <a:p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99734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7804" y="548680"/>
            <a:ext cx="11864196" cy="5904656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Где НЕ следует применять </a:t>
            </a:r>
          </a:p>
          <a:p>
            <a:pPr marL="0" indent="0" algn="ctr">
              <a:buNone/>
            </a:pPr>
            <a:r>
              <a:rPr lang="ru-RU" dirty="0"/>
              <a:t>модульное тестирование</a:t>
            </a:r>
          </a:p>
          <a:p>
            <a:pPr marL="0" indent="0">
              <a:buNone/>
            </a:pPr>
            <a:endParaRPr lang="ru-RU" sz="800" dirty="0"/>
          </a:p>
          <a:p>
            <a:r>
              <a:rPr lang="ru-RU" sz="2300" dirty="0"/>
              <a:t>В проектах-однодневках: сдал – и забыл. Модульные тесты только отнимут время и деньги.</a:t>
            </a:r>
          </a:p>
          <a:p>
            <a:r>
              <a:rPr lang="ru-RU" sz="2300" dirty="0"/>
              <a:t>В проектах, унаследовавших большой объем «старого кода». Имплементация модульных тестов в разработанный кем-то иным код – занятие чрезвычайно трудоемкое. Иногда проще написать этот код заново.</a:t>
            </a:r>
          </a:p>
          <a:p>
            <a:r>
              <a:rPr lang="ru-RU" sz="2300" dirty="0"/>
              <a:t>В проектах, где большая часть разработчиков не поддерживают идеологию модульного тестирования. Всеобщий скепсис приведет к массовому саботажу: модульные тесты будут разрабатываться и исполняться «для галочки».</a:t>
            </a:r>
          </a:p>
        </p:txBody>
      </p:sp>
    </p:spTree>
    <p:extLst>
      <p:ext uri="{BB962C8B-B14F-4D97-AF65-F5344CB8AC3E}">
        <p14:creationId xmlns:p14="http://schemas.microsoft.com/office/powerpoint/2010/main" val="3997544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6" y="620688"/>
            <a:ext cx="8452752" cy="165618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xUnit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семейство специализированных библиотек, позволяющих встраивать тестирующий код в разрабатываемое ПО и автоматизировать исполнение тест-кейсов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27804" y="2276872"/>
            <a:ext cx="1159390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составе семейства имеются библиотеки для 74 языков программирования:</a:t>
            </a:r>
          </a:p>
          <a:p>
            <a:endParaRPr lang="ru-RU" sz="2400" dirty="0"/>
          </a:p>
          <a:p>
            <a:r>
              <a:rPr lang="en-US" sz="2400" dirty="0"/>
              <a:t>ABAP, </a:t>
            </a:r>
            <a:r>
              <a:rPr lang="en-US" sz="2400" dirty="0" err="1"/>
              <a:t>ActionScript</a:t>
            </a:r>
            <a:r>
              <a:rPr lang="en-US" sz="2400" dirty="0"/>
              <a:t> / Adobe Flex, Ada, AppleScript, ASCET, ASP, BPEL, C, C#, C++, Cg, CFML (ColdFusion), </a:t>
            </a:r>
            <a:r>
              <a:rPr lang="en-US" sz="2400" dirty="0" err="1"/>
              <a:t>Clojure</a:t>
            </a:r>
            <a:r>
              <a:rPr lang="en-US" sz="2400" dirty="0"/>
              <a:t>, Cobol, Common Lisp, Curl, Delphi, </a:t>
            </a:r>
            <a:r>
              <a:rPr lang="en-US" sz="2400" dirty="0" err="1"/>
              <a:t>Emacs</a:t>
            </a:r>
            <a:r>
              <a:rPr lang="en-US" sz="2400" dirty="0"/>
              <a:t> Lisp, </a:t>
            </a:r>
            <a:r>
              <a:rPr lang="en-US" sz="2400" dirty="0" err="1"/>
              <a:t>Erlang</a:t>
            </a:r>
            <a:r>
              <a:rPr lang="en-US" sz="2400" dirty="0"/>
              <a:t>, Fortran, F#, Groovy, </a:t>
            </a:r>
            <a:r>
              <a:rPr lang="en-US" sz="2400" dirty="0" err="1"/>
              <a:t>Genexus</a:t>
            </a:r>
            <a:r>
              <a:rPr lang="en-US" sz="2400" dirty="0"/>
              <a:t>, Haskell, </a:t>
            </a:r>
            <a:r>
              <a:rPr lang="en-US" sz="2400" dirty="0" err="1"/>
              <a:t>HaXe</a:t>
            </a:r>
            <a:r>
              <a:rPr lang="en-US" sz="2400" dirty="0"/>
              <a:t>, HLSL, ITT IDL, Internet, Java, JavaScript, Lasso, </a:t>
            </a:r>
            <a:r>
              <a:rPr lang="en-US" sz="2400" dirty="0" err="1"/>
              <a:t>LaTeX</a:t>
            </a:r>
            <a:r>
              <a:rPr lang="en-US" sz="2400" dirty="0"/>
              <a:t>, </a:t>
            </a:r>
            <a:r>
              <a:rPr lang="en-US" sz="2400" dirty="0" err="1"/>
              <a:t>LabVIEW</a:t>
            </a:r>
            <a:r>
              <a:rPr lang="en-US" sz="2400" dirty="0"/>
              <a:t>, LISP, </a:t>
            </a:r>
            <a:r>
              <a:rPr lang="en-US" sz="2400" dirty="0" err="1"/>
              <a:t>Lua</a:t>
            </a:r>
            <a:r>
              <a:rPr lang="en-US" sz="2400" dirty="0"/>
              <a:t>, MATLAB, MySQL, .NET programming languages, Objective-C, </a:t>
            </a:r>
            <a:r>
              <a:rPr lang="en-US" sz="2400" dirty="0" err="1"/>
              <a:t>OCaml</a:t>
            </a:r>
            <a:r>
              <a:rPr lang="en-US" sz="2400" dirty="0"/>
              <a:t>, Object Pascal (Free Pascal), </a:t>
            </a:r>
            <a:r>
              <a:rPr lang="en-US" sz="2400" dirty="0" err="1"/>
              <a:t>PegaRULES</a:t>
            </a:r>
            <a:r>
              <a:rPr lang="en-US" sz="2400" dirty="0"/>
              <a:t> Process Commander, Perl, PHP, PL/SQL, </a:t>
            </a:r>
            <a:r>
              <a:rPr lang="en-US" sz="2400" dirty="0" err="1"/>
              <a:t>PostgreSQL</a:t>
            </a:r>
            <a:r>
              <a:rPr lang="en-US" sz="2400" dirty="0"/>
              <a:t>, PowerBuilder, Progress 4GL, Prolog, Python, R programming language, Racket, </a:t>
            </a:r>
            <a:r>
              <a:rPr lang="en-US" sz="2400" dirty="0" err="1"/>
              <a:t>REALbasic</a:t>
            </a:r>
            <a:r>
              <a:rPr lang="en-US" sz="2400" dirty="0"/>
              <a:t>, </a:t>
            </a:r>
            <a:r>
              <a:rPr lang="en-US" sz="2400" dirty="0" err="1"/>
              <a:t>Rebol</a:t>
            </a:r>
            <a:r>
              <a:rPr lang="en-US" sz="2400" dirty="0"/>
              <a:t>, RPG, Ruby, SAS, </a:t>
            </a:r>
            <a:r>
              <a:rPr lang="en-US" sz="2400" dirty="0" err="1"/>
              <a:t>Scala</a:t>
            </a:r>
            <a:r>
              <a:rPr lang="en-US" sz="2400" dirty="0"/>
              <a:t>, </a:t>
            </a:r>
            <a:r>
              <a:rPr lang="en-US" sz="2400" dirty="0" err="1"/>
              <a:t>Scilab</a:t>
            </a:r>
            <a:r>
              <a:rPr lang="en-US" sz="2400" dirty="0"/>
              <a:t>, Scheme, Shell, Simulink, Smalltalk, SQL, </a:t>
            </a:r>
            <a:r>
              <a:rPr lang="en-US" sz="2400" dirty="0" err="1"/>
              <a:t>TargetLink</a:t>
            </a:r>
            <a:r>
              <a:rPr lang="en-US" sz="2400" dirty="0"/>
              <a:t>, </a:t>
            </a:r>
            <a:r>
              <a:rPr lang="en-US" sz="2400" dirty="0" err="1"/>
              <a:t>Tcl</a:t>
            </a:r>
            <a:r>
              <a:rPr lang="en-US" sz="2400" dirty="0"/>
              <a:t>, </a:t>
            </a:r>
            <a:r>
              <a:rPr lang="en-US" sz="2400" dirty="0" err="1"/>
              <a:t>TinyOS</a:t>
            </a:r>
            <a:r>
              <a:rPr lang="en-US" sz="2400" dirty="0"/>
              <a:t>/</a:t>
            </a:r>
            <a:r>
              <a:rPr lang="en-US" sz="2400" dirty="0" err="1"/>
              <a:t>nesC</a:t>
            </a:r>
            <a:r>
              <a:rPr lang="en-US" sz="2400" dirty="0"/>
              <a:t>, Transact-SQL, </a:t>
            </a:r>
            <a:r>
              <a:rPr lang="en-US" sz="2400" dirty="0" err="1"/>
              <a:t>TypeScript</a:t>
            </a:r>
            <a:r>
              <a:rPr lang="en-US" sz="2400" dirty="0"/>
              <a:t>, Visual FoxPro, Visual Basic (VB6), Visual Lisp, XML, XSLT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1937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260648"/>
            <a:ext cx="8784976" cy="583264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библиотека модульного тестирования из семейства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xUnit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языка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</a:t>
            </a:r>
          </a:p>
          <a:p>
            <a:pPr marL="0" indent="0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Разработана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Кентом Беком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автором известных методик написания кода «Экстремальное программирование 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)»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«Разработка через тестирование 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TDD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)», и является основным инструментом для реализации этих методик.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dirty="0"/>
              <a:t>Текущая версия: 5.5.1</a:t>
            </a:r>
          </a:p>
          <a:p>
            <a:r>
              <a:rPr lang="ru-RU" dirty="0"/>
              <a:t>Сайт: </a:t>
            </a:r>
            <a:r>
              <a:rPr lang="en-US" dirty="0">
                <a:hlinkClick r:id="rId2"/>
              </a:rPr>
              <a:t>www.junit.org</a:t>
            </a:r>
            <a:endParaRPr lang="en-US" dirty="0"/>
          </a:p>
          <a:p>
            <a:r>
              <a:rPr lang="ru-RU" dirty="0"/>
              <a:t>Лицензия: </a:t>
            </a:r>
            <a:r>
              <a:rPr lang="en-US" dirty="0"/>
              <a:t>CPL</a:t>
            </a:r>
            <a:endParaRPr lang="ru-RU" dirty="0"/>
          </a:p>
          <a:p>
            <a:pPr marL="0" indent="0" algn="ctr">
              <a:buNone/>
            </a:pP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524000" y="1052737"/>
            <a:ext cx="914400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9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483253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9624" y="249958"/>
            <a:ext cx="8452752" cy="576064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Основы применения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JUnit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" y="836712"/>
            <a:ext cx="12192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Класс </a:t>
            </a:r>
            <a:r>
              <a:rPr lang="en-US" sz="2800" b="1" dirty="0" err="1"/>
              <a:t>org.junit.Assert</a:t>
            </a:r>
            <a:r>
              <a:rPr lang="ru-RU" sz="2800" dirty="0"/>
              <a:t> содержит набор статических (вызываемых без создания экземпляра класса) методов, позволяющих реализовать сравнение фактического результата с ожидаемым для различных типов данных: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static void </a:t>
            </a:r>
            <a:r>
              <a:rPr lang="en-US" sz="2800" b="1" dirty="0" err="1"/>
              <a:t>assertEquals</a:t>
            </a:r>
            <a:r>
              <a:rPr lang="ru-RU" sz="2800" dirty="0"/>
              <a:t> </a:t>
            </a:r>
            <a:r>
              <a:rPr lang="en-US" sz="2800" dirty="0"/>
              <a:t>(String 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,          </a:t>
            </a:r>
            <a:r>
              <a:rPr lang="en-US" sz="2800" dirty="0"/>
              <a:t>&lt;</a:t>
            </a:r>
            <a:r>
              <a:rPr lang="ru-RU" sz="2800" dirty="0"/>
              <a:t>ожидаемый результат</a:t>
            </a:r>
            <a:r>
              <a:rPr lang="en-US" sz="2800" dirty="0"/>
              <a:t>&gt;, </a:t>
            </a:r>
            <a:endParaRPr lang="ru-RU" sz="2800" dirty="0"/>
          </a:p>
          <a:p>
            <a:pPr lvl="8"/>
            <a:r>
              <a:rPr lang="ru-RU" sz="2800" dirty="0"/>
              <a:t>         </a:t>
            </a:r>
            <a:r>
              <a:rPr lang="en-US" sz="2800" dirty="0"/>
              <a:t>&lt;</a:t>
            </a:r>
            <a:r>
              <a:rPr lang="ru-RU" sz="2800" dirty="0"/>
              <a:t>фактический результат</a:t>
            </a:r>
            <a:r>
              <a:rPr lang="en-US" sz="2800" dirty="0"/>
              <a:t>&gt;)</a:t>
            </a:r>
            <a:endParaRPr lang="ru-RU" sz="2800" dirty="0"/>
          </a:p>
          <a:p>
            <a:r>
              <a:rPr lang="ru-RU" sz="2800" dirty="0"/>
              <a:t>     Вызывает исключение типа </a:t>
            </a:r>
            <a:r>
              <a:rPr lang="en-US" sz="2800" b="1" dirty="0" err="1"/>
              <a:t>AssertionError</a:t>
            </a:r>
            <a:r>
              <a:rPr lang="ru-RU" sz="2800" dirty="0"/>
              <a:t> (</a:t>
            </a:r>
            <a:r>
              <a:rPr lang="en-US" sz="2800" dirty="0"/>
              <a:t>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),</a:t>
            </a:r>
            <a:r>
              <a:rPr lang="en-US" sz="2800" dirty="0"/>
              <a:t> </a:t>
            </a:r>
            <a:r>
              <a:rPr lang="ru-RU" sz="2800" dirty="0"/>
              <a:t>если: </a:t>
            </a:r>
          </a:p>
          <a:p>
            <a:pPr algn="ctr"/>
            <a:r>
              <a:rPr lang="ru-RU" sz="2800" dirty="0"/>
              <a:t>     </a:t>
            </a:r>
            <a:r>
              <a:rPr lang="en-US" sz="2800" dirty="0"/>
              <a:t>&lt;</a:t>
            </a:r>
            <a:r>
              <a:rPr lang="ru-RU" sz="2800" dirty="0"/>
              <a:t>ожидаемый результат</a:t>
            </a:r>
            <a:r>
              <a:rPr lang="en-US" sz="2800" dirty="0"/>
              <a:t>&gt;</a:t>
            </a:r>
            <a:r>
              <a:rPr lang="ru-RU" sz="2800" dirty="0"/>
              <a:t> </a:t>
            </a:r>
            <a:r>
              <a:rPr lang="en-US" sz="2800" dirty="0"/>
              <a:t>!= &lt;</a:t>
            </a:r>
            <a:r>
              <a:rPr lang="ru-RU" sz="2800" dirty="0"/>
              <a:t>фактический результат</a:t>
            </a:r>
            <a:r>
              <a:rPr lang="en-US" sz="2800" dirty="0"/>
              <a:t>&gt;</a:t>
            </a:r>
            <a:r>
              <a:rPr lang="ru-RU" sz="2800" dirty="0"/>
              <a:t>.</a:t>
            </a:r>
          </a:p>
          <a:p>
            <a:r>
              <a:rPr lang="ru-RU" sz="2800" dirty="0"/>
              <a:t>     Имеется также аналогичный метод </a:t>
            </a:r>
            <a:r>
              <a:rPr lang="en-US" sz="2800" b="1" dirty="0" err="1"/>
              <a:t>assertArrayEquals</a:t>
            </a:r>
            <a:r>
              <a:rPr lang="ru-RU" sz="2800" dirty="0"/>
              <a:t>       для сравнения массивов.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static void </a:t>
            </a:r>
            <a:r>
              <a:rPr lang="ru-RU" sz="2800" dirty="0"/>
              <a:t> </a:t>
            </a:r>
            <a:r>
              <a:rPr lang="en-US" sz="2800" b="1" dirty="0" err="1"/>
              <a:t>assertTrue</a:t>
            </a:r>
            <a:r>
              <a:rPr lang="en-US" sz="2800" dirty="0"/>
              <a:t>(String </a:t>
            </a:r>
            <a:r>
              <a:rPr lang="ru-RU" sz="2800" dirty="0"/>
              <a:t>    &lt;сообщение&gt;</a:t>
            </a:r>
            <a:r>
              <a:rPr lang="en-US" sz="2800" dirty="0"/>
              <a:t>, </a:t>
            </a:r>
            <a:r>
              <a:rPr lang="ru-RU" sz="2800" dirty="0"/>
              <a:t> 			     </a:t>
            </a:r>
            <a:r>
              <a:rPr lang="en-US" sz="2800" dirty="0"/>
              <a:t>  </a:t>
            </a:r>
            <a:r>
              <a:rPr lang="en-US" sz="2800" dirty="0" err="1"/>
              <a:t>boolean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en-US" sz="2800" dirty="0"/>
              <a:t>&lt;</a:t>
            </a:r>
            <a:r>
              <a:rPr lang="ru-RU" sz="2800" dirty="0"/>
              <a:t>условие</a:t>
            </a:r>
            <a:r>
              <a:rPr lang="en-US" sz="2800" dirty="0"/>
              <a:t>&gt;)</a:t>
            </a:r>
            <a:endParaRPr lang="ru-RU" sz="2800" dirty="0"/>
          </a:p>
          <a:p>
            <a:r>
              <a:rPr lang="ru-RU" sz="2800" dirty="0"/>
              <a:t>    Вызывает исключение типа </a:t>
            </a:r>
            <a:r>
              <a:rPr lang="en-US" sz="2800" dirty="0"/>
              <a:t> </a:t>
            </a:r>
            <a:r>
              <a:rPr lang="en-US" sz="2800" b="1" dirty="0" err="1"/>
              <a:t>AssertionError</a:t>
            </a:r>
            <a:r>
              <a:rPr lang="ru-RU" sz="2800" dirty="0"/>
              <a:t> (</a:t>
            </a:r>
            <a:r>
              <a:rPr lang="en-US" sz="2800" dirty="0"/>
              <a:t>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),</a:t>
            </a:r>
            <a:r>
              <a:rPr lang="en-US" sz="2800" dirty="0"/>
              <a:t> </a:t>
            </a:r>
            <a:r>
              <a:rPr lang="ru-RU" sz="2800" dirty="0"/>
              <a:t>если:   </a:t>
            </a:r>
            <a:r>
              <a:rPr lang="en-US" sz="2800" dirty="0"/>
              <a:t> &lt;</a:t>
            </a:r>
            <a:r>
              <a:rPr lang="ru-RU" sz="2800" dirty="0"/>
              <a:t>условие</a:t>
            </a:r>
            <a:r>
              <a:rPr lang="en-US" sz="2800" dirty="0"/>
              <a:t>&gt;</a:t>
            </a:r>
            <a:r>
              <a:rPr lang="ru-RU" sz="2800" dirty="0"/>
              <a:t> =</a:t>
            </a:r>
            <a:r>
              <a:rPr lang="en-US" sz="2800" dirty="0"/>
              <a:t>=</a:t>
            </a:r>
            <a:r>
              <a:rPr lang="ru-RU" sz="2800" dirty="0"/>
              <a:t> </a:t>
            </a:r>
            <a:r>
              <a:rPr lang="en-US" sz="2800" dirty="0"/>
              <a:t>true</a:t>
            </a:r>
          </a:p>
          <a:p>
            <a:r>
              <a:rPr lang="ru-RU" sz="2800" dirty="0"/>
              <a:t> </a:t>
            </a:r>
            <a:r>
              <a:rPr lang="en-US" sz="2800" dirty="0"/>
              <a:t>   </a:t>
            </a:r>
            <a:r>
              <a:rPr lang="ru-RU" sz="2800" dirty="0"/>
              <a:t>Имеется также аналогичный метод </a:t>
            </a:r>
            <a:r>
              <a:rPr lang="en-US" sz="2800" b="1" dirty="0" err="1"/>
              <a:t>assertFalse</a:t>
            </a:r>
            <a:r>
              <a:rPr lang="en-US" sz="2800" b="1" dirty="0"/>
              <a:t>.</a:t>
            </a:r>
            <a:r>
              <a:rPr lang="ru-RU" sz="2800" dirty="0"/>
              <a:t> </a:t>
            </a:r>
          </a:p>
          <a:p>
            <a:r>
              <a:rPr lang="ru-RU" sz="24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56783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2309" y="188641"/>
            <a:ext cx="11645661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static void </a:t>
            </a:r>
            <a:r>
              <a:rPr lang="en-US" sz="2800" b="1" dirty="0" err="1"/>
              <a:t>assertSame</a:t>
            </a:r>
            <a:r>
              <a:rPr lang="ru-RU" sz="2800" dirty="0"/>
              <a:t> </a:t>
            </a:r>
            <a:r>
              <a:rPr lang="en-US" sz="2800" dirty="0"/>
              <a:t>(String 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, </a:t>
            </a:r>
            <a:endParaRPr lang="en-US" sz="2800" dirty="0"/>
          </a:p>
          <a:p>
            <a:r>
              <a:rPr lang="en-US" sz="2800" dirty="0"/>
              <a:t>                                         Object &lt;</a:t>
            </a:r>
            <a:r>
              <a:rPr lang="ru-RU" sz="2800" dirty="0"/>
              <a:t>ожидаемый объект</a:t>
            </a:r>
            <a:r>
              <a:rPr lang="en-US" sz="2800" dirty="0"/>
              <a:t>&gt;, </a:t>
            </a:r>
            <a:endParaRPr lang="ru-RU" sz="2800" dirty="0"/>
          </a:p>
          <a:p>
            <a:r>
              <a:rPr lang="ru-RU" sz="2800" dirty="0"/>
              <a:t>                                         </a:t>
            </a:r>
            <a:r>
              <a:rPr lang="en-US" sz="2800" dirty="0"/>
              <a:t>Object</a:t>
            </a:r>
            <a:r>
              <a:rPr lang="ru-RU" sz="2800" dirty="0"/>
              <a:t> </a:t>
            </a:r>
            <a:r>
              <a:rPr lang="en-US" sz="2800" dirty="0"/>
              <a:t>&lt;</a:t>
            </a:r>
            <a:r>
              <a:rPr lang="ru-RU" sz="2800" dirty="0"/>
              <a:t>фактический объект</a:t>
            </a:r>
            <a:r>
              <a:rPr lang="en-US" sz="2800" dirty="0"/>
              <a:t>&gt;)</a:t>
            </a:r>
            <a:endParaRPr lang="ru-RU" sz="2800" dirty="0"/>
          </a:p>
          <a:p>
            <a:r>
              <a:rPr lang="ru-RU" sz="2800" dirty="0"/>
              <a:t>     Вызывает исключение типа </a:t>
            </a:r>
            <a:r>
              <a:rPr lang="en-US" sz="2800" b="1" dirty="0" err="1"/>
              <a:t>AssertionError</a:t>
            </a:r>
            <a:r>
              <a:rPr lang="ru-RU" sz="2800" dirty="0"/>
              <a:t> (</a:t>
            </a:r>
            <a:r>
              <a:rPr lang="en-US" sz="2800" dirty="0"/>
              <a:t>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),</a:t>
            </a:r>
            <a:r>
              <a:rPr lang="en-US" sz="2800" dirty="0"/>
              <a:t> </a:t>
            </a:r>
            <a:r>
              <a:rPr lang="ru-RU" sz="2800" dirty="0"/>
              <a:t>если: </a:t>
            </a:r>
          </a:p>
          <a:p>
            <a:pPr algn="ctr"/>
            <a:r>
              <a:rPr lang="ru-RU" sz="2800" dirty="0"/>
              <a:t>     </a:t>
            </a:r>
            <a:r>
              <a:rPr lang="en-US" sz="2800" dirty="0"/>
              <a:t>&lt;</a:t>
            </a:r>
            <a:r>
              <a:rPr lang="ru-RU" sz="2800" dirty="0"/>
              <a:t>ожидаемый объект</a:t>
            </a:r>
            <a:r>
              <a:rPr lang="en-US" sz="2800" dirty="0"/>
              <a:t>&gt;</a:t>
            </a:r>
            <a:r>
              <a:rPr lang="ru-RU" sz="2800" dirty="0"/>
              <a:t> не эквивалентен</a:t>
            </a:r>
            <a:r>
              <a:rPr lang="en-US" sz="2800" dirty="0"/>
              <a:t> &lt;</a:t>
            </a:r>
            <a:r>
              <a:rPr lang="ru-RU" sz="2800" dirty="0"/>
              <a:t>фактический объект</a:t>
            </a:r>
            <a:r>
              <a:rPr lang="en-US" sz="2800" dirty="0"/>
              <a:t>&gt;</a:t>
            </a:r>
            <a:r>
              <a:rPr lang="ru-RU" sz="2800" dirty="0"/>
              <a:t>.</a:t>
            </a:r>
          </a:p>
          <a:p>
            <a:r>
              <a:rPr lang="ru-RU" sz="2800" dirty="0"/>
              <a:t>     Имеется также аналогичный метод </a:t>
            </a:r>
            <a:r>
              <a:rPr lang="en-US" sz="2800" b="1" dirty="0" err="1"/>
              <a:t>assertNotSame</a:t>
            </a:r>
            <a:r>
              <a:rPr lang="ru-RU" sz="2800" dirty="0"/>
              <a:t>.</a:t>
            </a:r>
          </a:p>
          <a:p>
            <a:r>
              <a:rPr lang="ru-RU" sz="2800" dirty="0"/>
              <a:t>   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static void </a:t>
            </a:r>
            <a:r>
              <a:rPr lang="ru-RU" sz="2800" dirty="0"/>
              <a:t> </a:t>
            </a:r>
            <a:r>
              <a:rPr lang="en-US" sz="2800" b="1" dirty="0" err="1"/>
              <a:t>assertNull</a:t>
            </a:r>
            <a:r>
              <a:rPr lang="ru-RU" sz="2800" b="1" dirty="0"/>
              <a:t> </a:t>
            </a:r>
            <a:r>
              <a:rPr lang="en-US" sz="2800" dirty="0"/>
              <a:t>(String </a:t>
            </a:r>
            <a:r>
              <a:rPr lang="ru-RU" sz="2800" dirty="0"/>
              <a:t>    &lt;сообщение&gt;</a:t>
            </a:r>
            <a:r>
              <a:rPr lang="en-US" sz="2800" dirty="0"/>
              <a:t>, </a:t>
            </a:r>
            <a:endParaRPr lang="ru-RU" sz="2800" dirty="0"/>
          </a:p>
          <a:p>
            <a:r>
              <a:rPr lang="ru-RU" sz="2800" dirty="0"/>
              <a:t>			 </a:t>
            </a:r>
            <a:r>
              <a:rPr lang="en-US" sz="2800" dirty="0"/>
              <a:t>     </a:t>
            </a:r>
            <a:r>
              <a:rPr lang="ru-RU" sz="2800" dirty="0"/>
              <a:t> </a:t>
            </a:r>
            <a:r>
              <a:rPr lang="en-US" sz="2800" dirty="0"/>
              <a:t>Object </a:t>
            </a:r>
            <a:r>
              <a:rPr lang="ru-RU" sz="2800" dirty="0"/>
              <a:t>   </a:t>
            </a:r>
            <a:r>
              <a:rPr lang="en-US" sz="2800" dirty="0"/>
              <a:t>&lt;</a:t>
            </a:r>
            <a:r>
              <a:rPr lang="ru-RU" sz="2800" dirty="0"/>
              <a:t>фактический объект</a:t>
            </a:r>
            <a:r>
              <a:rPr lang="en-US" sz="2800" dirty="0"/>
              <a:t>&gt;</a:t>
            </a:r>
            <a:r>
              <a:rPr lang="ru-RU" sz="2800" dirty="0"/>
              <a:t>)</a:t>
            </a:r>
            <a:r>
              <a:rPr lang="en-US" sz="2800" dirty="0"/>
              <a:t> </a:t>
            </a:r>
            <a:endParaRPr lang="ru-RU" sz="2800" dirty="0"/>
          </a:p>
          <a:p>
            <a:pPr algn="ctr"/>
            <a:r>
              <a:rPr lang="ru-RU" sz="2800" dirty="0"/>
              <a:t>    Вызывает исключение типа </a:t>
            </a:r>
            <a:r>
              <a:rPr lang="en-US" sz="2800" b="1" dirty="0"/>
              <a:t> </a:t>
            </a:r>
            <a:r>
              <a:rPr lang="en-US" sz="2800" b="1" dirty="0" err="1"/>
              <a:t>AssertionError</a:t>
            </a:r>
            <a:r>
              <a:rPr lang="ru-RU" sz="2800" b="1" dirty="0"/>
              <a:t> </a:t>
            </a:r>
            <a:r>
              <a:rPr lang="ru-RU" sz="2800" dirty="0"/>
              <a:t>(</a:t>
            </a:r>
            <a:r>
              <a:rPr lang="en-US" sz="2800" dirty="0"/>
              <a:t>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),</a:t>
            </a:r>
            <a:r>
              <a:rPr lang="en-US" sz="2800" dirty="0"/>
              <a:t> </a:t>
            </a:r>
            <a:r>
              <a:rPr lang="ru-RU" sz="2800" dirty="0"/>
              <a:t>если: &lt;фактический объект&gt;=</a:t>
            </a:r>
            <a:r>
              <a:rPr lang="en-US" sz="2800" dirty="0"/>
              <a:t>=</a:t>
            </a:r>
            <a:r>
              <a:rPr lang="ru-RU" sz="2800" dirty="0"/>
              <a:t> </a:t>
            </a:r>
            <a:r>
              <a:rPr lang="en-US" sz="2800" dirty="0"/>
              <a:t>null.</a:t>
            </a:r>
          </a:p>
          <a:p>
            <a:r>
              <a:rPr lang="ru-RU" sz="2800" dirty="0"/>
              <a:t> </a:t>
            </a:r>
            <a:r>
              <a:rPr lang="en-US" sz="2800" dirty="0"/>
              <a:t>   </a:t>
            </a:r>
            <a:r>
              <a:rPr lang="ru-RU" sz="2800" dirty="0"/>
              <a:t>Имеется также аналогичный метод </a:t>
            </a:r>
            <a:r>
              <a:rPr lang="en-US" sz="2800" b="1" dirty="0" err="1"/>
              <a:t>assertNotNull</a:t>
            </a:r>
            <a:r>
              <a:rPr lang="en-US" sz="2800" b="1" dirty="0"/>
              <a:t>.</a:t>
            </a:r>
          </a:p>
          <a:p>
            <a:endParaRPr lang="en-US" sz="28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static void </a:t>
            </a:r>
            <a:r>
              <a:rPr lang="ru-RU" sz="2800" dirty="0"/>
              <a:t> </a:t>
            </a:r>
            <a:r>
              <a:rPr lang="en-US" sz="2800" b="1" dirty="0"/>
              <a:t>fail </a:t>
            </a:r>
            <a:r>
              <a:rPr lang="en-US" sz="2800" dirty="0"/>
              <a:t>(String </a:t>
            </a:r>
            <a:r>
              <a:rPr lang="ru-RU" sz="2800" dirty="0"/>
              <a:t>&lt;сообщение&gt;)</a:t>
            </a:r>
            <a:r>
              <a:rPr lang="en-US" sz="2800" dirty="0"/>
              <a:t> </a:t>
            </a:r>
            <a:endParaRPr lang="ru-RU" sz="2800" dirty="0"/>
          </a:p>
          <a:p>
            <a:r>
              <a:rPr lang="ru-RU" sz="2800" dirty="0"/>
              <a:t>    Вызывает исключение типа </a:t>
            </a:r>
            <a:r>
              <a:rPr lang="en-US" sz="2800" dirty="0"/>
              <a:t> </a:t>
            </a:r>
            <a:r>
              <a:rPr lang="en-US" sz="2800" b="1" dirty="0" err="1"/>
              <a:t>AssertionError</a:t>
            </a:r>
            <a:r>
              <a:rPr lang="ru-RU" sz="2800" dirty="0"/>
              <a:t> (</a:t>
            </a:r>
            <a:r>
              <a:rPr lang="en-US" sz="2800" dirty="0"/>
              <a:t>&lt;</a:t>
            </a:r>
            <a:r>
              <a:rPr lang="ru-RU" sz="2800" dirty="0"/>
              <a:t>сообщение</a:t>
            </a:r>
            <a:r>
              <a:rPr lang="en-US" sz="2800" dirty="0"/>
              <a:t>&gt;</a:t>
            </a:r>
            <a:r>
              <a:rPr lang="ru-RU" sz="2800" dirty="0"/>
              <a:t>)</a:t>
            </a:r>
            <a:r>
              <a:rPr lang="en-US" sz="2800" dirty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sz="2800" dirty="0"/>
          </a:p>
          <a:p>
            <a:r>
              <a:rPr lang="ru-RU" sz="28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146019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9624" y="188640"/>
            <a:ext cx="8452752" cy="576064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Некоторые полезные аннотации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JUnit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" y="908720"/>
            <a:ext cx="1204247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@</a:t>
            </a:r>
            <a:r>
              <a:rPr lang="ru-RU" sz="2400" dirty="0" err="1"/>
              <a:t>Test</a:t>
            </a:r>
            <a:endParaRPr lang="ru-RU" sz="2400" dirty="0"/>
          </a:p>
          <a:p>
            <a:r>
              <a:rPr lang="ru-RU" sz="2400" dirty="0"/>
              <a:t>Обозначает сами тестовые методы</a:t>
            </a:r>
            <a:r>
              <a:rPr lang="en-US" sz="2400" dirty="0"/>
              <a:t> (</a:t>
            </a:r>
            <a:r>
              <a:rPr lang="ru-RU" sz="2400" dirty="0"/>
              <a:t>тест-кейсы</a:t>
            </a:r>
            <a:r>
              <a:rPr lang="en-US" sz="2400" dirty="0"/>
              <a:t>)</a:t>
            </a:r>
            <a:r>
              <a:rPr lang="ru-RU" sz="2400" dirty="0"/>
              <a:t>. Есть два необязательных параметра, </a:t>
            </a:r>
            <a:r>
              <a:rPr lang="ru-RU" sz="2400" dirty="0" err="1"/>
              <a:t>expected</a:t>
            </a:r>
            <a:r>
              <a:rPr lang="ru-RU" sz="2400" dirty="0"/>
              <a:t> — задает ожидаемое исключение и </a:t>
            </a:r>
            <a:r>
              <a:rPr lang="ru-RU" sz="2400" dirty="0" err="1"/>
              <a:t>timeout</a:t>
            </a:r>
            <a:r>
              <a:rPr lang="ru-RU" sz="2400" dirty="0"/>
              <a:t> — задает время, по истечению которого тест считается провалившимся.</a:t>
            </a:r>
          </a:p>
          <a:p>
            <a:r>
              <a:rPr lang="ru-RU" sz="2400" dirty="0"/>
              <a:t>@</a:t>
            </a:r>
            <a:r>
              <a:rPr lang="ru-RU" sz="2400" dirty="0" err="1"/>
              <a:t>Before</a:t>
            </a:r>
            <a:r>
              <a:rPr lang="ru-RU" sz="2400" dirty="0"/>
              <a:t> </a:t>
            </a:r>
            <a:endParaRPr lang="en-US" sz="2400" dirty="0"/>
          </a:p>
          <a:p>
            <a:r>
              <a:rPr lang="ru-RU" sz="2400" dirty="0"/>
              <a:t>Обозначает методы, которые будут вызваны до исполнения тестовых методов. Здесь обычно размещаются предустановки для тестов, например - генерация тестовых данных.</a:t>
            </a:r>
          </a:p>
          <a:p>
            <a:r>
              <a:rPr lang="en-US" sz="2400" dirty="0"/>
              <a:t>@</a:t>
            </a:r>
            <a:r>
              <a:rPr lang="ru-RU" sz="2400" dirty="0" err="1"/>
              <a:t>After</a:t>
            </a:r>
            <a:r>
              <a:rPr lang="ru-RU" sz="2400" dirty="0"/>
              <a:t> </a:t>
            </a:r>
          </a:p>
          <a:p>
            <a:r>
              <a:rPr lang="ru-RU" sz="2400" dirty="0"/>
              <a:t>Обозначает методы, которые будут вызваны после выполнения тестовых методов. Здесь размещаются операции освобождения ресурсов после тестов, например - очистка тестовых данных.</a:t>
            </a:r>
          </a:p>
          <a:p>
            <a:r>
              <a:rPr lang="en-US" sz="2400" dirty="0"/>
              <a:t>@Ignore</a:t>
            </a:r>
            <a:endParaRPr lang="ru-RU" sz="2400" dirty="0"/>
          </a:p>
          <a:p>
            <a:r>
              <a:rPr lang="ru-RU" sz="2400" dirty="0"/>
              <a:t>Применяется для исключения какого-либо метода из процедуры тестирования</a:t>
            </a:r>
          </a:p>
          <a:p>
            <a:r>
              <a:rPr lang="en-US" sz="2400" dirty="0"/>
              <a:t>@Rule</a:t>
            </a:r>
            <a:endParaRPr lang="ru-RU" sz="2400" dirty="0"/>
          </a:p>
          <a:p>
            <a:r>
              <a:rPr lang="ru-RU" sz="2400" dirty="0"/>
              <a:t>Позволяет задавать специфические установки тестирования, которые будут выполнены до, после и во время выполнения тестовых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316849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6" y="116632"/>
            <a:ext cx="8452752" cy="792088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это работает? 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524000" y="1052736"/>
            <a:ext cx="903649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900" dirty="0"/>
              <a:t> </a:t>
            </a:r>
          </a:p>
          <a:p>
            <a:r>
              <a:rPr lang="ru-RU" sz="1900" dirty="0"/>
              <a:t>    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7580"/>
            <a:ext cx="12192000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2000" dirty="0"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Допустим, в нашей программе имеется следующий класс: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 err="1">
                <a:cs typeface="Arial" pitchFamily="34" charset="0"/>
              </a:rPr>
              <a:t>public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class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Calc</a:t>
            </a:r>
            <a:r>
              <a:rPr lang="ru-RU" sz="2800" dirty="0">
                <a:cs typeface="Arial" pitchFamily="34" charset="0"/>
              </a:rPr>
              <a:t>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     </a:t>
            </a:r>
            <a:r>
              <a:rPr lang="ru-RU" sz="2800" dirty="0" err="1">
                <a:cs typeface="Arial" pitchFamily="34" charset="0"/>
              </a:rPr>
              <a:t>public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int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getSum</a:t>
            </a:r>
            <a:r>
              <a:rPr lang="ru-RU" sz="2800" dirty="0">
                <a:cs typeface="Arial" pitchFamily="34" charset="0"/>
              </a:rPr>
              <a:t>(</a:t>
            </a:r>
            <a:r>
              <a:rPr lang="ru-RU" sz="2800" dirty="0" err="1">
                <a:cs typeface="Arial" pitchFamily="34" charset="0"/>
              </a:rPr>
              <a:t>int</a:t>
            </a:r>
            <a:r>
              <a:rPr lang="ru-RU" sz="2800" dirty="0">
                <a:cs typeface="Arial" pitchFamily="34" charset="0"/>
              </a:rPr>
              <a:t> x, </a:t>
            </a:r>
            <a:r>
              <a:rPr lang="ru-RU" sz="2800" dirty="0" err="1">
                <a:cs typeface="Arial" pitchFamily="34" charset="0"/>
              </a:rPr>
              <a:t>int</a:t>
            </a:r>
            <a:r>
              <a:rPr lang="ru-RU" sz="2800" dirty="0">
                <a:cs typeface="Arial" pitchFamily="34" charset="0"/>
              </a:rPr>
              <a:t> y)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         </a:t>
            </a:r>
            <a:r>
              <a:rPr lang="ru-RU" sz="2800" dirty="0" err="1">
                <a:cs typeface="Arial" pitchFamily="34" charset="0"/>
              </a:rPr>
              <a:t>return</a:t>
            </a:r>
            <a:r>
              <a:rPr lang="ru-RU" sz="2800" dirty="0">
                <a:cs typeface="Arial" pitchFamily="34" charset="0"/>
              </a:rPr>
              <a:t>  x + y;      } } </a:t>
            </a:r>
          </a:p>
          <a:p>
            <a:pPr lvl="0"/>
            <a:r>
              <a:rPr lang="ru-RU" sz="2800" dirty="0">
                <a:cs typeface="Arial" pitchFamily="34" charset="0"/>
              </a:rPr>
              <a:t>Создадим средствами </a:t>
            </a:r>
            <a:r>
              <a:rPr lang="en-US" sz="2800" dirty="0" err="1">
                <a:cs typeface="Arial" pitchFamily="34" charset="0"/>
              </a:rPr>
              <a:t>JUnit</a:t>
            </a:r>
            <a:r>
              <a:rPr lang="en-US" sz="2800" dirty="0">
                <a:cs typeface="Arial" pitchFamily="34" charset="0"/>
              </a:rPr>
              <a:t> </a:t>
            </a:r>
            <a:r>
              <a:rPr lang="ru-RU" sz="2800" dirty="0">
                <a:cs typeface="Arial" pitchFamily="34" charset="0"/>
              </a:rPr>
              <a:t>класс, который</a:t>
            </a:r>
            <a:r>
              <a:rPr lang="en-US" sz="2800" dirty="0">
                <a:cs typeface="Arial" pitchFamily="34" charset="0"/>
              </a:rPr>
              <a:t> </a:t>
            </a:r>
            <a:r>
              <a:rPr lang="ru-RU" sz="2800" dirty="0">
                <a:cs typeface="Arial" pitchFamily="34" charset="0"/>
              </a:rPr>
              <a:t>будет тестировать </a:t>
            </a:r>
            <a:r>
              <a:rPr lang="ru-RU" sz="2800" dirty="0" err="1">
                <a:cs typeface="Arial" pitchFamily="34" charset="0"/>
              </a:rPr>
              <a:t>Calc</a:t>
            </a:r>
            <a:r>
              <a:rPr lang="ru-RU" sz="2800" dirty="0">
                <a:cs typeface="Arial" pitchFamily="34" charset="0"/>
              </a:rPr>
              <a:t>:</a:t>
            </a:r>
          </a:p>
          <a:p>
            <a:pPr lvl="0"/>
            <a:r>
              <a:rPr lang="en-US" sz="2800" dirty="0"/>
              <a:t>public class </a:t>
            </a:r>
            <a:r>
              <a:rPr lang="en-US" sz="2800" dirty="0" err="1"/>
              <a:t>CalcTest</a:t>
            </a:r>
            <a:r>
              <a:rPr lang="en-US" sz="2800" dirty="0"/>
              <a:t> {</a:t>
            </a:r>
            <a:endParaRPr lang="ru-RU" sz="2800" dirty="0"/>
          </a:p>
          <a:p>
            <a:pPr lvl="0"/>
            <a:r>
              <a:rPr lang="ru-RU" sz="2800" dirty="0"/>
              <a:t>    </a:t>
            </a:r>
            <a:r>
              <a:rPr lang="en-US" sz="2800" dirty="0"/>
              <a:t>// </a:t>
            </a:r>
            <a:r>
              <a:rPr lang="ru-RU" sz="2800" dirty="0"/>
              <a:t>аннотация, которая обозначает,  что метод должен быть вызван для тестирования</a:t>
            </a:r>
          </a:p>
          <a:p>
            <a:pPr lvl="0"/>
            <a:r>
              <a:rPr lang="ru-RU" sz="2800" dirty="0"/>
              <a:t>    @</a:t>
            </a:r>
            <a:r>
              <a:rPr lang="en-US" sz="2800" dirty="0"/>
              <a:t>Test </a:t>
            </a:r>
            <a:r>
              <a:rPr lang="ru-RU" sz="2800" dirty="0"/>
              <a:t>	</a:t>
            </a:r>
          </a:p>
          <a:p>
            <a:pPr lvl="0"/>
            <a:r>
              <a:rPr lang="ru-RU" sz="2800" dirty="0"/>
              <a:t>    </a:t>
            </a:r>
            <a:r>
              <a:rPr lang="en-US" sz="2800" dirty="0"/>
              <a:t>public void </a:t>
            </a:r>
            <a:r>
              <a:rPr lang="en-US" sz="2800" dirty="0" err="1"/>
              <a:t>testGetSum</a:t>
            </a:r>
            <a:r>
              <a:rPr lang="en-US" sz="2800" dirty="0"/>
              <a:t>() { </a:t>
            </a:r>
            <a:endParaRPr lang="ru-RU" sz="2800" dirty="0"/>
          </a:p>
          <a:p>
            <a:pPr lvl="0"/>
            <a:r>
              <a:rPr lang="ru-RU" sz="2800" dirty="0"/>
              <a:t>        </a:t>
            </a:r>
            <a:r>
              <a:rPr lang="en-US" sz="2800" dirty="0" err="1"/>
              <a:t>Calc</a:t>
            </a:r>
            <a:r>
              <a:rPr lang="en-US" sz="2800" dirty="0"/>
              <a:t> c = new </a:t>
            </a:r>
            <a:r>
              <a:rPr lang="en-US" sz="2800" dirty="0" err="1"/>
              <a:t>Calc</a:t>
            </a:r>
            <a:r>
              <a:rPr lang="en-US" sz="2800" dirty="0"/>
              <a:t>(); </a:t>
            </a:r>
            <a:endParaRPr lang="ru-RU" sz="2800" dirty="0"/>
          </a:p>
          <a:p>
            <a:pPr lvl="0"/>
            <a:r>
              <a:rPr lang="ru-RU" sz="2800" dirty="0"/>
              <a:t>        </a:t>
            </a:r>
            <a:r>
              <a:rPr lang="en-US" sz="2800" dirty="0"/>
              <a:t>// </a:t>
            </a:r>
            <a:r>
              <a:rPr lang="ru-RU" sz="2800" dirty="0"/>
              <a:t>этот метод вызовет исключение, если результат 	</a:t>
            </a:r>
          </a:p>
          <a:p>
            <a:pPr lvl="0"/>
            <a:r>
              <a:rPr lang="ru-RU" sz="2800" dirty="0"/>
              <a:t>        </a:t>
            </a:r>
            <a:r>
              <a:rPr lang="en-US" sz="2800" dirty="0"/>
              <a:t>// </a:t>
            </a:r>
            <a:r>
              <a:rPr lang="ru-RU" sz="2800" dirty="0"/>
              <a:t>нашего калькулятора будет отличен от 50 	</a:t>
            </a:r>
          </a:p>
          <a:p>
            <a:pPr lvl="0"/>
            <a:r>
              <a:rPr lang="ru-RU" sz="2800" dirty="0"/>
              <a:t>        </a:t>
            </a:r>
            <a:r>
              <a:rPr lang="en-US" sz="2800" dirty="0" err="1"/>
              <a:t>assertEquals</a:t>
            </a:r>
            <a:r>
              <a:rPr lang="en-US" sz="2800" dirty="0"/>
              <a:t>(</a:t>
            </a:r>
            <a:r>
              <a:rPr lang="ru-RU" sz="2800" dirty="0"/>
              <a:t>«Ошибка суммирования!», </a:t>
            </a:r>
            <a:r>
              <a:rPr lang="en-US" sz="2800" dirty="0" err="1"/>
              <a:t>c.getSum</a:t>
            </a:r>
            <a:r>
              <a:rPr lang="en-US" sz="2800" dirty="0"/>
              <a:t>(20, 30), 50); </a:t>
            </a:r>
            <a:r>
              <a:rPr lang="ru-RU" sz="2800" dirty="0"/>
              <a:t>     </a:t>
            </a:r>
            <a:r>
              <a:rPr lang="en-US" sz="2800" dirty="0"/>
              <a:t>} </a:t>
            </a:r>
            <a:endParaRPr lang="ru-RU" sz="2800" dirty="0"/>
          </a:p>
          <a:p>
            <a:pPr lvl="0"/>
            <a:r>
              <a:rPr lang="en-US" dirty="0">
                <a:solidFill>
                  <a:srgbClr val="FFFF00"/>
                </a:solidFill>
              </a:rPr>
              <a:t>}</a:t>
            </a:r>
            <a:r>
              <a:rPr lang="ru-RU" dirty="0">
                <a:solidFill>
                  <a:srgbClr val="FFFF00"/>
                </a:solidFill>
                <a:cs typeface="Arial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999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9063" y="599202"/>
            <a:ext cx="8452752" cy="792088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Создадим искусственный баг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524000" y="1052736"/>
            <a:ext cx="903649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900" dirty="0"/>
              <a:t> </a:t>
            </a:r>
          </a:p>
          <a:p>
            <a:r>
              <a:rPr lang="ru-RU" sz="1900" dirty="0"/>
              <a:t>    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90382" y="959246"/>
            <a:ext cx="8870114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2000" dirty="0"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Допустим, некий злоумышленник переписал класс </a:t>
            </a:r>
            <a:r>
              <a:rPr lang="en-US" sz="2800" dirty="0" err="1">
                <a:cs typeface="Arial" pitchFamily="34" charset="0"/>
              </a:rPr>
              <a:t>Calc</a:t>
            </a:r>
            <a:r>
              <a:rPr lang="en-US" sz="2800" dirty="0">
                <a:cs typeface="Arial" pitchFamily="34" charset="0"/>
              </a:rPr>
              <a:t> </a:t>
            </a:r>
            <a:r>
              <a:rPr lang="ru-RU" sz="2800" dirty="0">
                <a:cs typeface="Arial" pitchFamily="34" charset="0"/>
              </a:rPr>
              <a:t>следующим образом: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2800" dirty="0"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 err="1">
                <a:cs typeface="Arial" pitchFamily="34" charset="0"/>
              </a:rPr>
              <a:t>public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class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Calc</a:t>
            </a:r>
            <a:r>
              <a:rPr lang="ru-RU" sz="2800" dirty="0">
                <a:cs typeface="Arial" pitchFamily="34" charset="0"/>
              </a:rPr>
              <a:t>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    </a:t>
            </a:r>
            <a:r>
              <a:rPr lang="ru-RU" sz="2800" dirty="0" err="1">
                <a:cs typeface="Arial" pitchFamily="34" charset="0"/>
              </a:rPr>
              <a:t>public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int</a:t>
            </a:r>
            <a:r>
              <a:rPr lang="ru-RU" sz="2800" dirty="0">
                <a:cs typeface="Arial" pitchFamily="34" charset="0"/>
              </a:rPr>
              <a:t> </a:t>
            </a:r>
            <a:r>
              <a:rPr lang="ru-RU" sz="2800" dirty="0" err="1">
                <a:cs typeface="Arial" pitchFamily="34" charset="0"/>
              </a:rPr>
              <a:t>getSum</a:t>
            </a:r>
            <a:r>
              <a:rPr lang="ru-RU" sz="2800" dirty="0">
                <a:cs typeface="Arial" pitchFamily="34" charset="0"/>
              </a:rPr>
              <a:t>(</a:t>
            </a:r>
            <a:r>
              <a:rPr lang="ru-RU" sz="2800" dirty="0" err="1">
                <a:cs typeface="Arial" pitchFamily="34" charset="0"/>
              </a:rPr>
              <a:t>int</a:t>
            </a:r>
            <a:r>
              <a:rPr lang="ru-RU" sz="2800" dirty="0">
                <a:cs typeface="Arial" pitchFamily="34" charset="0"/>
              </a:rPr>
              <a:t> x, </a:t>
            </a:r>
            <a:r>
              <a:rPr lang="ru-RU" sz="2800" dirty="0" err="1">
                <a:cs typeface="Arial" pitchFamily="34" charset="0"/>
              </a:rPr>
              <a:t>int</a:t>
            </a:r>
            <a:r>
              <a:rPr lang="ru-RU" sz="2800" dirty="0">
                <a:cs typeface="Arial" pitchFamily="34" charset="0"/>
              </a:rPr>
              <a:t> y)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        </a:t>
            </a:r>
            <a:r>
              <a:rPr lang="ru-RU" sz="2800" dirty="0" err="1">
                <a:cs typeface="Arial" pitchFamily="34" charset="0"/>
              </a:rPr>
              <a:t>return</a:t>
            </a:r>
            <a:r>
              <a:rPr lang="ru-RU" sz="2800" dirty="0">
                <a:cs typeface="Arial" pitchFamily="34" charset="0"/>
              </a:rPr>
              <a:t>  x  +  y  -  1;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    }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cs typeface="Arial" pitchFamily="34" charset="0"/>
              </a:rPr>
              <a:t>}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>
              <a:cs typeface="Arial" pitchFamily="34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4259795" y="3952107"/>
            <a:ext cx="864295" cy="395606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4" descr="http://im0-tub-ru.yandex.net/i?id=29933000-04-72&amp;n=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289" y="3952107"/>
            <a:ext cx="504056" cy="6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90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B3024-B7A5-46E5-ABD4-A024A874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DF89C-AF09-4ABB-8897-560B3A9E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93D35B-24E7-48F5-9B55-17F34FA795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9" y="365125"/>
            <a:ext cx="10870721" cy="6346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08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DD781-4AA3-4C39-88D8-7AADD93A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BD851E-8D11-41B5-89F2-3F2A0D033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1019E7-A7D4-4B44-8D7F-480F6E45DE4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807" y="1414732"/>
            <a:ext cx="5382883" cy="4537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7438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FD9B2-26DE-446A-B881-D0E4B8BF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93C1E5-89F6-4CE3-B96A-82B6729B8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D7EE02-B97D-482E-BF19-DCF605F115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80" y="0"/>
            <a:ext cx="9454551" cy="9143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076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B5B1F-659D-410C-B470-6259066D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4DBAC-5948-44C5-ACE9-AF17E490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hlinkClick r:id="rId2"/>
            <a:extLst>
              <a:ext uri="{FF2B5EF4-FFF2-40B4-BE49-F238E27FC236}">
                <a16:creationId xmlns:a16="http://schemas.microsoft.com/office/drawing/2014/main" id="{66ABCD45-A990-4E86-A90D-D2216FBB7E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59063" cy="7988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8529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74EFD-1A06-4168-99D5-7264D814B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09AB8-2E56-4E13-9BB7-62CA1844C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TTestCase1.Clear;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FCalc.Clear;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AssertEquals(FCalc.Accumulator, 0);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TTestCase1.Add;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FCalc.Add(42);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AssertEquals(FCalc.Accumulator, 42);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TTestCase1.Sub;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FCalc.Sub(42);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AssertEquals(FCalc.Accumulator, -42);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>
                <a:solidFill>
                  <a:srgbClr val="1F386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endParaRPr lang="ru-RU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22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5170" y="332657"/>
            <a:ext cx="9175630" cy="56023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dirty="0"/>
              <a:t>Контрольные вопросы к разделу:</a:t>
            </a:r>
          </a:p>
          <a:p>
            <a:pPr marL="0" indent="0" algn="ctr">
              <a:buNone/>
            </a:pP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Что такое модульное тестирование? Какова его цель?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Перечислите основные возможности модульного тестирования.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Перечислите основные недостатки модульного тестирования. В каких случаях не следует его применять?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Напишите пример тестирования какого-либо метода средствами </a:t>
            </a:r>
            <a:r>
              <a:rPr lang="en-US" dirty="0" err="1"/>
              <a:t>JUnit</a:t>
            </a:r>
            <a:r>
              <a:rPr lang="en-US" dirty="0"/>
              <a:t>.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87404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1649</Words>
  <Application>Microsoft Office PowerPoint</Application>
  <PresentationFormat>Широкоэкранный</PresentationFormat>
  <Paragraphs>215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Wingdings</vt:lpstr>
      <vt:lpstr>Тема Office</vt:lpstr>
      <vt:lpstr>Лекция 6. Модульное тестирование программы</vt:lpstr>
      <vt:lpstr>Презентация PowerPoint</vt:lpstr>
      <vt:lpstr>Презентация PowerPoint</vt:lpstr>
      <vt:lpstr>Презентация PowerPoint</vt:lpstr>
      <vt:lpstr>Еще немного терминологии…</vt:lpstr>
      <vt:lpstr>Документальное оформление тест-кейса. Общая структура.</vt:lpstr>
      <vt:lpstr>Документальное оформление тест-кейса </vt:lpstr>
      <vt:lpstr>Документальное оформление тест-кейса </vt:lpstr>
      <vt:lpstr>Документальное оформление тест-кейса </vt:lpstr>
      <vt:lpstr>Документальное оформление тест-кейса </vt:lpstr>
      <vt:lpstr>Документальное оформление тест-кейса </vt:lpstr>
      <vt:lpstr>В результате должно получиться вот так:</vt:lpstr>
      <vt:lpstr>Набор тест-кейсов для тестирования родственных функций программы называется тест-комплект  (test suite)</vt:lpstr>
      <vt:lpstr>Основные требования к тест-кейсу</vt:lpstr>
      <vt:lpstr>Зачем документально оформлять тест-кейсы? </vt:lpstr>
      <vt:lpstr>Модульное тестирование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Основы отладки программного обеспечения</dc:title>
  <dc:creator>Евгений Ткачук</dc:creator>
  <cp:lastModifiedBy>Евгений Ткачук</cp:lastModifiedBy>
  <cp:revision>49</cp:revision>
  <dcterms:created xsi:type="dcterms:W3CDTF">2019-08-14T13:27:45Z</dcterms:created>
  <dcterms:modified xsi:type="dcterms:W3CDTF">2019-08-23T11:30:41Z</dcterms:modified>
</cp:coreProperties>
</file>
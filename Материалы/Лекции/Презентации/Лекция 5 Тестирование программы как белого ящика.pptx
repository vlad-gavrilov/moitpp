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8" r:id="rId4"/>
    <p:sldId id="328" r:id="rId5"/>
    <p:sldId id="329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30" r:id="rId23"/>
    <p:sldId id="327" r:id="rId24"/>
    <p:sldId id="347" r:id="rId25"/>
    <p:sldId id="348" r:id="rId26"/>
    <p:sldId id="349" r:id="rId27"/>
    <p:sldId id="350" r:id="rId28"/>
    <p:sldId id="351" r:id="rId29"/>
    <p:sldId id="352" r:id="rId30"/>
    <p:sldId id="353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F9580-42EB-48AC-810B-BB0E7F2D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E8292E-6725-4EBA-AF64-0242450F3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5D51C-1AE2-41A1-A243-A88A3F18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500DA-FFB6-4F18-B2B6-B5259CED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ADE00-A412-4690-AB4D-5BA86C6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0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7AFB2-5487-43BD-A645-C4A3E33B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6A168-825C-4326-A59F-C3BB7887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3C725-B896-48F2-ADDE-D37B1A50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AC956-C61E-4D74-AAAE-3297BC39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7295A-E096-48F5-ACE3-9E151134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8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B02D1-10E1-473A-8134-134AD3AA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E004C6-1147-4469-A70E-D8E150A3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F3FB5-2E7D-4603-820F-B85A6647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E9286F-A86D-4991-8995-00B81E7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5A1E1C-85B8-4977-9507-D3C08713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66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34FE5-5BD8-43AA-91BC-2D147142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B1232-01C2-4007-A922-E184E0B77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1081E9-62C3-4FAD-9C53-26802FA3D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7B8451-3D16-4C30-A2E6-3FA46A78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6A1F6-D99A-49EB-8A2D-566F766C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4F96EA-37A5-4595-91BC-5E17DEA0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89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2972D-3909-4348-8D3E-FB0B9C48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2F1E4-21B0-4F61-9AFC-1EF4F735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EFD26D-70FD-453E-A183-F97316B1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F60524-08FD-4F48-B481-D6C99A1A8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A8C5EC-3CA1-49B0-97D2-402967F34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4BD85B-1719-4E6F-9257-854B45D4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41837F-12FB-4E67-935B-C8BE0B3A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B0F62C-8BB2-459C-9B31-87EAAC6D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55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5281C-70FB-4D37-BCB6-FFFFF208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0B246F-1ED8-4FA0-960B-0CBD67BF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5F674F-EDC4-498F-B8F9-8DBBB9A7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6973A7-DA5C-4FF8-80B2-B76580BC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16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5361D-F9C0-4A4B-94C5-36D3C594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271546-2724-47C4-9DBB-C1EC3454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04A4A9-C09F-4A05-8121-46D919C1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47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63F6E-0050-42E8-A4DC-A5C05B4E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7F604-2E61-4106-8A08-9CF362EDF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603790-11D4-4A58-92FB-E58F04DE4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0B2516-2379-4206-A700-3E2C62F2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FCCECC-4067-4DF3-8362-A7848314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C0ACDA-122C-47C2-A550-2554ECA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31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81A8F-5421-4CF5-9353-AE0E071C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CF67F5-9A8B-46B3-9C57-7B0630670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160048-8570-4BC9-AD31-FE0F54260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636A0-F77B-462D-836A-DE63125E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A56B6-E062-437F-A6EF-910DED94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28C62A-C851-43B2-BB27-EF26B0CC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26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577A5-AB23-469C-9601-9E46E07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2F9A3F-B16C-4790-AF7F-204D4A17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530A9-1D7E-461B-B792-697E0C31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210732-5E6F-40CE-9BAF-750B81CD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40B9CB-1BC6-4831-A2B9-65DF8710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94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CB3DD1-B640-4F42-8618-52DC401E0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D65716-E894-40E3-A7A6-48B7AA74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D1B5BE-4A56-48E5-B5DD-F8F4A508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142BC-0189-40CA-8E9E-51AC0DFB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C32AEA-D104-4738-8026-3CF7CE3F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76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4A46D-0D20-4678-81AC-04EC7360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AA3114-F7E3-425F-A0BA-D191E63F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81F7B-6C4A-4289-A00A-38C8374ED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AC16-FB68-4D90-9C71-CAD0E5C2F217}" type="datetimeFigureOut">
              <a:rPr lang="ru-RU" smtClean="0"/>
              <a:t>22.08.2019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D8831-BA5A-4BEB-8C70-04E60106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EEA7DA-BF0A-4142-BAC7-C32D4D74C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6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D1D42-66DD-4454-B5DC-E175F8AFE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366" y="1122363"/>
            <a:ext cx="9960634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Лекция 5. 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Тестирование программы как белого ящика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AD359-AF07-4600-834C-249723F99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Методы отладки и тестирования программных продуктов </a:t>
            </a:r>
          </a:p>
          <a:p>
            <a:r>
              <a:rPr lang="ru-RU" dirty="0"/>
              <a:t>Б1.В.17,  09.03.01, набор 2017г.</a:t>
            </a:r>
          </a:p>
          <a:p>
            <a:r>
              <a:rPr lang="ru-RU" dirty="0"/>
              <a:t>СКФ МТУСИ, каф. ИВТ, доцент Ткачук Е.О.</a:t>
            </a:r>
          </a:p>
          <a:p>
            <a:r>
              <a:rPr lang="ru-RU" dirty="0"/>
              <a:t>2019/2020г.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13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6002" y="188641"/>
            <a:ext cx="738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Методика «белый ящик»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767" y="1204304"/>
            <a:ext cx="7380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Тестирование поведения программы с точки зрения </a:t>
            </a:r>
            <a:r>
              <a:rPr lang="ru-RU" sz="2400" b="1" i="1" dirty="0"/>
              <a:t>разработчика кода </a:t>
            </a:r>
          </a:p>
          <a:p>
            <a:r>
              <a:rPr lang="ru-RU" sz="2400" dirty="0"/>
              <a:t>(используется исходный текст программы).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2485752"/>
            <a:ext cx="7361724" cy="4287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825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09817AC-2F5F-4907-B38F-4E34D0D01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75"/>
            <a:ext cx="10515600" cy="6021688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При тестировании системы как белого - стеклянного ящика тестировщик имеет доступ не только к требованиям к системе, ее входам и выходам, но и к ее внутренней структуре - видит ее программный код.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Доступность программного кода расширяет возможности тестировщика тем, что он может видеть соответствие требований участкам программного кода и определять тем самым, на весь ли программный код существуют требования.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Программный код, для которого отсутствуют требования, называют кодом, не покрытым требованиями.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Такой код является потенциальным источником неадекватного поведения системы.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923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3FA389-807B-4189-B2DA-6A127964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Техника Белого ящика включает в себя следующие методы тестирования: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3C69A2-FE55-47AF-B655-0176E14BB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покрытие операторов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покрытие решений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покрытие условий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покрытие решений и условий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комбинаторное покрытие условий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131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0E080-2C22-45FB-B905-0923DFC8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Покрытие операторов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BE0A3C-35F8-463C-B7CA-97C16ECC1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0" y="1825624"/>
            <a:ext cx="11112260" cy="5196277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Критерии покрытия операторов подразумевает выполнение каждого оператора программы по крайней мере один раз.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Рассмотрим пример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func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(int a, int b, float x) {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((a &gt; 1) &amp;&amp; (b == 0)) x = x/a;</a:t>
            </a:r>
          </a:p>
          <a:p>
            <a:pPr indent="0" algn="just"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(a == 2 || x &gt; 1) x++;</a:t>
            </a:r>
          </a:p>
          <a:p>
            <a:pPr indent="0" algn="just"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}</a:t>
            </a:r>
          </a:p>
          <a:p>
            <a:pPr indent="0" algn="just"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тест со следующими значениями входных данных (a = 2 b = 0 x = 3).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305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A3E60E-171B-4FAA-9BD6-46F1B39A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kern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ПОКРЫТИЕ РЕШЕНИЙ.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8DF106-5FA7-4016-8D23-717220AA8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6710"/>
            <a:ext cx="12192000" cy="5581290"/>
          </a:xfrm>
        </p:spPr>
        <p:txBody>
          <a:bodyPr>
            <a:normAutofit lnSpcReduction="10000"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Решением будем считать логическую функцию, предшествующую оператору.(а&gt;1 &amp;&amp;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=0 – решение). Для  реализации этого критерия необходимо достаточное число тестов такое , что каждое решение на этих тестах принимает значение «истина» или «ложь» по крайней мере 1-н раз.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Не трудно показать , что критерий покрытия решений удовлетворяет критерию покрытия операторов, но является более сильным.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Приведенная программа может быть протестирована по методу покрытия решений двумя тестами, покрывающими , либо путь асе 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либо ас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abe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Если мы выбираем 2-е покрытие, то входами 2-ч тестов являются: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а=3 ,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=0,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=3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=2 ,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если во 2-м условии вместо x&gt;1 записать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&lt;1 , то ошибка не будет обнаружена двумя тестами.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965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969C8-B57E-4922-A815-B45B326F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kern="1400">
                <a:latin typeface="Times New Roman" panose="02020603050405020304" pitchFamily="18" charset="0"/>
                <a:ea typeface="Times New Roman" panose="02020603050405020304" pitchFamily="18" charset="0"/>
              </a:rPr>
              <a:t>ПОКРЫТИЕ УСЛОВИЙ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2CD978-0759-43A4-9B6A-5B7272AA1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Критерий покрытия условий более сильный по сравнению с предыдущим. В этом случае записывается число тестов достаточное для того , чтобы все возможные результаты каждого условия в решении были выполнены по крайней мере 1-н раз.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Однако как и случай покрытия решений это покрытие не всегда приводит к выполнению каждого оператора по крайней мере 1-н раз. К этому критерию требуется дополнение, заключающееся в том, что каждой точке входа управление должно быть передано по крайней мере 1-н раз.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865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378503-AE33-44B9-BEF3-AC25E814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57" y="1"/>
            <a:ext cx="11008743" cy="1690688"/>
          </a:xfrm>
        </p:spPr>
        <p:txBody>
          <a:bodyPr>
            <a:noAutofit/>
          </a:bodyPr>
          <a:lstStyle/>
          <a:p>
            <a:pPr indent="0">
              <a:spcAft>
                <a:spcPts val="0"/>
              </a:spcAft>
            </a:pPr>
            <a:b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void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func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(int a, int b, float x) {</a:t>
            </a:r>
            <a:b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((a &gt; 1) &amp;&amp; (b == 0)) x = x/a;</a:t>
            </a:r>
            <a:b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(a == 2 || x &gt; 1) x++;</a:t>
            </a:r>
            <a:b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}</a:t>
            </a:r>
            <a:b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783054-660F-48C7-980C-8C09983D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87" y="1825624"/>
            <a:ext cx="11697419" cy="5032376"/>
          </a:xfrm>
        </p:spPr>
        <p:txBody>
          <a:bodyPr>
            <a:normAutofit lnSpcReduction="10000"/>
          </a:bodyPr>
          <a:lstStyle/>
          <a:p>
            <a:pPr indent="450215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Приведенная программа имеет 4-е условия: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&gt;1,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==0,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==2,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&gt;1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 реализовать ситуацию, где а&gt;1,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&lt;=1;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=0,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!=0;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==2,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!=2;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&gt;1 ,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&lt;=1;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/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тесты , удовлетворяющие этому условию.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arenR"/>
              <a:tabLst>
                <a:tab pos="228600" algn="l"/>
              </a:tabLst>
            </a:pP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a=2, b=0, x=4 (ace)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2)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a=1, b=1, x=1 (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abd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 тесты: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arenR"/>
              <a:tabLst>
                <a:tab pos="2286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a=1, b=0, x=3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2)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a=2, b=1, x=1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покрывают результаты всех условий , но только 2-а из 4-х результатов решений ( не выполняется результат «истина» 1-го  решения и результат «ложь» 2-го.).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403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596B4-F548-4E88-8046-50EABE83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kern="1400">
                <a:latin typeface="Times New Roman" panose="02020603050405020304" pitchFamily="18" charset="0"/>
                <a:ea typeface="Times New Roman" panose="02020603050405020304" pitchFamily="18" charset="0"/>
              </a:rPr>
              <a:t>Покрытие решений/условий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C68B59-524F-4A37-AAA0-D907BB599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Этот метод требует составить тесты так, чтобы все возможные результаты каждого условия выполнялись, по крайней мере, один раз и каждой точке управления передается, по крайней мере, один раз.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Недостатки метода.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228600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 всегда можно проверить все условия.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228600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Невозможно проверить условия, которые скрыты другими условиями.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Недостаточная чувствительность к ошибкам в логических выражениях.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390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7DB8C-8C68-4A83-80C0-F8C43B6C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kern="1400">
                <a:latin typeface="Times New Roman" panose="02020603050405020304" pitchFamily="18" charset="0"/>
                <a:ea typeface="Times New Roman" panose="02020603050405020304" pitchFamily="18" charset="0"/>
              </a:rPr>
              <a:t>Комбинаторное покрытие условий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BC9A5F-BC23-4270-A5DC-D7F3C7BC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032375"/>
          </a:xfrm>
        </p:spPr>
        <p:txBody>
          <a:bodyPr>
            <a:normAutofit/>
          </a:bodyPr>
          <a:lstStyle/>
          <a:p>
            <a:pPr indent="180340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Этот критерий требует создания такого числа тестов, чтобы в каждом решении  все точки входа выполнялись, по крайней мере, один раз.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180340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приведённого примера покрыть тестами 8 следующих комбинаций: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A&gt;1, B=0;   2.  A&gt;1, B!=0;   3.  A&lt;=1, B=0;   4. A&lt;=1, B!=0;   5. A=2, X&gt;1;  6. 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=2,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&lt;=1;  7.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!=2,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&gt;1;   8.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!=2,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&lt;=1.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180340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Эти комбинации можно проверить четырьмя тестами: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A=2, B=0, X=4   K: 1, 5          2.  A=2, B=1, X=1   K: 2, 6 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A=1, B=0, X=2   K: 3, 7          4.  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  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4, 8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0638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33F56-A91F-4382-8F3A-31416869B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AC549-6FBF-4D47-B240-438A8810A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>
                <a:latin typeface="Times New Roman" panose="02020603050405020304" pitchFamily="18" charset="0"/>
                <a:ea typeface="Times New Roman" panose="02020603050405020304" pitchFamily="18" charset="0"/>
              </a:rPr>
              <a:t>для программ, содержащих только одно условие на каждое решение, минимальным является критерий, набор тестов которого:</a:t>
            </a:r>
            <a:endParaRPr lang="ru-RU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228600" algn="l"/>
              </a:tabLst>
            </a:pPr>
            <a:r>
              <a:rPr lang="ru-RU">
                <a:latin typeface="Times New Roman" panose="02020603050405020304" pitchFamily="18" charset="0"/>
                <a:ea typeface="Times New Roman" panose="02020603050405020304" pitchFamily="18" charset="0"/>
              </a:rPr>
              <a:t>Вызывает выполнение всех результатов каждого решения, по крайней мере, один раз.</a:t>
            </a:r>
            <a:endParaRPr lang="ru-RU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228600" algn="l"/>
              </a:tabLst>
            </a:pPr>
            <a:r>
              <a:rPr lang="ru-RU"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Передаёт управление каждой точке входа хотя бы один раз (чтобы обеспечить выполнение каждого оператора, по крайней мере, один раз).</a:t>
            </a:r>
            <a:endParaRPr lang="ru-RU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00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D8C82-878A-48C6-9882-8D85329A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Методы тестирования на основе стратегии белого ящика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E30843-1AFE-4993-9A9B-06E967421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Ввод неверных значений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Модульное тестирование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Тестирование обработки ошибок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Утечка памяти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Комплексное тестирование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Исследование покрытия</a:t>
            </a:r>
          </a:p>
          <a:p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34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48571-AECC-463A-879E-278D63BD8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Программа считается полностью проверенной, если проведено исчерпывающее тестирование маршрутов графа управления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AD20C-56FF-4678-8179-F2EA556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гарантируется проверка всех независимых маршрутов программы;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проверяются ветви TRUE и FALSE для всех логических решений;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выполняются все циклы в пределах их границ и диапазонов;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анализируется правильность внутренних структур данных.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2003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C5A3E-1D32-47A8-9168-2819F9D7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Недостатки тестирования белого ящика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EEAB57-44DD-479E-8B0E-2B923A16F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1215"/>
            <a:ext cx="12192000" cy="5727940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 независимых маршрутов может быть очень велико. Например, если цикл в программе выполняется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раз, а внутри цикла имеется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ветвлений, то количество маршрутов вычисляется по формуле 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1645" algn="just">
              <a:spcAft>
                <a:spcPts val="0"/>
              </a:spcAft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spcAft>
                <a:spcPts val="0"/>
              </a:spcAft>
              <a:buNone/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 5 и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 20 количество маршрутов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 10</a:t>
            </a:r>
            <a:r>
              <a:rPr lang="ru-RU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Примем, что на разработку, выполнение и оценку теста по одному маршруту расходуется 1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мс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Тогда при работе 24 часа в сутки 365 дней в году на тестирование уйдет 3170 лет. Поэтому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исчерп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Тест-е в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больш-ве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случаев невозможно.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04520" indent="-514350" algn="just">
              <a:spcAft>
                <a:spcPts val="0"/>
              </a:spcAft>
              <a:buAutoNum type="arabicPeriod" startAt="2"/>
              <a:tabLst>
                <a:tab pos="180340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Исчерпывающее тестирование маршрутов не гарантирует соответствия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прогри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исходным треб-ям к ней.</a:t>
            </a:r>
          </a:p>
          <a:p>
            <a:pPr marL="604520" indent="-514350" algn="just">
              <a:spcAft>
                <a:spcPts val="0"/>
              </a:spcAft>
              <a:buAutoNum type="arabicPeriod" startAt="2"/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	В программе могут быть пропущены некоторые маршруты.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04520" indent="-514350" algn="just">
              <a:spcAft>
                <a:spcPts val="0"/>
              </a:spcAft>
              <a:buAutoNum type="arabicPeriod" startAt="2"/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Нельзя обнаружить ошибки, появление которых зависит от обрабатываемых данных.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DACF66-C67C-425C-919E-C1325B641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932" y="2484522"/>
            <a:ext cx="2693561" cy="87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982AC-5040-4192-8A7E-75B06BA5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90170" algn="ctr">
              <a:spcAft>
                <a:spcPts val="0"/>
              </a:spcAft>
              <a:tabLst>
                <a:tab pos="180340" algn="l"/>
              </a:tabLst>
            </a:pPr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Достоинства </a:t>
            </a:r>
            <a:endParaRPr lang="ru-RU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9A769D-7E2B-4726-ADAF-5B33F65D7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1216"/>
            <a:ext cx="12192000" cy="5546784"/>
          </a:xfrm>
        </p:spPr>
        <p:txBody>
          <a:bodyPr>
            <a:normAutofit lnSpcReduction="10000"/>
          </a:bodyPr>
          <a:lstStyle/>
          <a:p>
            <a:pPr indent="90170" algn="just">
              <a:spcAft>
                <a:spcPts val="0"/>
              </a:spcAft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 «белого ящика» позволяет учесть особенности программных ошибок: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90170" algn="just">
              <a:spcAft>
                <a:spcPts val="0"/>
              </a:spcAft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	При кодировании возможны синтаксические и семантические ошибки.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 indent="90170" algn="just">
              <a:spcAft>
                <a:spcPts val="0"/>
              </a:spcAft>
              <a:tabLst>
                <a:tab pos="180340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	Количество ошибок минимально в «центре» и максимально на «периферии» программы.</a:t>
            </a:r>
          </a:p>
          <a:p>
            <a:pPr indent="90170" algn="just">
              <a:spcAft>
                <a:spcPts val="0"/>
              </a:spcAft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	Предварительные предположения о вероятности потока управления или данных в программе часто бывают некорректны. В результате типовым может стать маршрут, модель вычислений по которому проработана слабо.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90170" algn="just">
              <a:spcAft>
                <a:spcPts val="0"/>
              </a:spcAft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 	Некоторые результаты в программе зависят не от исходных данных, а от внутренних состояний программы.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90170" algn="just">
              <a:spcAft>
                <a:spcPts val="0"/>
              </a:spcAft>
              <a:tabLst>
                <a:tab pos="18034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Каждая из этих причин является аргументом для проведения тестирования по принципу «белого ящика». Тесты «черного ящика» не смогут реагировать на ошибки таких типов.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425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376CD-1FF8-404A-9D1F-BD11E948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Способ тестирования базового пути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59279-AE59-45BB-9179-1BF68BF4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Тестирование базового пути – это способ, который основан на принципах белого ящика. Автор этого способа – Т. Мак-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Кейб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Способ тестирования базового пути позволяет: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получить оценку комплексной сложности программы;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использовать эту оценку для определения необходимого количества тестовых вариантов.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Тестовые варианты разрабатываются для проверки базового множества маршрутов в программе. Они гарантируют однократное выполнение каждого оператора программы при тестировании.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8956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CB3CB-8593-40A6-9E6C-BBEB06AA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Потоковый граф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A67B51-9284-406D-AB8D-4A57A08FE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Для представления программы при тестировании базового пути используется потоковый граф, имеющий следующие особенности: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Граф строится путем отображения управляющей структуры программы. В ходе отображения условные операторы и операторы циклов рассматриваются как отдельные операторы.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Узлы (вершины) потокового графа соответствуют линейным участкам программы и включают один или несколько операторов программы.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Дуги потокового графа отображают поток управления в программе, то есть передачу управления между операторами. Дуга потокового графа представляет собой ориентированное ребро.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803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54B81-EDD2-42F4-95DD-8B5E3969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47004F-9928-4A69-85D6-218F0BB21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1986"/>
            <a:ext cx="12059728" cy="5296618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Различают операторные и предикатные узлы. Из операторного узла выходит одна дуга, а из предикатного – две дуги.</a:t>
            </a:r>
          </a:p>
          <a:p>
            <a:pPr indent="450215" algn="just">
              <a:spcAft>
                <a:spcPts val="0"/>
              </a:spcAft>
            </a:pP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Предикатные узлы соответствуют простым условиям в программе. Составное условие программы отображается в нескольких предикатных узлах.</a:t>
            </a:r>
          </a:p>
          <a:p>
            <a:pPr indent="450215" algn="just">
              <a:spcAft>
                <a:spcPts val="0"/>
              </a:spcAft>
            </a:pP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Составным называется условие, в котором используется одна или несколько булевых операций, то есть OR или AND.</a:t>
            </a:r>
          </a:p>
          <a:p>
            <a:pPr indent="450215" algn="just">
              <a:spcAft>
                <a:spcPts val="0"/>
              </a:spcAft>
            </a:pP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Замкнутые области, образованные дугами и узлами, называются регионами.</a:t>
            </a:r>
          </a:p>
          <a:p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Окружающая граф среда рассматривается как дополнительный регион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347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34CA2-4C79-4483-8EF1-F9C3DD55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три аспекта, которые проверяются в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White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Box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тестировании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97F8AB-F063-41F8-9B32-7DF1A5B5D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Было ли программное обеспечение разработано в соответствии с оригинальным дизайном программного обеспечения.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Были ли внедрены меры безопасности в программное обеспечение и надежны ли они.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Выяснить уязвимости указанного программного обеспечения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379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D418A-F1DB-404A-8887-B998D098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Times New Roman" panose="02020603050405020304" pitchFamily="18" charset="0"/>
                <a:ea typeface="Calibri" panose="020F0502020204030204" pitchFamily="34" charset="0"/>
              </a:rPr>
              <a:t>Преимущества White Box тестирования 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59985-2F5B-4BDA-BE95-179B67C06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Знание структуры внутреннего кодирования является предпосылкой при которой становится очень легко выяснить, какой тип ввода или какие данные могут помочь в эффективном тестировании приложений.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Еще одно преимущество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White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Box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тестирования заключается в том, что оно помогает в оптимизации кода.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Помогает в удалении дополнительных строк кода, которые могут производить дефекты в коде.  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47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1D09B-0671-4051-9A89-FCC23BEA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>
                <a:latin typeface="Times New Roman" panose="02020603050405020304" pitchFamily="18" charset="0"/>
                <a:ea typeface="Calibri" panose="020F0502020204030204" pitchFamily="34" charset="0"/>
              </a:rPr>
              <a:t>Недостатки White Box тестирования 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908366-0B2B-42C4-8C02-81F04ED6D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Так как знание кода и внутренней структуры - это необходимое условие, то для осуществления данного вида тестирования необходим опытный тестер, а это, в свою очередь, увеличивает затраты на программное обеспечение.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Почти невозможно заглянуть в каждый кусок кода, чтобы выяснить скрытые ошибки, которые могут создать проблемы, приводящие к сбою приложения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2663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0615C-072E-4B51-895D-DA15DBA6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Покрытие решений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E799B7-0543-4C02-9D12-0A8A5D871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 соответствии с этим критерием необходимо составить такое число тестов, при которых каждое условие в программе примет как истинное значение, так и ложное значение.</a:t>
            </a:r>
          </a:p>
          <a:p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func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(int a, int b, float x) {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((a &gt; 1) &amp;&amp; (b == 0)) x = x/a;</a:t>
            </a:r>
          </a:p>
          <a:p>
            <a:pPr indent="0" algn="just"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(a == 2 || x &gt; 1) x++;          </a:t>
            </a:r>
          </a:p>
          <a:p>
            <a:pPr indent="0" algn="just"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71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6002" y="188641"/>
            <a:ext cx="738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Методика «серый ящик»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3512" y="1204304"/>
            <a:ext cx="885698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Гибридная модель тестирования. </a:t>
            </a:r>
            <a:r>
              <a:rPr lang="ru-RU" sz="2400" dirty="0" err="1"/>
              <a:t>Тестировщик</a:t>
            </a:r>
            <a:r>
              <a:rPr lang="ru-RU" sz="2400" dirty="0"/>
              <a:t> использует подход «черного ящика», однако при необходимости может пользоваться инструментами и знаниями о разрабатываемом приложении, недоступными рядовому пользователю. </a:t>
            </a:r>
          </a:p>
          <a:p>
            <a:endParaRPr lang="ru-RU" sz="2400" dirty="0"/>
          </a:p>
          <a:p>
            <a:r>
              <a:rPr lang="ru-RU" sz="2200" i="1" dirty="0"/>
              <a:t>Например, при тестировании функции регистрации нового пользователя на сайте </a:t>
            </a:r>
            <a:r>
              <a:rPr lang="ru-RU" sz="2200" i="1" dirty="0" err="1"/>
              <a:t>тестировщику</a:t>
            </a:r>
            <a:r>
              <a:rPr lang="ru-RU" sz="2200" i="1" dirty="0"/>
              <a:t> может быть открыт непосредственный доступ к БД для проверки корректности записи регистрационных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2543517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958A2-C39B-42B0-8C2E-278330B4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NeuchaRegular"/>
                <a:ea typeface="Times New Roman" panose="02020603050405020304" pitchFamily="18" charset="0"/>
                <a:cs typeface="Times New Roman" panose="02020603050405020304" pitchFamily="18" charset="0"/>
              </a:rPr>
              <a:t>Gray-box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E1241E-3E60-4D6D-9690-1D58B66EB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Проверка «серого ящика» – это метод тестирования программного продукта или приложения с частичным знанием его внутреннего устройства. </a:t>
            </a:r>
          </a:p>
          <a:p>
            <a:r>
              <a:rPr lang="ru-RU" sz="3200" dirty="0"/>
              <a:t>Для выполнения тестирования «серого ящика» нет необходимости в доступе тестировщика к исходному коду. </a:t>
            </a:r>
          </a:p>
          <a:p>
            <a:r>
              <a:rPr lang="ru-RU" sz="3200" dirty="0"/>
              <a:t>Тесты пишутся на основе знания алгоритма, архитектуры, внутренних состояний или других высокоуровневых описаний поведения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821418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AF213A-D519-42EA-AF1B-AFF96BCB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Виды тестирования «серого ящика»: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D395A-AD7A-40D1-84C5-2E0BE70A7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Матричное тестирование.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Регрессионное тестирование.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Шаблонное тестирование (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pattern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).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Тестирование с помощью ортогонального массива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8623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B2C84-BFD7-41F3-9EB2-4921FE16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Достоинства метода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F0238E-9DD0-4991-9B11-2669C2717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5179024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</a:rPr>
              <a:t>Тестирование серого ящика включает в себя плюсы тестирования «черного» и «белого». Другими словами, тестировщик смотрит на объект тестирования с позиции «черного» ящика, но при этом проводит анализ на основе тех данных, что он знает о системе.</a:t>
            </a:r>
            <a:endParaRPr lang="ru-RU" dirty="0"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</a:rPr>
              <a:t>Тестировщик может проектировать и использовать более сложные сценарии тестирования.</a:t>
            </a:r>
            <a:endParaRPr lang="ru-RU" dirty="0"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</a:rPr>
              <a:t>Тестировщик работает совместно с разработчиком, что позволяет на начальном этапе убрать избыточные тест-кейсы. Это сокращает время функционального и нефункционального тестирования и положительно влияет на общее качество продукта.</a:t>
            </a:r>
            <a:endParaRPr lang="ru-RU" dirty="0"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Предоставляет разработчику достаточно времени для исправления дефектов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305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EFC5E-29C1-48B0-BCF6-4B166846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Недостатки метода: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16B3AB-0208-4C05-9898-81701D0EB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Возможность анализа кода и тестового покрытия ограничена, так как доступ к исходному коду отсутствует.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Тесты могут быть избыточными в том случае, когда разработчик также проверяет свой код 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Unit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-тестами.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Нельзя протестировать все возможные потоки ввода и вывода, поскольку на это требуется слишком много времени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2912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FFD33-1784-48D5-8461-7F04E894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«серого ящика» помогает в следующих случаях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D68FD-7309-4877-8973-ABBF7510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87" y="1825624"/>
            <a:ext cx="11967713" cy="5032375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37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</a:rPr>
              <a:t>когда нет возможности использовать «белый ящик»;</a:t>
            </a:r>
            <a:endParaRPr lang="ru-RU" dirty="0"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</a:rPr>
              <a:t>когда необходимо более полное покрытие по сравнению с «черным ящиком».</a:t>
            </a:r>
            <a:endParaRPr lang="ru-RU" dirty="0"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Используя этот метод, тестировщики получают доступ к проектной документации и могут подготовить и создать более точные и полные тест-кейсы и сценарии тестирования. Наибольшая эффективность применения «серого ящика» достигается при тестировании </a:t>
            </a:r>
            <a:r>
              <a:rPr lang="ru-RU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-приложений, </a:t>
            </a:r>
            <a:r>
              <a:rPr lang="ru-RU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-сервисов, безопасности, GUI, а также для функционального тестирования.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4517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3A018-E3DB-4C4B-940E-BACB8062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Смысл тестирования белого ящика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793030-23AB-4E62-A842-6B791625A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Если белый ящик является прототипом и существует ненулевая вероятность ошибки для действительной реализации в другой среде.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Если существует несколько реализаций одинаковой логики (на разных языках или в разных окружениях).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Код белого ящика эволюционирует или подвергается рефакторингу, при этом мы хотели бы обнаруживать отличия от эталонного поведения.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Мы хотим обнаружить подмножества входных данных, обеспечивающие требуемые нам результаты.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523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24D32-1FD3-42A7-A37C-045BD657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</a:t>
            </a: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собенности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тестирования, основанного на реализации 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White Box)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85A38-49A3-4742-8B2F-AC9E4D09B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23" y="1690688"/>
            <a:ext cx="11869947" cy="4802187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если изначальная реализация не поддерживала некоторую функциональность, которую можно было бы ожидать, основываясь на спецификации, то наши тесты не заметят её отсутствия.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если такая функциональность присутствовала, но работала иначе, чем указано в спецификации (то есть, с ошибками), то наши тесты не просто этих ошибок не обнаружат, а напротив, ошибки будут "кодифицированы" в тестах.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если последующие/альтернативные реализации попробуют исправить ошибки, то такие тесты не позволят этого просто так сделать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521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1929</Words>
  <Application>Microsoft Office PowerPoint</Application>
  <PresentationFormat>Широкоэкранный</PresentationFormat>
  <Paragraphs>163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NeuchaRegular</vt:lpstr>
      <vt:lpstr>Symbol</vt:lpstr>
      <vt:lpstr>Times New Roman</vt:lpstr>
      <vt:lpstr>Verdana</vt:lpstr>
      <vt:lpstr>Тема Office</vt:lpstr>
      <vt:lpstr>Лекция 5. Тестирование программы как белого ящика</vt:lpstr>
      <vt:lpstr>Презентация PowerPoint</vt:lpstr>
      <vt:lpstr>Презентация PowerPoint</vt:lpstr>
      <vt:lpstr>Техника Белого ящика включает в себя следующие методы тестирования:</vt:lpstr>
      <vt:lpstr>Покрытие операторов</vt:lpstr>
      <vt:lpstr>ПОКРЫТИЕ РЕШЕНИЙ.</vt:lpstr>
      <vt:lpstr>ПОКРЫТИЕ УСЛОВИЙ</vt:lpstr>
      <vt:lpstr> void func(int a, int b, float x) {  if ((a &gt; 1) &amp;&amp; (b == 0)) x = x/a;  if (a == 2 || x &gt; 1) x++; } </vt:lpstr>
      <vt:lpstr>Покрытие решений/условий</vt:lpstr>
      <vt:lpstr>Комбинаторное покрытие условий</vt:lpstr>
      <vt:lpstr>Презентация PowerPoint</vt:lpstr>
      <vt:lpstr>Методы тестирования на основе стратегии белого ящика</vt:lpstr>
      <vt:lpstr>Программа считается полностью проверенной, если проведено исчерпывающее тестирование маршрутов графа управления</vt:lpstr>
      <vt:lpstr>Недостатки тестирования белого ящика</vt:lpstr>
      <vt:lpstr>Достоинства </vt:lpstr>
      <vt:lpstr>Способ тестирования базового пути</vt:lpstr>
      <vt:lpstr>Потоковый граф</vt:lpstr>
      <vt:lpstr>Презентация PowerPoint</vt:lpstr>
      <vt:lpstr>три аспекта, которые проверяются в White Box тестировании</vt:lpstr>
      <vt:lpstr>Преимущества White Box тестирования </vt:lpstr>
      <vt:lpstr>Недостатки White Box тестирования </vt:lpstr>
      <vt:lpstr>Покрытие решений</vt:lpstr>
      <vt:lpstr>Презентация PowerPoint</vt:lpstr>
      <vt:lpstr>Gray-box</vt:lpstr>
      <vt:lpstr>Виды тестирования «серого ящика»:</vt:lpstr>
      <vt:lpstr>Достоинства метода</vt:lpstr>
      <vt:lpstr>Недостатки метода:</vt:lpstr>
      <vt:lpstr>метод «серого ящика» помогает в следующих случаях</vt:lpstr>
      <vt:lpstr>Смысл тестирования белого ящика</vt:lpstr>
      <vt:lpstr>Особенности тестирования, основанного на реализации (White Box)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Основы отладки программного обеспечения</dc:title>
  <dc:creator>Евгений Ткачук</dc:creator>
  <cp:lastModifiedBy>Евгений Ткачук</cp:lastModifiedBy>
  <cp:revision>38</cp:revision>
  <dcterms:created xsi:type="dcterms:W3CDTF">2019-08-14T13:27:45Z</dcterms:created>
  <dcterms:modified xsi:type="dcterms:W3CDTF">2019-08-22T13:48:22Z</dcterms:modified>
</cp:coreProperties>
</file>
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9D613-71AF-4B60-A9DC-5169DF868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31F54F-DE8D-4252-A535-6A9F3C293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17A403-0482-4151-980D-E6C7ED23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B7D0FC-3BEC-4878-9C05-EF622B19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B409AE-134A-4564-9D9B-C94C0BDC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28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8DCEB-87C2-4DCF-99F7-5E671900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7BF9C7-9F15-4F24-BE09-0F422F1C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62F2C3-1275-4CBE-81E4-86D21B78A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F5823F-3E14-4DFF-9146-8131E006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A79B09-1A9C-4943-9B91-136C288E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039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1E2FD-AAC4-4511-8752-9F75307BE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537A61-A8C2-48EA-B37D-5D2842ADC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1B9A31-F7D1-43AC-98F9-1A527CF9B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F7E453-6923-406B-AED5-9AFE5D63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819A0F-C279-45DE-A832-02D59050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438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0B987A-F1C0-43EE-AA7D-BDDC2434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161BFD-828E-4FA3-BD44-3A4A92B25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18CAF5-9881-4D65-9351-8143435DD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B615A3-9771-4D90-94FF-C1515870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0A09E0-7394-4CC4-8CF8-7C127B58E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CE8ADB-B581-418E-8421-216ECED7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34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88DF7-5FC1-44B0-BB2E-4A959E830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E3CF4F-8F9B-440B-B98B-95B7D28C2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60A7A1-1306-4E9D-97CB-D0A63AF25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B061163-1C15-4277-8130-48CF818E9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4E2F96-F4E8-44A9-B94E-F19AE5AC7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F23922-FC14-4871-8041-F4BF9938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DCD11A1-1AFE-4C94-97E2-0EB7BDD8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DD44743-A0DF-4026-994D-3EDEBCE1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19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6EC9F-9FB7-47DD-A84B-4C7E2B68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D27FBCE-08EE-4E08-BB61-A303AB24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F0F911-7D4B-4F43-9F98-16D52315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281E33-84CF-4F03-A1A7-0FD83057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0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42042F5-B9DB-4292-82B6-1D8FBA52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E1F923-D496-4AF5-9611-8205B458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158F1-2D78-4C8D-8B40-AADED078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271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3E27C-B1E4-4854-8F99-548F3E95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17B8B2-80E7-4544-AACA-EFC65BF7F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E08B5C-786B-45A5-B552-F655EB42C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6DEBEA-F28F-4D6D-97DA-25DACA98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530422-1A1E-4E13-AD96-96D3E6DA2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7B98F7-F69E-4548-9B74-9E2A6AC2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81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255B1-DBC6-4F07-91E5-9C73C0727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EC7C525-4CEE-4942-8E39-D64940862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68D102-2DDD-4EFC-9E3B-10EEE2629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AF3223-C79E-4E54-982A-A21D91A03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E4511A-62D7-485F-B1E6-51A6B29D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885003-CFFE-4B6E-AB9D-C783396D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34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EE24A-B4FD-4929-91C8-ACC01403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82527D-106F-4DEE-BBF5-302DA867E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91C9EB-1621-41D4-B4E3-E0ABDE54F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817E45-F105-4FE8-832A-EB9192BB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A66492-DB2F-4C10-B478-34011277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071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4C3A702-E2D3-4935-8E36-599EA8553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BFE42C7-5D91-42B2-A208-15F49DA60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4FE404-53EE-41D0-B298-C278F94E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C1F332-9F2A-468B-B82D-A9051586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C19D47-D5B7-4E59-81EC-DC9819DB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51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97C4D-9960-44CF-9755-8146995D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818DE1-214C-47A3-B021-A7EFE6B24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1AE892-E6AF-4A7D-98A5-5236DE08C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2A62A-C633-4D17-BC76-72005F794D4E}" type="datetimeFigureOut">
              <a:rPr lang="ru-RU" smtClean="0"/>
              <a:t>13.08.2019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9FDAB7-2245-493A-ACC5-31BAEA63B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3E0C3D-888C-4DB2-9B6D-CF63D9643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2C3AA-0FAD-439C-91BC-5C7B65D24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96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D1D42-66DD-4454-B5DC-E175F8AFE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Лекция1. </a:t>
            </a:r>
            <a:r>
              <a:rPr lang="ru-RU" dirty="0">
                <a:solidFill>
                  <a:srgbClr val="34343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Введение в отладку и тестирования программ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1AD359-AF07-4600-834C-249723F999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Методы отладки и тестирования программных продуктов </a:t>
            </a:r>
          </a:p>
          <a:p>
            <a:r>
              <a:rPr lang="ru-RU" dirty="0"/>
              <a:t>Б1.В.17,  09.03.01, набор 2017г.</a:t>
            </a:r>
          </a:p>
          <a:p>
            <a:r>
              <a:rPr lang="ru-RU" dirty="0"/>
              <a:t>СКФ МТУСИ, каф. ИВТ, доцент Ткачук Е.О.</a:t>
            </a:r>
          </a:p>
          <a:p>
            <a:r>
              <a:rPr lang="ru-RU" dirty="0"/>
              <a:t>2019/2020г.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13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17643-A03D-43DF-8E41-A54BF4E6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Основные характеристики качества и надежности программного продукта 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3D18FA-B9C6-43ED-B557-45CC1255B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67" y="1320800"/>
            <a:ext cx="11954933" cy="5537199"/>
          </a:xfrm>
        </p:spPr>
        <p:txBody>
          <a:bodyPr>
            <a:norm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1 Качество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Качество (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quality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) программного средства — это совокупность его черт и характеристик, которые влияют на его способность удовлетворять заданные потребности пользователей.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2 Надежность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Надежность (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reliability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) программного средства — это его способность безотказно выполнять определенные функции при заданных условиях в течение заданного периода времени с достаточно большой вероятностью.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ГОСТ 27.002 – 89.  Надёжность — свойство объекта сохранять во времени в установленных пределах значения всех параметров, характеризующих способность выполнять требуемые функции в заданных условиях применения, технического обслуживания, хранения и транспортирования.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1641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C3EF3-A310-4AE8-A0DB-23F117D65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330066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Термины и определения</a:t>
            </a:r>
            <a:b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985D0E-F9C9-4F34-8085-89892D8B6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1066800"/>
            <a:ext cx="11870266" cy="5791199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Тестирование (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testing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программного обеспечения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- вид деятельности в процессе разработки, который связан с выполнением процедур, направленных на обнаружение (доказательство наличия) ошибок (несоответствий, неполноты, двусмысленностей и т.д.) в текущем определении разрабатываемой программной системы. </a:t>
            </a:r>
          </a:p>
          <a:p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Верификация (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verification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программного обеспечения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- достижение гарантии того, что 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верифицируемый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объект (требования или программный код) соответствует требованиям, реализован без непредусмотренных функций и удовлетворяет проектным спецификациям и стандартам. </a:t>
            </a:r>
          </a:p>
          <a:p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Испытание, валидация (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validation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- попытка найти ошибки, выполняя программу в заданной реальной среде. программной системы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- целью этого процесса является доказательство того, что в результате разработки системы мы достигли тех целей, которые планировали достичь благодаря ее использованию.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6609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FF09B1-CF76-411B-8485-AF48F7C5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Тестирование, верификация и валидация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007CA1-C977-4E9D-BA85-D056178D1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F1417A-8F59-4C32-B72F-7A9B8B0E45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38401" y="1825625"/>
            <a:ext cx="6485466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32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47ED777-6889-4340-9C23-240481890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706120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Доказательство (</a:t>
            </a:r>
            <a:r>
              <a:rPr lang="ru-RU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proof</a:t>
            </a:r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попытка найти ошибки в программе безотносительно к внешней для программы среде. Большинство методов доказательства предполагает формулировку утверждений о поведении программы и доказательство математических теорем о правильности программы.</a:t>
            </a:r>
          </a:p>
          <a:p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Аттестация (</a:t>
            </a:r>
            <a:r>
              <a:rPr lang="ru-RU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certification</a:t>
            </a: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- авторитетное подтверждение правильности программы. При тестировании с целью аттестации выполняется сравнение с некоторым заранее определенным стандартом.</a:t>
            </a:r>
          </a:p>
          <a:p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Отладка (</a:t>
            </a:r>
            <a:r>
              <a:rPr lang="ru-RU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debugging</a:t>
            </a:r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не является разновидностью тестирования. Отладка направлена на установление точной природы известной ошибки, а затем на исправление этой ошибки. Эти два вида деятельности связаны, т.к. результаты тестирования являются исходными данными для отладки.</a:t>
            </a:r>
            <a:endParaRPr lang="ru-RU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8172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47ED777-6889-4340-9C23-240481890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7061200"/>
          </a:xfrm>
        </p:spPr>
        <p:txBody>
          <a:bodyPr>
            <a:normAutofit/>
          </a:bodyPr>
          <a:lstStyle/>
          <a:p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модуля, или автономное тестирование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module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testing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unit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testing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- контроль отдельного программного модуля, обычно в изолированной среде (изолированно от всех остальных модулей).</a:t>
            </a:r>
            <a:endParaRPr lang="ru-RU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сопряжений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integration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testing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- контроль сопряжений между частями системы (модулями, компонентами, подсистемами).</a:t>
            </a:r>
            <a:endParaRPr lang="ru-RU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внешних функций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external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function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testing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- контроль внешнего поведения, определенного внешними спецификациями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792726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47ED777-6889-4340-9C23-240481890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7061200"/>
          </a:xfrm>
        </p:spPr>
        <p:txBody>
          <a:bodyPr>
            <a:normAutofit/>
          </a:bodyPr>
          <a:lstStyle/>
          <a:p>
            <a:pPr indent="450215" algn="just"/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Комплексное тестирование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system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testing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- контроль и/или испытание системы по отношению к исходным целям.</a:t>
            </a:r>
            <a:endParaRPr lang="ru-RU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Комплексное тестирование является процессом контроля, если оно выполняется в моделируемой среде, и процессом испытания, если выполняется в реальной среде.</a:t>
            </a:r>
            <a:endParaRPr lang="ru-RU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приемлемости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acceptance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testing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- проверка соответствия программы требованиям пользователя.</a:t>
            </a:r>
            <a:endParaRPr lang="ru-RU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настройки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installation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testing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- проверка соответствия каждого конкретного варианта установки системы с целью выявить любые ошибки, возникшие в процессе настройки системы.</a:t>
            </a:r>
            <a:endParaRPr lang="ru-RU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545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ACE0BD3-65E2-46C3-B6B4-C04FBD09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186267"/>
            <a:ext cx="11870266" cy="6536266"/>
          </a:xfrm>
        </p:spPr>
        <p:txBody>
          <a:bodyPr/>
          <a:lstStyle/>
          <a:p>
            <a:pPr algn="just"/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Стресс - тестирование </a:t>
            </a: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Stress</a:t>
            </a: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Testing</a:t>
            </a: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— один из видов тестирования программного обеспечения, которое оценивает надёжность и устойчивость системы в условиях превышения пределов нормального функционирования. </a:t>
            </a:r>
          </a:p>
          <a:p>
            <a:pPr algn="just"/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Стресс-тестирование особенно необходимо для «критически важного» ПО, однако также используется и для остального ПО.</a:t>
            </a:r>
          </a:p>
          <a:p>
            <a:pPr algn="just"/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Обычно стресс-тестирование лучше обнаруживает устойчивость, доступность и обработку исключений системой под большой нагрузкой, чем то, что считается корректным поведением в нормальных условиях.</a:t>
            </a:r>
            <a:endParaRPr lang="ru-RU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9567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A409E-396C-4DBB-AFA5-C90A3A2F2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Отладка программного средства. Основные понятия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DFCA5A-D09E-4166-843F-FBCD2D341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Отладка программного средства (ПС) — это деятельность, направленная на обнаружение и исправление ошибок в ПС с использованием процессов выполнения его программ. </a:t>
            </a:r>
          </a:p>
          <a:p>
            <a:pPr marL="0" indent="0">
              <a:buNone/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Отладку можно представить в виде многократного повторения трех процессов: </a:t>
            </a:r>
          </a:p>
          <a:p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тестирования, в результате которого может быть констатировано наличие в ПС ошибки, </a:t>
            </a:r>
          </a:p>
          <a:p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поиска места ошибки в программах и документации ПС</a:t>
            </a:r>
          </a:p>
          <a:p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редактирования программ и документации с целью устранения обнаруженной ошибки.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6088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57BC3-2AE6-4415-BCC8-CDFF8E311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 отладки включает: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3324E9-7933-4003-A7C3-BE9A0C2AA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действия, направленные на выявление ошибок (тестирование);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диагностику и локализацию ошибок (определение характера ошибок и их местонахождение);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внесение исправлений в программу с целью устранения ошибок.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440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A2911-F21B-408E-B37F-D8D9CB88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Подходы к проектированию тестов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E3140-2BCD-4994-8A82-1B2AD76EE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004946-F344-4BDE-B203-EF66B33055C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268" y="2421467"/>
            <a:ext cx="9313332" cy="35390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6625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0B07DD-4DFD-4E38-AE44-EEC67F9C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Оптимальная стратегия базируется на принципах: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3E1CF-78CF-4CCD-A2A8-9BF3F7660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на каждую используемую функцию или возможность - хотя бы один тест;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на каждую область и на каждую границу изменения какой-либо входной величины - хотя бы один тест;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на каждую особую (исключительную) ситуацию, указанную в спецификациях - хотя бы один тест.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6081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806EC2-3D4A-4DB7-9053-1EC96711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Два основных вида отладки автономная и комплексная отладку ПС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3842BD-94DA-4C6A-B8F1-3124E4C71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913842"/>
          </a:xfrm>
        </p:spPr>
        <p:txBody>
          <a:bodyPr>
            <a:normAutofit/>
          </a:bodyPr>
          <a:lstStyle/>
          <a:p>
            <a:pPr indent="450215" algn="just">
              <a:spcAft>
                <a:spcPts val="1500"/>
              </a:spcAft>
            </a:pPr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Автономная отладка ПС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означает последовательное раздельное тестирование различных частей программ, входящих в ПС, с поиском и исправлением в них фиксируемых при тестировании ошибок. Она фактически включает отладку каждого программного модуля и отладку сопряжения модулей.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Комплексная отладка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означает тестирование ПС в целом с поиском и исправлением фиксируемых при тестировании ошибок во всех документах (включая тексты программ ПС), относящихся к ПС в целом. К таким документам относятся определение требований к ПС, спецификация качества ПС, функциональная спецификация ПС, описание архитектуры ПС и тексты программ ПС.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0447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FB0D61-6FCB-4F24-BBEC-792FB35AD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Принципы отладки программного продукта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8E41BE-7BAD-4576-8EEA-09290FE48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4732"/>
            <a:ext cx="11973464" cy="5443267"/>
          </a:xfrm>
        </p:spPr>
        <p:txBody>
          <a:bodyPr>
            <a:normAutofit/>
          </a:bodyPr>
          <a:lstStyle/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 1. Считайте тестирование ключевой задачей разработки ПП, поручайте его самым квалифицированным и одаренным программистам; нежелательно тестировать свою собственную программу.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 2. Хорош тот тест, для которого высока вероятность обнаружить ошибку, а не тот, который демонстрирует правильную работу программы.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 3. Готовьте тесты, как для правильных, так и для неправильных данных.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969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B1247-6867-4805-BB25-BA28B52D1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766B9F-4434-4C64-8B64-FF4FF11D9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1990717" cy="5032375"/>
          </a:xfrm>
        </p:spPr>
        <p:txBody>
          <a:bodyPr>
            <a:normAutofit lnSpcReduction="10000"/>
          </a:bodyPr>
          <a:lstStyle/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 4. Документируйте пропуск тестов через компьютер; детально изучайте результаты каждого теста; избегайте тестов, пропуск которых нельзя повторить.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 5. Каждый модуль подключайте к программе только один раз; никогда не изменяйте программу, чтобы облегчить ее тестирование.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 6. Пропускайте заново все тесты, связанные с проверкой работы какой-либо программы ПС или ее взаимодействия с другими программами, если в нее были внесены изменения (например, в результате устранения ошибки).</a:t>
            </a:r>
            <a:endParaRPr lang="ru-RU" sz="32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5305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1AE10-41C6-4D38-A981-87071C40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Эмпирические правила проведения отладки и тес­тирования программ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658CB3-BE4A-49AA-B520-E547F62FB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 Процесс тестирования более эффективен, если проводится не автором программы. </a:t>
            </a:r>
          </a:p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 Необходимой частью тестового набора данных должно быть описание предполагаемых значений результатов тестовых прогонов. </a:t>
            </a:r>
          </a:p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 Необходимо изучить результаты каждого теста. Из практики следует, что значительная часть обнаруженных ошибок могла быть выявлена в результате первых тестовых прогонов, но они были пропущены вследствие недостаточно тщательного анализа их результатов.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7066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168ED-428E-42B6-ABB1-9DD43877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230648-6872-4AFD-B17B-D3035D48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4. Тесты для неправильных и непредусмотренных входных данных должны разрабатываться также тщательно, как для правильных и предусмотренных. </a:t>
            </a:r>
          </a:p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5. Необходимо проверять не только, делает ли программа то, для чего она предназначена, но и не делает ли она того, чего не должна делать. </a:t>
            </a:r>
          </a:p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6. Следует тщательнее проверять те участки программ, где обнаруживается больше ошибок. Утверждается, что вероятность наличия необнаруженных ошибок в какой-либо части программы пропорциональна числу ошибок, уже обнаруженных в этой части.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4480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2686D-E8F8-4B10-8617-1BFC94171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Автономная отладка программного средства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18623-1BAF-4E03-A6C0-2BD168996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автономной отладке ПС каждый модуль на самом деле тестируется в некотором программном окружении, кроме случая, когда отлаживаемая программа состоит только из одного модуля.</a:t>
            </a:r>
          </a:p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 процессе автономной отладки ПС производится наращивание тестируемой программы отлаженными модулями: при переходе к отладке следующего модуля в его программное окружение добавляется последний отлаженный модуль.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8141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E4C89-D08B-4D1F-A5CF-14F74D5E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Восходящее 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CF89BF-6F56-4808-9D85-8A37A50CB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0770" y="1466492"/>
            <a:ext cx="12312770" cy="5796950"/>
          </a:xfrm>
        </p:spPr>
        <p:txBody>
          <a:bodyPr>
            <a:normAutofit fontScale="92500"/>
          </a:bodyPr>
          <a:lstStyle/>
          <a:p>
            <a:pPr indent="0" algn="just">
              <a:spcAft>
                <a:spcPts val="150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 достоинствам восходящего тестирования относятся: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простота подготовки тестов;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возможность полной реализации плана тестирования модуля.</a:t>
            </a: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Недостатками восходящего тестирования являются следующие его особенности: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тестовые данные готовятся, как правило, не в той форме, которая рассчитана на пользователя (кроме случая, когда отлаживается последний, головной, модуль отлаживаемой программы);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большой объем отладочного программирования (при отладке одного модуля приходится составлять много ведущих отладочных модулей, формирующих подходящее состояние информационной среды для разных тестов);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1500"/>
              </a:spcAft>
            </a:pP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2554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6A026-4D20-4927-A7CB-A6FD18D5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Нисходящее 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060FF6-04DC-4232-8991-3B1ABCFF9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2204"/>
            <a:ext cx="11353800" cy="5615795"/>
          </a:xfrm>
        </p:spPr>
        <p:txBody>
          <a:bodyPr>
            <a:normAutofit fontScale="92500"/>
          </a:bodyPr>
          <a:lstStyle/>
          <a:p>
            <a:pPr indent="0" algn="just">
              <a:spcAft>
                <a:spcPts val="150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 достоинствам нисходящего тестирования относятся следующие его особенности: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 algn="just">
              <a:spcAft>
                <a:spcPts val="150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большинство тестов готовится в форме, рассчитанной на пользователя;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 algn="just">
              <a:spcAft>
                <a:spcPts val="150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во многих случаях относительно небольшой объем отладочного программирования (имитаторы модулей, как правило, весьма просты и каждый пригоден для большого числа, нередко - для всех, тестов);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 algn="just">
              <a:spcAft>
                <a:spcPts val="150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отпадает необходимость тестирования сопряжения модулей.</a:t>
            </a:r>
          </a:p>
          <a:p>
            <a:pPr indent="0" algn="just">
              <a:spcAft>
                <a:spcPts val="150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Недостатком нисходящего тестирования является то, что тестовое состояние информационной среды перед обращением к отлаживаемому модулю готовится косвенно, оно является результатом применения уже отлаженных модулей к тестовым данным или данным, выдаваемым имитаторами.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5552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6BE64A-3A62-4F5A-8FB7-0B90C4AD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365125"/>
            <a:ext cx="10974238" cy="1325563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Автономное тестирование модуля - четыре последовательно выполняемых шага.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C10D2D-84FD-44EB-A933-6251106F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70" y="1690688"/>
            <a:ext cx="12071230" cy="5167311"/>
          </a:xfrm>
        </p:spPr>
        <p:txBody>
          <a:bodyPr>
            <a:normAutofit fontScale="85000" lnSpcReduction="10000"/>
          </a:bodyPr>
          <a:lstStyle/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 На основании спецификации отлаживаемого модуля подготовьте тесты для каждой возможности и каждой ситуации, для каждой границы областей допустимых значений всех входных данных, для каждой области изменения данных, для каждой области недопустимых значений всех входных данных и каждого недопустимого условия.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 Проверьте текст модуля, чтобы убедиться, что каждое направление любого разветвления будет пройдено хотя бы на одном тесте. Добавьте недостающие тесты.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 Проверьте текст модуля, чтобы убедиться, что для каждого цикла существуют тесты, обеспечивающие, по крайней мере, три следующие ситуации: тело цикла не выполняется ни разу, тело цикла выполняется один раз и тело цикла выполняется максимальное число раз. Добавьте недостающие тесты.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4. Проверьте текст модуля, чтобы убедиться, что существуют тесты, проверяющие чувствительность к отдельным особым значениям входных данных. Добавьте недостающие тесты.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4080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8C8AB-6E37-4376-A9E1-4CA1CBDE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Комплексная отладка программного средства.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65FAFC-EB89-4E30-9CA9-4C82D8C02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045" y="1825624"/>
            <a:ext cx="11915955" cy="5032375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комплексной отладке тестируется ПС в целом, причем тесты готовятся по каждому из документов ПС. Тестирование этих документов производится, как правило, в порядке, обратном их разработке. </a:t>
            </a:r>
          </a:p>
          <a:p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при комплексной отладке представляет собой применение ПС к конкретным данным, которые могут возникнуть у пользователя (в частности, все тесты готовятся в форме, рассчитанной на пользователя), но, возможно, в моделируемой (а не в реальной) среде.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66497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46A01-77CF-498F-8506-938867E6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архитектуры ПП.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ED83C7-7A52-46BC-86B6-131D0DFBC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11216"/>
            <a:ext cx="12042475" cy="5546784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Целью тестирования является поиск несоответствия между описанием архитектуры и совокупностью программ ПП.</a:t>
            </a:r>
          </a:p>
          <a:p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 моменту начала тестирования архитектуры ПП должна быть уже закончена автономная отладка каждой подсистемы. </a:t>
            </a:r>
          </a:p>
          <a:p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Ошибки реализации архитектуры могут быть связаны, прежде всего, с взаимодействием этих подсистем, в частности, с реализацией архитектурных функций (если они есть).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118883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EF7C4-6DE7-461E-8DE3-031B0D968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внешних функций.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0E9AA0-F2BC-4ADE-9D19-1D5D11B2F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81" y="1825625"/>
            <a:ext cx="11164019" cy="4885726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Целью тестирования является поиск расхождений между функциональной спецификацией и совокупностью программ ПП. </a:t>
            </a:r>
          </a:p>
          <a:p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Несмотря на то, что все эти программы автономно уже отлажены, указанные расхождения могут быть, например, из-за несоответствия внутренних спецификаций программ и их модулей (на основании которых производилось автономное тестирование) функциональной спецификации ПП. 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89340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CB067-8E30-4C5E-872F-B646151F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качества ПП.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370C47-A778-4A33-A0EC-B3005FCC6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Целью тестирования является поиск нарушений требований качества, сформулированных в спецификации качества ПП. </a:t>
            </a:r>
          </a:p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Это наиболее трудный и наименее изученный вид тестирования. Далеко не каждый примитив качества ПП может быть испытан тестированием. </a:t>
            </a:r>
          </a:p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Завершенность ПП проверяется уже при тестировании внешних функций. </a:t>
            </a:r>
          </a:p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 данном этапе тестирование этого примитива качества может быть продолжено, если требуется получить какую-либо вероятностную оценку степени надежности ПП.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508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5CB464-98E8-46AF-8887-CB9DFE2A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документации по применению ПП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69203F-F876-414B-B4A4-D2FE736E5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81" y="1825624"/>
            <a:ext cx="12002219" cy="5032375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Целью тестирования является поиск несогласованности документации по применению и совокупностью программ ПП, а также выявление неудобств, возникающих при применении ПП.</a:t>
            </a:r>
          </a:p>
          <a:p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Этот этап непосредственно предшествует подключению пользователя к завершению разработки ПП (тестированию определения требований к ПП и аттестации ПП), поэтому разработчикам важно, сначала самим воспользоваться ПП так, как это будет делать пользователь. </a:t>
            </a:r>
          </a:p>
          <a:p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Все тесты на этом этапе готовятся на основании только документации по применению ПП.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421187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37B8D-4701-4C58-BD67-158FCDE85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определения требований к ПП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88A15E-6A08-4E21-B5F7-0F6156834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1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Целью тестирования является выяснение, в какой мере ПП не соответствует предъявленному определению требований к нему.</a:t>
            </a:r>
          </a:p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Особенность этого вида тестирования заключается в том, что его осуществляет организация-покупатель или организация-пользователь ПП как один из путей преодоления барьера между разработчиком и пользователем. </a:t>
            </a:r>
          </a:p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Обычно это тестирование производится с помощью контрольных (типовых) задач, для которых известен результат решения. </a:t>
            </a:r>
          </a:p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 тех случаях, когда разрабатываемое ПП должно прийти на смену другой версии ПП, которая решает хотя бы часть задач разрабатываемого ПП, тестирование производится путем решения общих задач с помощью, как старого, так и нового ПП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188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0DB44E-F013-4FA9-A31E-CA4924D3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Испытание программных продуктов.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FED4FF-B456-41D6-A65E-DC6309BC3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9676"/>
            <a:ext cx="12192000" cy="5788324"/>
          </a:xfrm>
        </p:spPr>
        <p:txBody>
          <a:bodyPr>
            <a:normAutofit/>
          </a:bodyPr>
          <a:lstStyle/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Под испытанием программной продукции следует понимать экспериментальное определение количественных и/или качественных характеристик свойств продукции при ее функционировании в реальной среде и/или моделировании среды функционирования.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Целью испытания является экспериментальное определение фактических характеристик свойств испытываемого программного изделия (ПИ). Эти характеристики могут быть как количественными, так и качественными. Важно, чтобы на их основе можно было сделать вывод о пригодности ПИ к использованию по своему назначению. Если вывод отрицательный, то образец ПИ возвращается на доработку.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939700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A9544-C6C6-4846-BA79-D39C7DD8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Основными видами испытания программных продуктов (ПП) являются: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94844B-C2A9-4708-8F72-22E410ED9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предварительные;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приемочные;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эксплуатационные испытания, включая опытную эксплуатацию.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зависимости от места проведения различают стендовые и полигонные испытания.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4243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FB83C-AE5E-4246-A727-4717F9C1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686F7F-4F98-43E7-9058-646167D74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057" y="1825624"/>
            <a:ext cx="11008743" cy="5032375"/>
          </a:xfrm>
        </p:spPr>
        <p:txBody>
          <a:bodyPr>
            <a:normAutofit/>
          </a:bodyPr>
          <a:lstStyle/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Испытательным полигоном называют место, предназначенное для испытаний в условиях, близких к условиям эксплуатации, и обеспеченное необходимыми средствами испытания.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Полигонным испытаниям подвергают системы, работающие в реальном масштабе времени. В полигонных условиях обычно сочетают натурные испытания с использованием реальных объектов автоматизируемых систем и моделирование некоторых объектов и процессов их функционирования.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4255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70AF9-99EA-4C6E-B9FB-08071F6A8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Технологическая схема испытания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88C6C7-BA97-4946-9ADC-4A0BEBA06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034" y="1414732"/>
            <a:ext cx="11984966" cy="5443267"/>
          </a:xfrm>
        </p:spPr>
        <p:txBody>
          <a:bodyPr>
            <a:normAutofit/>
          </a:bodyPr>
          <a:lstStyle/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знание назначения, испытываемого ПП, условий его функционирования и требований к нему со стороны пользователей;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автоматизацию наиболее трудоемких процессов и, прежде всего, моделирование среды функционирования, включая искажающие воздействия;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ясное представление цели и последовательности испытания;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целенаправленность и не избыточность испытания, исключающая или минимизирующая повторение однородных процедур при одних и тех же условиях функционирования испытываемого ПП;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1895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50E0B-BFB5-4DF9-A580-060CC8BF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AAAD1C-041D-4629-AA34-86D2C2DE6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систематический контроль, регулярное ведение протокола и журнала испытания;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последовательное определение и выполнение плана испытания;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сопоставление имеющихся ресурсов с предполагаемым объемом испытания;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возможность обеспечения объективной количественной оценки полноты и достоверности результатов испытания на всех этапах.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78951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D50D69-733C-474D-8887-2EFD5F78C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подготовку испытаний ПП входят следующие мероприятия: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19504B-D5CB-4733-9531-CA62E9BB9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составление и согласование плана-графика проведения испытания;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разработка, комплектование, испытание и паспортизация программно-технических средств, используемых при испытаниях;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анализ пригодности испытательных средств, используемых во время предварительных испытаний, для проведения приемочных испытаний;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анализ пригодности накопленных данных о качестве ПП для использования при окончательном определении значений показателей качества испытываемого ПП;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6908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B034A-754A-4486-937D-1AE71D35D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253878-05CC-449E-A780-134C6A520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проверка и согласование с представителем заказчика конструкторской документации на ПП, предъявляемой при испытаниях;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разработка, согласование и утверждение программ и методик испытаний;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аттестация специалистов на допуск к проведению испытаний;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приемка испытываемого опытного образца ПП на носителе данных и документации;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проведение мероприятий, направленных на обеспечение достоверности испытаний.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5804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70AEC0-C362-43E5-95AE-15E3927F7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Пять этапов испытания: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4B2E24-9894-4648-A01C-7D05BBC00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 Обследование проектируемого ПП, анализ проектной документации.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 Определение наиболее важных подсистем и функций проектируемого ПП, подлежащих испытанию.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 Анализ показателей качества ПП и методов определения их значений. Разработка программ и методик испытания.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4. Разработка (освоение) испытательных программно-техничес­ких средств, библиотек тестов и баз данных (если они требуются).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5. Непосредственное проведение испытаний, анализ результатов, принятие решения.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94887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1FE12-A30A-4DF6-8F45-CAB58FAEC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Методика решения задачи планирования испытания включает в себя следующие этапы: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B4920C-1319-47FF-BFBE-0230AAD0C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algn="just">
              <a:spcAft>
                <a:spcPts val="1500"/>
              </a:spcAft>
              <a:buNone/>
            </a:pPr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нахождение всех путей реализации;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 algn="just">
              <a:spcAft>
                <a:spcPts val="1500"/>
              </a:spcAft>
              <a:buNone/>
            </a:pPr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выделение минимального подмножества путей, обеспечивающих проверку всех участков программы;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 algn="just">
              <a:spcAft>
                <a:spcPts val="1500"/>
              </a:spcAft>
              <a:buNone/>
            </a:pPr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разработка тестов для проверки выделенных путей.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6946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2FE46-5528-46BB-8952-B6BC3313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Критерий интенсивности обнаружения ошибок.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97C4D1-659F-42F3-98C4-FD26E5BD4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Если считать, что во время одного эксперимента обнаруживаются не более одной ошибки и каждая ошибка до начала следующего эксперимента устраняется, то можно предположить, что при благоприятном ходе отладки и испытания значение критерия интенсивности обнаружения ошибок N можно вычислить по формуле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 = 1 - n/К,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dirty="0"/>
              <a:t>где n -	количество обнаруженных и устраненных ошибок;</a:t>
            </a:r>
          </a:p>
          <a:p>
            <a:r>
              <a:rPr lang="ru-RU" dirty="0"/>
              <a:t>К -	количество экспериментов.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5754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0A0BA-89CF-4FB5-A9EB-54F1F4321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Критерий заданного значения средней наработки на отказ (критерий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Дж.Д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 Муса).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8AAA1-6C00-4516-9145-3F294258A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Если в ходе испытания обнаруженные ошибки устраняются, то текущее значение средней наработки на отказ будет увеличиваться.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качестве критерия завершенности испытания можно принять достижение требуемого (заданного) значения средней наработки на отказ Т</a:t>
            </a:r>
            <a:r>
              <a:rPr lang="ru-RU" sz="3200" baseline="-250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ru-RU" sz="32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39110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DB930-690D-43D4-B91D-7BAE1671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планировании отладки и испытания программного обеспечения следует учитывать влияние следующих факторов: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ADA831-9085-4F04-8EF8-72B075A87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скорость выявления дефектов;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скорость устранения дефектов;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удовлетворенность машинным временем.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15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Первый фактор зависит от укомплектованности и квалификации испытателей, второй - от укомплектованности и квалификации группы программистов отладчиков, третий - от технической оснащенности разрабатывающей (испытывающей) организации.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73143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2185</Words>
  <Application>Microsoft Office PowerPoint</Application>
  <PresentationFormat>Широкоэкранный</PresentationFormat>
  <Paragraphs>160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Times New Roman</vt:lpstr>
      <vt:lpstr>Verdana</vt:lpstr>
      <vt:lpstr>Тема Office</vt:lpstr>
      <vt:lpstr>Лекция1. Введение в отладку и тестирования программ</vt:lpstr>
      <vt:lpstr>Основные характеристики качества и надежности программного продукта  </vt:lpstr>
      <vt:lpstr>Термины и определения </vt:lpstr>
      <vt:lpstr>Тестирование, верификация и валидация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Отладка программного средства. Основные понятия</vt:lpstr>
      <vt:lpstr>Процесс отладки включает: </vt:lpstr>
      <vt:lpstr>Подходы к проектированию тестов</vt:lpstr>
      <vt:lpstr>Оптимальная стратегия базируется на принципах:</vt:lpstr>
      <vt:lpstr>Два основных вида отладки автономная и комплексная отладку ПС</vt:lpstr>
      <vt:lpstr>Принципы отладки программного продукта </vt:lpstr>
      <vt:lpstr>Презентация PowerPoint</vt:lpstr>
      <vt:lpstr>Эмпирические правила проведения отладки и тес­тирования программ</vt:lpstr>
      <vt:lpstr>Презентация PowerPoint</vt:lpstr>
      <vt:lpstr>Автономная отладка программного средства </vt:lpstr>
      <vt:lpstr>Восходящее тестирование</vt:lpstr>
      <vt:lpstr>Нисходящее тестирование</vt:lpstr>
      <vt:lpstr>Автономное тестирование модуля - четыре последовательно выполняемых шага.</vt:lpstr>
      <vt:lpstr>Комплексная отладка программного средства. </vt:lpstr>
      <vt:lpstr>Тестирование архитектуры ПП. </vt:lpstr>
      <vt:lpstr>Тестирование внешних функций. </vt:lpstr>
      <vt:lpstr>Тестирование качества ПП. </vt:lpstr>
      <vt:lpstr>Тестирование документации по применению ПП</vt:lpstr>
      <vt:lpstr>Тестирование определения требований к ПП</vt:lpstr>
      <vt:lpstr>Испытание программных продуктов.  </vt:lpstr>
      <vt:lpstr>Основными видами испытания программных продуктов (ПП) являются: </vt:lpstr>
      <vt:lpstr>Презентация PowerPoint</vt:lpstr>
      <vt:lpstr>Технологическая схема испытания </vt:lpstr>
      <vt:lpstr>Презентация PowerPoint</vt:lpstr>
      <vt:lpstr>В подготовку испытаний ПП входят следующие мероприятия:</vt:lpstr>
      <vt:lpstr>Презентация PowerPoint</vt:lpstr>
      <vt:lpstr>Пять этапов испытания: </vt:lpstr>
      <vt:lpstr>Методика решения задачи планирования испытания включает в себя следующие этапы:</vt:lpstr>
      <vt:lpstr>Критерий интенсивности обнаружения ошибок. </vt:lpstr>
      <vt:lpstr>Критерий заданного значения средней наработки на отказ (критерий Дж.Д. Муса). </vt:lpstr>
      <vt:lpstr>При планировании отладки и испытания программного обеспечения следует учитывать влияние следующих факторов: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Лекция1. Введение в отладку и тестирования программ</dc:title>
  <dc:creator>Евгений Ткачук</dc:creator>
  <cp:lastModifiedBy>Евгений Ткачук</cp:lastModifiedBy>
  <cp:revision>11</cp:revision>
  <dcterms:created xsi:type="dcterms:W3CDTF">2019-08-13T08:44:05Z</dcterms:created>
  <dcterms:modified xsi:type="dcterms:W3CDTF">2019-08-13T19:19:58Z</dcterms:modified>
</cp:coreProperties>
</file>
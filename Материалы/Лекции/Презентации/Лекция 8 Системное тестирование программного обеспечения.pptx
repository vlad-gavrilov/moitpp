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7" r:id="rId6"/>
    <p:sldId id="278" r:id="rId7"/>
    <p:sldId id="279" r:id="rId8"/>
    <p:sldId id="280" r:id="rId9"/>
    <p:sldId id="281" r:id="rId10"/>
    <p:sldId id="285" r:id="rId11"/>
    <p:sldId id="286" r:id="rId12"/>
    <p:sldId id="287" r:id="rId13"/>
    <p:sldId id="288" r:id="rId14"/>
    <p:sldId id="261" r:id="rId15"/>
    <p:sldId id="262" r:id="rId16"/>
    <p:sldId id="289" r:id="rId17"/>
    <p:sldId id="290" r:id="rId18"/>
    <p:sldId id="291" r:id="rId19"/>
    <p:sldId id="292" r:id="rId20"/>
    <p:sldId id="293" r:id="rId21"/>
    <p:sldId id="294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F9580-42EB-48AC-810B-BB0E7F2D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E8292E-6725-4EBA-AF64-0242450F3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A5D51C-1AE2-41A1-A243-A88A3F18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A500DA-FFB6-4F18-B2B6-B5259CED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1ADE00-A412-4690-AB4D-5BA86C65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0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7AFB2-5487-43BD-A645-C4A3E33B7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96A168-825C-4326-A59F-C3BB7887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93C725-B896-48F2-ADDE-D37B1A50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AC956-C61E-4D74-AAAE-3297BC39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F7295A-E096-48F5-ACE3-9E151134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8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B02D1-10E1-473A-8134-134AD3AA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E004C6-1147-4469-A70E-D8E150A3F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BF3FB5-2E7D-4603-820F-B85A6647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E9286F-A86D-4991-8995-00B81E7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5A1E1C-85B8-4977-9507-D3C08713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66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34FE5-5BD8-43AA-91BC-2D147142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0B1232-01C2-4007-A922-E184E0B77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1081E9-62C3-4FAD-9C53-26802FA3D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7B8451-3D16-4C30-A2E6-3FA46A78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B6A1F6-D99A-49EB-8A2D-566F766C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4F96EA-37A5-4595-91BC-5E17DEA0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89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2972D-3909-4348-8D3E-FB0B9C48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2F1E4-21B0-4F61-9AFC-1EF4F7355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EFD26D-70FD-453E-A183-F97316B1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F60524-08FD-4F48-B481-D6C99A1A8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A8C5EC-3CA1-49B0-97D2-402967F34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4BD85B-1719-4E6F-9257-854B45D4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41837F-12FB-4E67-935B-C8BE0B3A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B0F62C-8BB2-459C-9B31-87EAAC6D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55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5281C-70FB-4D37-BCB6-FFFFF208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0B246F-1ED8-4FA0-960B-0CBD67BF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5F674F-EDC4-498F-B8F9-8DBBB9A7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6973A7-DA5C-4FF8-80B2-B76580BC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16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A5361D-F9C0-4A4B-94C5-36D3C594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271546-2724-47C4-9DBB-C1EC3454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04A4A9-C09F-4A05-8121-46D919C1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47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63F6E-0050-42E8-A4DC-A5C05B4E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07F604-2E61-4106-8A08-9CF362EDF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603790-11D4-4A58-92FB-E58F04DE4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0B2516-2379-4206-A700-3E2C62F2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FCCECC-4067-4DF3-8362-A7848314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C0ACDA-122C-47C2-A550-2554ECA8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31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81A8F-5421-4CF5-9353-AE0E071C0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8CF67F5-9A8B-46B3-9C57-7B0630670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160048-8570-4BC9-AD31-FE0F54260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C636A0-F77B-462D-836A-DE63125E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EA56B6-E062-437F-A6EF-910DED94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28C62A-C851-43B2-BB27-EF26B0CC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26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577A5-AB23-469C-9601-9E46E076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2F9A3F-B16C-4790-AF7F-204D4A176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B530A9-1D7E-461B-B792-697E0C31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210732-5E6F-40CE-9BAF-750B81CD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40B9CB-1BC6-4831-A2B9-65DF8710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94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BCB3DD1-B640-4F42-8618-52DC401E0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D65716-E894-40E3-A7A6-48B7AA74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D1B5BE-4A56-48E5-B5DD-F8F4A508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142BC-0189-40CA-8E9E-51AC0DFB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C32AEA-D104-4738-8026-3CF7CE3F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76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4A46D-0D20-4678-81AC-04EC7360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AA3114-F7E3-425F-A0BA-D191E63F2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81F7B-6C4A-4289-A00A-38C8374ED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D8831-BA5A-4BEB-8C70-04E60106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EEA7DA-BF0A-4142-BAC7-C32D4D74C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61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D1D42-66DD-4454-B5DC-E175F8AFE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366" y="1122363"/>
            <a:ext cx="9960634" cy="2387600"/>
          </a:xfrm>
        </p:spPr>
        <p:txBody>
          <a:bodyPr>
            <a:normAutofit/>
          </a:bodyPr>
          <a:lstStyle/>
          <a:p>
            <a:r>
              <a:rPr lang="ru-RU" dirty="0"/>
              <a:t>Лекция 8 </a:t>
            </a:r>
            <a:r>
              <a:rPr lang="ru-RU" dirty="0">
                <a:solidFill>
                  <a:srgbClr val="343434"/>
                </a:solidFill>
                <a:latin typeface="Arial" panose="020B0604020202020204" pitchFamily="34" charset="0"/>
              </a:rPr>
              <a:t>Системное т</a:t>
            </a:r>
            <a:r>
              <a:rPr lang="ru-RU" dirty="0">
                <a:solidFill>
                  <a:srgbClr val="34343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естирование программы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1AD359-AF07-4600-834C-249723F999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Методы отладки и тестирования программных продуктов </a:t>
            </a:r>
          </a:p>
          <a:p>
            <a:r>
              <a:rPr lang="ru-RU" dirty="0"/>
              <a:t>Б1.В.17,  09.03.01, набор 2017г.</a:t>
            </a:r>
          </a:p>
          <a:p>
            <a:r>
              <a:rPr lang="ru-RU" dirty="0"/>
              <a:t>СКФ МТУСИ, каф. ИВТ, доцент Ткачук Е.О.</a:t>
            </a:r>
          </a:p>
          <a:p>
            <a:r>
              <a:rPr lang="ru-RU" dirty="0"/>
              <a:t>2019/2020г.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13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000C0-0CA4-40AB-A828-449172CA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Виды системного тестирования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D7554E-8371-4975-AF0D-F2AB11C38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функциональное тестирование;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производительности;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нагрузочное или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стрессовое тестирование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конфигурации;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безопасности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надежности и восстановления после сбоев;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удобства использования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8313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CF771-C7D1-4C7B-9074-FF1396F0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Функциональное тестирование</a:t>
            </a:r>
            <a:r>
              <a:rPr lang="ru-RU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5DC0F-D000-4F14-A97C-5913A845D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23" y="1825625"/>
            <a:ext cx="11852694" cy="4885726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все функциональные требования должны быть протестированы;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все классы допустимых входных данных должны корректно обрабатываться системой;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все классы недопустимых входных данных должны быть отброшены системой, при этом не должна нарушаться стабильность ее работы;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тестовых примерах должны генерироваться все возможные классы выходных данных системы;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во время тестирования система должна побывать во всех своих внутренних состояниях, пройдя при этом по всем возможным переходам между состояниями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803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60738-973D-4984-B282-050A3B29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производительности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5787E5-ED02-41EA-8D83-6C45076F4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58792" y="1397480"/>
            <a:ext cx="12450792" cy="5460520"/>
          </a:xfrm>
        </p:spPr>
        <p:txBody>
          <a:bodyPr>
            <a:norm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производительности выполняется при различных уровнях нагрузки на систему, на различных конфигурациях оборудования. 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Выделяют три основных фактора, влияющие на производительность системы: 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количество поддерживаемых системой потоков (например, пользовательских сессий), 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количество свободных системных ресурсов, 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количество свободных аппаратных ресурсов.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производительности позволяет выявлять узкие места в системе, которые проявляются в условиях повышенной нагрузки или нехватки системных ресурсов.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797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9720" y="214290"/>
            <a:ext cx="8543956" cy="1928826"/>
          </a:xfrm>
        </p:spPr>
        <p:txBody>
          <a:bodyPr>
            <a:normAutofit/>
          </a:bodyPr>
          <a:lstStyle/>
          <a:p>
            <a:r>
              <a:rPr lang="ru-RU" dirty="0"/>
              <a:t>Нагрузочное тестирование  или (тестирование производительности)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38348" y="2143116"/>
            <a:ext cx="785818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это </a:t>
            </a:r>
            <a:r>
              <a:rPr lang="ru-RU" sz="2400" b="1" dirty="0"/>
              <a:t>автоматизированное тестирование</a:t>
            </a:r>
            <a:r>
              <a:rPr lang="ru-RU" sz="2400" dirty="0"/>
              <a:t>, имитирующее работу определенного количества бизнес пользователей на каком либо общем (разделяемом ими) ресурсе</a:t>
            </a:r>
          </a:p>
          <a:p>
            <a:r>
              <a:rPr lang="ru-RU" sz="2400" dirty="0"/>
              <a:t>Особенности: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связано с исследовательской и аналитической работой;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требует серьезных навыков программирования, а также знания сетевых протоколов и различных серверов приложений и баз данных;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существуют разные виды нагрузочного тестирования, ставящие перед собой разные цели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58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Терминология в нагрузочном тестировании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166910" y="1428737"/>
            <a:ext cx="65722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Моделирование нагрузки происходит с помощью специальных продуктов и техник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95472" y="2285993"/>
            <a:ext cx="828677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b="1" dirty="0"/>
              <a:t>Виртуальный пользователь</a:t>
            </a:r>
            <a:r>
              <a:rPr lang="ru-RU" sz="2800" dirty="0"/>
              <a:t> (</a:t>
            </a:r>
            <a:r>
              <a:rPr lang="ru-RU" sz="2800" b="1" dirty="0" err="1"/>
              <a:t>Virtual</a:t>
            </a:r>
            <a:r>
              <a:rPr lang="ru-RU" sz="2800" b="1" dirty="0"/>
              <a:t> </a:t>
            </a:r>
            <a:r>
              <a:rPr lang="ru-RU" sz="2800" b="1" dirty="0" err="1"/>
              <a:t>User</a:t>
            </a:r>
            <a:r>
              <a:rPr lang="ru-RU" sz="2800" dirty="0"/>
              <a:t>) - программный процесс, циклически выполняющий моделируемые операции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/>
              <a:t>Итерация</a:t>
            </a:r>
            <a:r>
              <a:rPr lang="ru-RU" sz="2800" dirty="0"/>
              <a:t> (</a:t>
            </a:r>
            <a:r>
              <a:rPr lang="ru-RU" sz="2800" b="1" dirty="0" err="1"/>
              <a:t>Iteration</a:t>
            </a:r>
            <a:r>
              <a:rPr lang="ru-RU" sz="2800" dirty="0"/>
              <a:t>) – это один повтор выполняемой в цикле операции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/>
              <a:t>Интенсивность выполнения операции</a:t>
            </a:r>
            <a:r>
              <a:rPr lang="ru-RU" sz="2800" dirty="0"/>
              <a:t> (</a:t>
            </a:r>
            <a:r>
              <a:rPr lang="ru-RU" sz="2800" b="1" dirty="0" err="1"/>
              <a:t>Operation</a:t>
            </a:r>
            <a:r>
              <a:rPr lang="ru-RU" sz="2800" b="1" dirty="0"/>
              <a:t> </a:t>
            </a:r>
            <a:r>
              <a:rPr lang="ru-RU" sz="2800" b="1" dirty="0" err="1"/>
              <a:t>Intensity</a:t>
            </a:r>
            <a:r>
              <a:rPr lang="ru-RU" sz="2800" dirty="0"/>
              <a:t>) - частота выполнения операции в единицу времени, в тестовом </a:t>
            </a:r>
            <a:r>
              <a:rPr lang="ru-RU" sz="2800" dirty="0" err="1"/>
              <a:t>скрипте</a:t>
            </a:r>
            <a:r>
              <a:rPr lang="ru-RU" sz="2800" dirty="0"/>
              <a:t> задается интервалом времени между итерациями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58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Терминология в нагрузочном тестировании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52596" y="1500174"/>
            <a:ext cx="82867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ru-RU" sz="2800" b="1" dirty="0"/>
              <a:t>Нагрузка (</a:t>
            </a:r>
            <a:r>
              <a:rPr lang="ru-RU" sz="2800" b="1" dirty="0" err="1"/>
              <a:t>Loading</a:t>
            </a:r>
            <a:r>
              <a:rPr lang="ru-RU" sz="2800" b="1" dirty="0"/>
              <a:t>) - </a:t>
            </a:r>
            <a:r>
              <a:rPr lang="ru-RU" sz="2800" dirty="0"/>
              <a:t>совокупное выполнение операций на общем ресурсе (тр./сек, хитов/сек)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sz="2800" b="1" dirty="0"/>
              <a:t>Производительность (</a:t>
            </a:r>
            <a:r>
              <a:rPr lang="ru-RU" sz="2800" b="1" dirty="0" err="1"/>
              <a:t>Performance</a:t>
            </a:r>
            <a:r>
              <a:rPr lang="ru-RU" sz="2800" b="1" dirty="0"/>
              <a:t>) - </a:t>
            </a:r>
            <a:r>
              <a:rPr lang="ru-RU" sz="2800" dirty="0"/>
              <a:t>количество выполняемых операций за период времени (N операций за M часов)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sz="2800" b="1" dirty="0" err="1"/>
              <a:t>Масштабируемость</a:t>
            </a:r>
            <a:r>
              <a:rPr lang="ru-RU" sz="2800" b="1" dirty="0"/>
              <a:t> приложения (</a:t>
            </a:r>
            <a:r>
              <a:rPr lang="ru-RU" sz="2800" b="1" dirty="0" err="1"/>
              <a:t>Application</a:t>
            </a:r>
            <a:r>
              <a:rPr lang="ru-RU" sz="2800" b="1" dirty="0"/>
              <a:t> </a:t>
            </a:r>
            <a:r>
              <a:rPr lang="ru-RU" sz="2800" b="1" dirty="0" err="1"/>
              <a:t>Scalability</a:t>
            </a:r>
            <a:r>
              <a:rPr lang="ru-RU" sz="2800" b="1" dirty="0"/>
              <a:t>) - </a:t>
            </a:r>
            <a:r>
              <a:rPr lang="ru-RU" sz="2800" dirty="0"/>
              <a:t>пропорциональный рост производительности при увеличении нагрузки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58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Терминология в нагрузочном тестировании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52596" y="1500175"/>
            <a:ext cx="828677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ru-RU" sz="2800" b="1" dirty="0"/>
              <a:t>Профиль нагрузки (</a:t>
            </a:r>
            <a:r>
              <a:rPr lang="ru-RU" sz="2800" b="1" dirty="0" err="1"/>
              <a:t>Performance</a:t>
            </a:r>
            <a:r>
              <a:rPr lang="ru-RU" sz="2800" b="1" dirty="0"/>
              <a:t> </a:t>
            </a:r>
            <a:r>
              <a:rPr lang="ru-RU" sz="2800" b="1" dirty="0" err="1"/>
              <a:t>Profile</a:t>
            </a:r>
            <a:r>
              <a:rPr lang="ru-RU" sz="2800" b="1" dirty="0"/>
              <a:t>) - </a:t>
            </a:r>
            <a:r>
              <a:rPr lang="ru-RU" sz="2800" dirty="0"/>
              <a:t>это набор операций с заданными интенсивностями, полученный на основе сбора статистических данных либо определенный путем анализа требований к тестируемой системе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ru-RU" sz="2800" b="1" dirty="0"/>
              <a:t>Нагрузочной точкой </a:t>
            </a:r>
            <a:r>
              <a:rPr lang="ru-RU" sz="2800" dirty="0"/>
              <a:t>называется рассчитанное (либо заданное Заказчиком) количество виртуальных пользователей в группах, выполняющих операции с определенными интенсивностями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52596" y="285728"/>
            <a:ext cx="8229600" cy="775542"/>
          </a:xfrm>
        </p:spPr>
        <p:txBody>
          <a:bodyPr>
            <a:normAutofit/>
          </a:bodyPr>
          <a:lstStyle/>
          <a:p>
            <a:r>
              <a:rPr lang="ru-RU" dirty="0"/>
              <a:t>Цели нагрузочного тестирования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24034" y="1214423"/>
            <a:ext cx="785814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Основными </a:t>
            </a:r>
            <a:r>
              <a:rPr lang="ru-RU" sz="2400" b="1" dirty="0"/>
              <a:t>целями нагрузочного тестирования</a:t>
            </a:r>
            <a:r>
              <a:rPr lang="ru-RU" sz="2400" dirty="0"/>
              <a:t> являются: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Оценка производительности и работоспособности приложения на этапе разработки и передачи в эксплуатацию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Оценка производительности и работоспособности приложения на этапе выпуска новых релизов, </a:t>
            </a:r>
            <a:r>
              <a:rPr lang="ru-RU" sz="2400" dirty="0" err="1"/>
              <a:t>патч-сетов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Оптимизация производительности приложения, включая настройки серверов и оптимизацию кода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Подбор соответствующей для данного приложения аппаратной (программной платформы) и конфигурации сервера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Этапы проведения нагрузочного тестирования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524100" y="2000240"/>
            <a:ext cx="6858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Анализ требований и сбор информации о тестируемой системе.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Разработка модели нагрузки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Выбор инструмента для нагрузочного тестирования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Создание и отладка тестовых </a:t>
            </a:r>
            <a:r>
              <a:rPr lang="ru-RU" sz="2400" dirty="0" err="1"/>
              <a:t>скриптов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Проведение тестирования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Анализ результатов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Подготовка, отправка и публикация отчета по проведенному нагрузочному тестированию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Разработка модели нагрузки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81224" y="2000240"/>
            <a:ext cx="80724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ru-RU" sz="2400" dirty="0"/>
              <a:t>Необходимо  определить: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список тестируемых операций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интенсивность выполнения операций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зависимость изменения интенсивности выполнения операций от времени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381356" y="4214818"/>
            <a:ext cx="635798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Разработки модели нагрузки: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Изучение приложения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Определение профиля нагрузки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Расчет нагрузочных точек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err="1"/>
              <a:t>Baseline</a:t>
            </a:r>
            <a:r>
              <a:rPr lang="ru-RU" sz="2400" dirty="0"/>
              <a:t> нагрузочная точка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Изучение Приложения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452662" y="1928803"/>
            <a:ext cx="800105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Основные шаги:</a:t>
            </a:r>
          </a:p>
          <a:p>
            <a:pPr>
              <a:buFont typeface="Wingdings" pitchFamily="2" charset="2"/>
              <a:buChar char="Ø"/>
            </a:pPr>
            <a:r>
              <a:rPr lang="ru-RU" sz="2400" dirty="0"/>
              <a:t>описать компоненты приложения и составить схемы взаимодействия между ними</a:t>
            </a:r>
          </a:p>
          <a:p>
            <a:pPr>
              <a:buFont typeface="Wingdings" pitchFamily="2" charset="2"/>
              <a:buChar char="Ø"/>
            </a:pPr>
            <a:r>
              <a:rPr lang="ru-RU" sz="2400" dirty="0"/>
              <a:t>выделить критические с точки зрения предполагаемого тестирования операции. В качестве таковых могут быть выбраны: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/>
              <a:t>Операции с "тяжелыми" запросами к базе данных, процессы генерации отчетов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/>
              <a:t>Операции, выполняемые большим количеством пользователей или с высокой интенсивностью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/>
              <a:t>Операции критичные с точки зрения бизнеса, и к тому же удовлетворяющие условиям двух верхних пунктов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Определение профиля нагрузки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881158" y="1928802"/>
            <a:ext cx="800105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Ключевым моментом в модели нагрузки являются выбранные для тестирования операции или профиль нагрузки. Естественно выполняться эти операции в тесте должны одновременно. Профилей нагрузки для приложения может быть несколько.</a:t>
            </a:r>
          </a:p>
          <a:p>
            <a:r>
              <a:rPr lang="ru-RU" sz="2400" b="1" dirty="0"/>
              <a:t>Меняться могут не только сами операции но и их интенсивности</a:t>
            </a:r>
            <a:r>
              <a:rPr lang="ru-RU" sz="2400" dirty="0"/>
              <a:t>. В первом приближении моделью нагрузки является набор профилей нагрузки, где каждый профиль отличается от другого или набором операций или интенсивностями выполнения этих операций.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F61FB-AB02-4C6F-B9D1-A3927F07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Стрессовое тестирование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CED48E-0E15-469E-97F7-C604C1348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Стрессовое тестирование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имеет много общего с тестированием производительности, однако его основная задача - не определить производительность системы, а оценить производительность и устойчивость системы в случае, когда для своей работы она выделяет максимально доступное количество ресурсов либо когда она работает в условиях их критической нехватки. </a:t>
            </a: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Основная цель стрессового тестирования - вывести систему из строя, определить те условия, при которых она не сможет далее нормально функционировать.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6920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3F7E2-44B4-4AD3-8558-8604F653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конфигурации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BCF1F0-4D49-4C71-9D97-2DE1B4A78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ходе тестирования конфигурации проверяется, что программная система корректно работает на всем поддерживаемом аппаратном обеспечении и совместно с другими программными системами.</a:t>
            </a: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Необходимо также проверять, что система продолжает стабильно работать при горячей замене любого поддерживаемого устройства на аналогичное.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6760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B030A-E5B7-4035-AAF3-958AC94E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безопасности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6525C9-25D1-468D-B0D4-7AA828BBD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8468"/>
            <a:ext cx="12192000" cy="5529532"/>
          </a:xfrm>
        </p:spPr>
        <p:txBody>
          <a:bodyPr>
            <a:normAutofit lnSpcReduction="10000"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ходе этого тестирования проверяется, что информация не теряется, не повреждается, ее невозможно подменить, а также к ней невозможно получить несанкционированный доступ, в том числе при помощи использования уязвимостей в самой программной системе.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отечественной практике принято проводить сертификацию программных систем, предназначенных для хранения данных для служебного пользования, секретных, совершенно секретных и совершенно секретных особой важности. </a:t>
            </a: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Существует ряд отечественных стандартов Федеральной службы по техническому и экспортному контролю (ФСТЭК), регламентирующих свойства программных систем по обеспечению необходимого уровня безопасности и по отсутствию недокументированных возможностей ("закладок"), которые могут быть использованы злоумышленником для несанкционированного доступа к данным.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338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58EFD-15D9-417D-862E-83CAC85E9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9" y="365125"/>
            <a:ext cx="10991491" cy="1325563"/>
          </a:xfrm>
        </p:spPr>
        <p:txBody>
          <a:bodyPr/>
          <a:lstStyle/>
          <a:p>
            <a:pPr algn="ctr"/>
            <a:r>
              <a:rPr lang="ru-RU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надежности и восстановления после сбоев</a:t>
            </a:r>
            <a:r>
              <a:rPr lang="ru-RU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DB9B56-5365-451F-B015-34D42256F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тестировании восстановления после сбоев имитируются сбои оборудования или окружающего программного обеспечения либо сбои программной системы, вызванные внешними факторами.</a:t>
            </a: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При анализе поведения системы в этом случае необходимо обращать внимание на два фактора - минимизацию потерь данных в результате сбоя и минимизацию времени между сбоем и продолжением нормального функционирования системы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9394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49221-82F5-44F0-BDCF-AD4D0ADC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удобства использования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11AF39-7063-4CA7-9F0F-337F9C030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Отдельная группа нефункциональных требований - требования к удобству использования пользовательского интерфейса системы. Этот вид тестирования будет рассмотрен в следующей лекции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20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A685F-F087-4DB0-81F6-18125C04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28" y="365125"/>
            <a:ext cx="11662914" cy="1325563"/>
          </a:xfrm>
        </p:spPr>
        <p:txBody>
          <a:bodyPr>
            <a:normAutofit fontScale="90000"/>
          </a:bodyPr>
          <a:lstStyle/>
          <a:p>
            <a:r>
              <a:rPr lang="ru-RU" b="1">
                <a:solidFill>
                  <a:srgbClr val="33006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Системное тестирование, приемо-сдаточные и сертификационные испытания при разработке сертифицируемого программного обеспечения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A73F84-F33C-46FF-B455-DE56BA195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разработке массового ("коробочного",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COTS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программного обеспечения после проведения системного тестирования система проходит этапы альфа- и бета-тестирования</a:t>
            </a: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разработке заказного программного обеспечения фазу альфа- и бета-тестирования заменяют приемо-сдаточные испытания. Во время этих испытаний заказчик удостоверяется, что система работает в соответствии с его потребностями (как зафиксированными в техническом задании на систему, так и не зафиксированными).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1583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02A8D-373B-4D98-9667-653F69C0E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Сертификация программного обеспечения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A53FD3-00E3-4BEA-8ECD-25BB51A33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059728" cy="435133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 установления и официального признания того, что разработка ПО проводилась в соответствии с определенными требованиями. </a:t>
            </a: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процессе сертификации происходит взаимодействие заявителя, сертифицирующего органа и наблюдательного органа.</a:t>
            </a:r>
          </a:p>
          <a:p>
            <a:pPr indent="450215" algn="just">
              <a:spcAft>
                <a:spcPts val="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ным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требованиям, которое передается на рассмотрение в сертифицирующий орган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7337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FAAEE-4C21-40FB-87D2-B5334697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92E915-3442-4D0F-9A7D-48611F0EC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81" y="1825624"/>
            <a:ext cx="11800936" cy="5032375"/>
          </a:xfrm>
        </p:spPr>
        <p:txBody>
          <a:bodyPr>
            <a:norm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Заявитель - это организация, подающая заявку в соответствующий сертифицирующий орган на получение сертификата (соответствия, качества, годности и т.п.) изделия.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Сертифицирующий орган - организация, которая рассматривает заявку заявителя о проведении сертификации ПО и либо самостоятельно, либо путем формирования специальной комиссии производит набор процедур, направленных на проведение процесса сертификации ПО заявителя.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Наблюдательный орган - комиссия специалистов, наблюдающих за процессами разработки заявителем сертифицируемой информационной системы и дающих заключение о соответствии данного процесса определен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51016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1219</Words>
  <Application>Microsoft Office PowerPoint</Application>
  <PresentationFormat>Широкоэкранный</PresentationFormat>
  <Paragraphs>103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Symbol</vt:lpstr>
      <vt:lpstr>Times New Roman</vt:lpstr>
      <vt:lpstr>Wingdings</vt:lpstr>
      <vt:lpstr>Тема Office</vt:lpstr>
      <vt:lpstr>Лекция 8 Системное тестирование программы</vt:lpstr>
      <vt:lpstr>Виды системного тестирования</vt:lpstr>
      <vt:lpstr>Функциональное тестирование. </vt:lpstr>
      <vt:lpstr>Тестирование производительности</vt:lpstr>
      <vt:lpstr>Нагрузочное тестирование  или (тестирование производительности)</vt:lpstr>
      <vt:lpstr>Терминология в нагрузочном тестировании</vt:lpstr>
      <vt:lpstr>Терминология в нагрузочном тестировании</vt:lpstr>
      <vt:lpstr>Терминология в нагрузочном тестировании</vt:lpstr>
      <vt:lpstr>Цели нагрузочного тестирования</vt:lpstr>
      <vt:lpstr>Этапы проведения нагрузочного тестирования</vt:lpstr>
      <vt:lpstr>Разработка модели нагрузки</vt:lpstr>
      <vt:lpstr>Изучение Приложения</vt:lpstr>
      <vt:lpstr>Определение профиля нагрузки</vt:lpstr>
      <vt:lpstr>Стрессовое тестирование</vt:lpstr>
      <vt:lpstr>Тестирование конфигурации</vt:lpstr>
      <vt:lpstr>Тестирование безопасности</vt:lpstr>
      <vt:lpstr>Тестирование надежности и восстановления после сбоев. </vt:lpstr>
      <vt:lpstr>Тестирование удобства использования</vt:lpstr>
      <vt:lpstr>Системное тестирование, приемо-сдаточные и сертификационные испытания при разработке сертифицируемого программного обеспечения</vt:lpstr>
      <vt:lpstr>Сертификация программного обеспечения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2. Основы отладки программного обеспечения</dc:title>
  <dc:creator>Евгений Ткачук</dc:creator>
  <cp:lastModifiedBy>Евгений Ткачук</cp:lastModifiedBy>
  <cp:revision>61</cp:revision>
  <dcterms:created xsi:type="dcterms:W3CDTF">2019-08-14T13:27:45Z</dcterms:created>
  <dcterms:modified xsi:type="dcterms:W3CDTF">2019-08-23T18:21:07Z</dcterms:modified>
</cp:coreProperties>
</file>
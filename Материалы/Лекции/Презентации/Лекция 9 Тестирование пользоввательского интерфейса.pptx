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1" autoAdjust="0"/>
    <p:restoredTop sz="94660"/>
  </p:normalViewPr>
  <p:slideViewPr>
    <p:cSldViewPr snapToGrid="0">
      <p:cViewPr varScale="1">
        <p:scale>
          <a:sx n="56" d="100"/>
          <a:sy n="56" d="100"/>
        </p:scale>
        <p:origin x="96" y="12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DF9580-42EB-48AC-810B-BB0E7F2D5F3E}"/>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FAE8292E-6725-4EBA-AF64-0242450F37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3A5D51C-1AE2-41A1-A243-A88A3F18EA0B}"/>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5" name="Нижний колонтитул 4">
            <a:extLst>
              <a:ext uri="{FF2B5EF4-FFF2-40B4-BE49-F238E27FC236}">
                <a16:creationId xmlns:a16="http://schemas.microsoft.com/office/drawing/2014/main" id="{58A500DA-FFB6-4F18-B2B6-B5259CEDCB6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01ADE00-A412-4690-AB4D-5BA86C65F7A2}"/>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3024205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67AFB2-5487-43BD-A645-C4A3E33B791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B96A168-825C-4326-A59F-C3BB7887457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D93C725-B896-48F2-ADDE-D37B1A502687}"/>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5" name="Нижний колонтитул 4">
            <a:extLst>
              <a:ext uri="{FF2B5EF4-FFF2-40B4-BE49-F238E27FC236}">
                <a16:creationId xmlns:a16="http://schemas.microsoft.com/office/drawing/2014/main" id="{08AAC956-C61E-4D74-AAAE-3297BC39E1D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EF7295A-E096-48F5-ACE3-9E15113433EE}"/>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12528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5B02D1-10E1-473A-8134-134AD3AA91B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EE004C6-1147-4469-A70E-D8E150A3FD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CBF3FB5-2E7D-4603-820F-B85A66473612}"/>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5" name="Нижний колонтитул 4">
            <a:extLst>
              <a:ext uri="{FF2B5EF4-FFF2-40B4-BE49-F238E27FC236}">
                <a16:creationId xmlns:a16="http://schemas.microsoft.com/office/drawing/2014/main" id="{C3E9286F-A86D-4991-8995-00B81E735D6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B5A1E1C-85B8-4977-9507-D3C087132551}"/>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415666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534FE5-5BD8-43AA-91BC-2D147142F6D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50B1232-01C2-4007-A922-E184E0B771E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281081E9-62C3-4FAD-9C53-26802FA3DB15}"/>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987B8451-3D16-4C30-A2E6-3FA46A78A0C1}"/>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6" name="Нижний колонтитул 5">
            <a:extLst>
              <a:ext uri="{FF2B5EF4-FFF2-40B4-BE49-F238E27FC236}">
                <a16:creationId xmlns:a16="http://schemas.microsoft.com/office/drawing/2014/main" id="{FBB6A1F6-D99A-49EB-8A2D-566F766CB7D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E4F96EA-37A5-4595-91BC-5E17DEA0D78A}"/>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713898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12972D-3909-4348-8D3E-FB0B9C48156D}"/>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3462F1E4-21B0-4F61-9AFC-1EF4F73552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2EFD26D-70FD-453E-A183-F97316B1EAB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30F60524-08FD-4F48-B481-D6C99A1A87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4A8C5EC-3CA1-49B0-97D2-402967F34AD2}"/>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F74BD85B-1719-4E6F-9257-854B45D48AC5}"/>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8" name="Нижний колонтитул 7">
            <a:extLst>
              <a:ext uri="{FF2B5EF4-FFF2-40B4-BE49-F238E27FC236}">
                <a16:creationId xmlns:a16="http://schemas.microsoft.com/office/drawing/2014/main" id="{2641837F-12FB-4E67-935B-C8BE0B3AE33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FBB0F62C-8BB2-459C-9B31-87EAAC6DC649}"/>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791554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A5281C-70FB-4D37-BCB6-FFFFF20818AD}"/>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6D0B246F-1ED8-4FA0-960B-0CBD67BFA652}"/>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4" name="Нижний колонтитул 3">
            <a:extLst>
              <a:ext uri="{FF2B5EF4-FFF2-40B4-BE49-F238E27FC236}">
                <a16:creationId xmlns:a16="http://schemas.microsoft.com/office/drawing/2014/main" id="{305F674F-EDC4-498F-B8F9-8DBBB9A70E6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36973A7-DA5C-4FF8-80B2-B76580BCC48A}"/>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3248166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CA5361D-F9C0-4A4B-94C5-36D3C594725F}"/>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3" name="Нижний колонтитул 2">
            <a:extLst>
              <a:ext uri="{FF2B5EF4-FFF2-40B4-BE49-F238E27FC236}">
                <a16:creationId xmlns:a16="http://schemas.microsoft.com/office/drawing/2014/main" id="{A1271546-2724-47C4-9DBB-C1EC3454B39F}"/>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604A4A9-C09F-4A05-8121-46D919C12055}"/>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2601478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163F6E-0050-42E8-A4DC-A5C05B4ED218}"/>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607F604-2E61-4106-8A08-9CF362EDF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97603790-11D4-4A58-92FB-E58F04DE4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C0B2516-2379-4206-A700-3E2C62F2E0A9}"/>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6" name="Нижний колонтитул 5">
            <a:extLst>
              <a:ext uri="{FF2B5EF4-FFF2-40B4-BE49-F238E27FC236}">
                <a16:creationId xmlns:a16="http://schemas.microsoft.com/office/drawing/2014/main" id="{1AFCCECC-4067-4DF3-8362-A7848314B8F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9C0ACDA-122C-47C2-A550-2554ECA86C4D}"/>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2652317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D81A8F-5421-4CF5-9353-AE0E071C0CB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E8CF67F5-9A8B-46B3-9C57-7B0630670B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8160048-8570-4BC9-AD31-FE0F542608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FC636A0-F77B-462D-836A-DE63125E43A8}"/>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6" name="Нижний колонтитул 5">
            <a:extLst>
              <a:ext uri="{FF2B5EF4-FFF2-40B4-BE49-F238E27FC236}">
                <a16:creationId xmlns:a16="http://schemas.microsoft.com/office/drawing/2014/main" id="{9CEA56B6-E062-437F-A6EF-910DED94226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928C62A-C851-43B2-BB27-EF26B0CC91E0}"/>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142126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6577A5-AB23-469C-9601-9E46E0769E1E}"/>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362F9A3F-B16C-4790-AF7F-204D4A176026}"/>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FB530A9-1D7E-461B-B792-697E0C31F7A3}"/>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5" name="Нижний колонтитул 4">
            <a:extLst>
              <a:ext uri="{FF2B5EF4-FFF2-40B4-BE49-F238E27FC236}">
                <a16:creationId xmlns:a16="http://schemas.microsoft.com/office/drawing/2014/main" id="{A4210732-5E6F-40CE-9BAF-750B81CD37A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B40B9CB-1BC6-4831-A2B9-65DF8710868A}"/>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2656946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6BCB3DD1-B640-4F42-8618-52DC401E049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46D65716-E894-40E3-A7A6-48B7AA747252}"/>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CD1B5BE-4A56-48E5-B5DD-F8F4A508296A}"/>
              </a:ext>
            </a:extLst>
          </p:cNvPr>
          <p:cNvSpPr>
            <a:spLocks noGrp="1"/>
          </p:cNvSpPr>
          <p:nvPr>
            <p:ph type="dt" sz="half" idx="10"/>
          </p:nvPr>
        </p:nvSpPr>
        <p:spPr/>
        <p:txBody>
          <a:bodyPr/>
          <a:lstStyle/>
          <a:p>
            <a:fld id="{B600AC16-FB68-4D90-9C71-CAD0E5C2F217}" type="datetimeFigureOut">
              <a:rPr lang="ru-RU" smtClean="0"/>
              <a:t>23.08.2019</a:t>
            </a:fld>
            <a:endParaRPr lang="ru-RU"/>
          </a:p>
        </p:txBody>
      </p:sp>
      <p:sp>
        <p:nvSpPr>
          <p:cNvPr id="5" name="Нижний колонтитул 4">
            <a:extLst>
              <a:ext uri="{FF2B5EF4-FFF2-40B4-BE49-F238E27FC236}">
                <a16:creationId xmlns:a16="http://schemas.microsoft.com/office/drawing/2014/main" id="{5BF142BC-0189-40CA-8E9E-51AC0DFB33A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6C32AEA-D104-4738-8026-3CF7CE3FD611}"/>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179876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A4A46D-0D20-4678-81AC-04EC736075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2AA3114-F7E3-425F-A0BA-D191E63F2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7381F7B-6C4A-4289-A00A-38C8374EDA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0AC16-FB68-4D90-9C71-CAD0E5C2F217}" type="datetimeFigureOut">
              <a:rPr lang="ru-RU" smtClean="0"/>
              <a:t>23.08.2019</a:t>
            </a:fld>
            <a:endParaRPr lang="ru-RU"/>
          </a:p>
        </p:txBody>
      </p:sp>
      <p:sp>
        <p:nvSpPr>
          <p:cNvPr id="5" name="Нижний колонтитул 4">
            <a:extLst>
              <a:ext uri="{FF2B5EF4-FFF2-40B4-BE49-F238E27FC236}">
                <a16:creationId xmlns:a16="http://schemas.microsoft.com/office/drawing/2014/main" id="{98ED8831-BA5A-4BEB-8C70-04E60106AD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68EEA7DA-BF0A-4142-BAC7-C32D4D74C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22D3D-7350-4F05-B7EE-EF8CA3415039}" type="slidenum">
              <a:rPr lang="ru-RU" smtClean="0"/>
              <a:t>‹#›</a:t>
            </a:fld>
            <a:endParaRPr lang="ru-RU"/>
          </a:p>
        </p:txBody>
      </p:sp>
    </p:spTree>
    <p:extLst>
      <p:ext uri="{BB962C8B-B14F-4D97-AF65-F5344CB8AC3E}">
        <p14:creationId xmlns:p14="http://schemas.microsoft.com/office/powerpoint/2010/main" val="2093619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file:///C:\Users\&#1045;&#1074;&#1075;&#1077;&#1085;&#1080;&#1081;\Documents\&#1056;&#1055;%20&#1052;&#1058;&#1059;&#1057;&#1048;\&#1050;&#1086;&#1084;&#1087;&#1083;&#1077;&#1082;&#1090;&#1099;%20&#1085;&#1086;&#1074;&#1099;&#1077;%20&#1058;&#1082;&#1072;&#1095;&#1091;&#1082;\&#1041;1.&#1042;.17_&#1050;&#1054;&#1052;&#1055;&#1051;&#1045;&#1050;&#1058;_&#1052;&#1077;&#1090;&#1086;&#1076;&#1099;%20&#1086;&#1090;&#1083;&#1072;&#1076;&#1082;&#1080;%20&#1080;%20&#1090;&#1077;&#1089;&#1090;&#1080;&#1088;&#1086;&#1074;&#1072;&#1085;&#1080;&#1103;%20&#1087;&#1088;&#1086;&#1075;&#1088;&#1072;&#1084;&#1084;&#1085;&#1099;&#1093;%20&#1087;&#1088;&#1086;&#1076;&#1091;&#1082;&#1090;&#1086;&#1074;%20&#1058;&#1082;&#1072;&#1095;&#1091;&#1082;_2017\&#1052;&#1072;&#1090;&#1077;&#1088;&#1080;&#1083;&#1099;%20&#1052;&#1054;&#1058;&#1055;&#1055;\course-314-html\Invalid_Re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BD1D42-66DD-4454-B5DC-E175F8AFE71D}"/>
              </a:ext>
            </a:extLst>
          </p:cNvPr>
          <p:cNvSpPr>
            <a:spLocks noGrp="1"/>
          </p:cNvSpPr>
          <p:nvPr>
            <p:ph type="ctrTitle"/>
          </p:nvPr>
        </p:nvSpPr>
        <p:spPr>
          <a:xfrm>
            <a:off x="707366" y="1122363"/>
            <a:ext cx="9960634" cy="2387600"/>
          </a:xfrm>
        </p:spPr>
        <p:txBody>
          <a:bodyPr>
            <a:normAutofit fontScale="90000"/>
          </a:bodyPr>
          <a:lstStyle/>
          <a:p>
            <a:r>
              <a:rPr lang="ru-RU" dirty="0"/>
              <a:t>Лекция 9 </a:t>
            </a:r>
            <a:r>
              <a:rPr lang="ru-RU" dirty="0">
                <a:solidFill>
                  <a:srgbClr val="343434"/>
                </a:solidFill>
                <a:latin typeface="Arial" panose="020B0604020202020204" pitchFamily="34" charset="0"/>
              </a:rPr>
              <a:t>т</a:t>
            </a:r>
            <a:r>
              <a:rPr lang="ru-RU" dirty="0">
                <a:solidFill>
                  <a:srgbClr val="343434"/>
                </a:solidFill>
                <a:latin typeface="Arial" panose="020B0604020202020204" pitchFamily="34" charset="0"/>
                <a:ea typeface="Times New Roman" panose="02020603050405020304" pitchFamily="18" charset="0"/>
              </a:rPr>
              <a:t>естирование пользовательского интерфейса программы</a:t>
            </a:r>
            <a:endParaRPr lang="ru-RU" dirty="0"/>
          </a:p>
        </p:txBody>
      </p:sp>
      <p:sp>
        <p:nvSpPr>
          <p:cNvPr id="3" name="Подзаголовок 2">
            <a:extLst>
              <a:ext uri="{FF2B5EF4-FFF2-40B4-BE49-F238E27FC236}">
                <a16:creationId xmlns:a16="http://schemas.microsoft.com/office/drawing/2014/main" id="{0C1AD359-AF07-4600-834C-249723F999BD}"/>
              </a:ext>
            </a:extLst>
          </p:cNvPr>
          <p:cNvSpPr>
            <a:spLocks noGrp="1"/>
          </p:cNvSpPr>
          <p:nvPr>
            <p:ph type="subTitle" idx="1"/>
          </p:nvPr>
        </p:nvSpPr>
        <p:spPr/>
        <p:txBody>
          <a:bodyPr>
            <a:normAutofit lnSpcReduction="10000"/>
          </a:bodyPr>
          <a:lstStyle/>
          <a:p>
            <a:r>
              <a:rPr lang="ru-RU" dirty="0"/>
              <a:t>Методы отладки и тестирования программных продуктов </a:t>
            </a:r>
          </a:p>
          <a:p>
            <a:r>
              <a:rPr lang="ru-RU" dirty="0"/>
              <a:t>Б1.В.17,  09.03.01, набор 2017г.</a:t>
            </a:r>
          </a:p>
          <a:p>
            <a:r>
              <a:rPr lang="ru-RU" dirty="0"/>
              <a:t>СКФ МТУСИ, каф. ИВТ, доцент Ткачук Е.О.</a:t>
            </a:r>
          </a:p>
          <a:p>
            <a:r>
              <a:rPr lang="ru-RU" dirty="0"/>
              <a:t>2019/2020г.</a:t>
            </a:r>
          </a:p>
          <a:p>
            <a:endParaRPr lang="ru-RU" dirty="0"/>
          </a:p>
        </p:txBody>
      </p:sp>
    </p:spTree>
    <p:extLst>
      <p:ext uri="{BB962C8B-B14F-4D97-AF65-F5344CB8AC3E}">
        <p14:creationId xmlns:p14="http://schemas.microsoft.com/office/powerpoint/2010/main" val="3791139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Основные понятия</a:t>
            </a:r>
            <a:endParaRPr lang="ru-RU" dirty="0"/>
          </a:p>
        </p:txBody>
      </p:sp>
      <p:sp>
        <p:nvSpPr>
          <p:cNvPr id="4" name="Прямоугольник 3"/>
          <p:cNvSpPr/>
          <p:nvPr/>
        </p:nvSpPr>
        <p:spPr>
          <a:xfrm>
            <a:off x="2024034" y="1669309"/>
            <a:ext cx="7572428" cy="4154984"/>
          </a:xfrm>
          <a:prstGeom prst="rect">
            <a:avLst/>
          </a:prstGeom>
        </p:spPr>
        <p:txBody>
          <a:bodyPr wrap="square">
            <a:spAutoFit/>
          </a:bodyPr>
          <a:lstStyle/>
          <a:p>
            <a:pPr marL="457200" indent="-457200">
              <a:buFont typeface="+mj-lt"/>
              <a:buAutoNum type="arabicPeriod"/>
            </a:pPr>
            <a:r>
              <a:rPr lang="ru-RU" sz="2400" b="1" dirty="0"/>
              <a:t>Качество программного обеспечения (</a:t>
            </a:r>
            <a:r>
              <a:rPr lang="ru-RU" sz="2400" b="1" dirty="0" err="1"/>
              <a:t>Software</a:t>
            </a:r>
            <a:r>
              <a:rPr lang="ru-RU" sz="2400" b="1" dirty="0"/>
              <a:t> </a:t>
            </a:r>
            <a:r>
              <a:rPr lang="ru-RU" sz="2400" b="1" dirty="0" err="1"/>
              <a:t>Quality</a:t>
            </a:r>
            <a:r>
              <a:rPr lang="ru-RU" sz="2400" b="1" dirty="0"/>
              <a:t>) </a:t>
            </a:r>
            <a:r>
              <a:rPr lang="ru-RU" sz="2400" dirty="0"/>
              <a:t>- это степень, в которой программное обеспечение обладает требуемой комбинацией свойств. [1061-1998 IEEE </a:t>
            </a:r>
            <a:r>
              <a:rPr lang="ru-RU" sz="2400" dirty="0" err="1"/>
              <a:t>Standard</a:t>
            </a:r>
            <a:r>
              <a:rPr lang="ru-RU" sz="2400" dirty="0"/>
              <a:t> </a:t>
            </a:r>
            <a:r>
              <a:rPr lang="ru-RU" sz="2400" dirty="0" err="1"/>
              <a:t>for</a:t>
            </a:r>
            <a:r>
              <a:rPr lang="ru-RU" sz="2400" dirty="0"/>
              <a:t> </a:t>
            </a:r>
            <a:r>
              <a:rPr lang="ru-RU" sz="2400" dirty="0" err="1"/>
              <a:t>Software</a:t>
            </a:r>
            <a:r>
              <a:rPr lang="ru-RU" sz="2400" dirty="0"/>
              <a:t> </a:t>
            </a:r>
            <a:r>
              <a:rPr lang="ru-RU" sz="2400" dirty="0" err="1"/>
              <a:t>Quality</a:t>
            </a:r>
            <a:r>
              <a:rPr lang="ru-RU" sz="2400" dirty="0"/>
              <a:t> </a:t>
            </a:r>
            <a:r>
              <a:rPr lang="ru-RU" sz="2400" dirty="0" err="1"/>
              <a:t>Metrics</a:t>
            </a:r>
            <a:r>
              <a:rPr lang="ru-RU" sz="2400" dirty="0"/>
              <a:t> </a:t>
            </a:r>
            <a:r>
              <a:rPr lang="ru-RU" sz="2400" dirty="0" err="1"/>
              <a:t>Methodology</a:t>
            </a:r>
            <a:r>
              <a:rPr lang="ru-RU" sz="2400" dirty="0"/>
              <a:t>]</a:t>
            </a:r>
          </a:p>
          <a:p>
            <a:pPr marL="457200" indent="-457200">
              <a:buFont typeface="+mj-lt"/>
              <a:buAutoNum type="arabicPeriod"/>
            </a:pPr>
            <a:r>
              <a:rPr lang="ru-RU" sz="2400" b="1" dirty="0"/>
              <a:t>Качество программного обеспечения (</a:t>
            </a:r>
            <a:r>
              <a:rPr lang="ru-RU" sz="2400" b="1" dirty="0" err="1"/>
              <a:t>Software</a:t>
            </a:r>
            <a:r>
              <a:rPr lang="ru-RU" sz="2400" b="1" dirty="0"/>
              <a:t> </a:t>
            </a:r>
            <a:r>
              <a:rPr lang="ru-RU" sz="2400" b="1" dirty="0" err="1"/>
              <a:t>Quality</a:t>
            </a:r>
            <a:r>
              <a:rPr lang="ru-RU" sz="2400" b="1" dirty="0"/>
              <a:t>) - </a:t>
            </a:r>
            <a:r>
              <a:rPr lang="ru-RU" sz="2400" dirty="0"/>
              <a:t>это совокупность характеристик программного обеспечения, относящихся к его способности удовлетворять установленные и предполагаемые потребности. [ISO 8402:1994 </a:t>
            </a:r>
            <a:r>
              <a:rPr lang="ru-RU" sz="2400" dirty="0" err="1"/>
              <a:t>Quality</a:t>
            </a:r>
            <a:r>
              <a:rPr lang="ru-RU" sz="2400" dirty="0"/>
              <a:t> </a:t>
            </a:r>
            <a:r>
              <a:rPr lang="ru-RU" sz="2400" dirty="0" err="1"/>
              <a:t>management</a:t>
            </a:r>
            <a:r>
              <a:rPr lang="ru-RU" sz="2400" dirty="0"/>
              <a:t> </a:t>
            </a:r>
            <a:r>
              <a:rPr lang="ru-RU" sz="2400" dirty="0" err="1"/>
              <a:t>and</a:t>
            </a:r>
            <a:r>
              <a:rPr lang="ru-RU" sz="2400" dirty="0"/>
              <a:t> </a:t>
            </a:r>
            <a:r>
              <a:rPr lang="ru-RU" sz="2400" dirty="0" err="1"/>
              <a:t>quality</a:t>
            </a:r>
            <a:r>
              <a:rPr lang="ru-RU" sz="2400" dirty="0"/>
              <a:t> </a:t>
            </a:r>
            <a:r>
              <a:rPr lang="ru-RU" sz="2400" dirty="0" err="1"/>
              <a:t>assurance</a:t>
            </a:r>
            <a:r>
              <a:rPr lang="ru-RU" sz="2400"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Основные понятия</a:t>
            </a:r>
            <a:endParaRPr lang="ru-RU" dirty="0"/>
          </a:p>
        </p:txBody>
      </p:sp>
      <p:sp>
        <p:nvSpPr>
          <p:cNvPr id="4" name="Прямоугольник 3"/>
          <p:cNvSpPr/>
          <p:nvPr/>
        </p:nvSpPr>
        <p:spPr>
          <a:xfrm>
            <a:off x="2024034" y="1669309"/>
            <a:ext cx="7572428" cy="2677656"/>
          </a:xfrm>
          <a:prstGeom prst="rect">
            <a:avLst/>
          </a:prstGeom>
        </p:spPr>
        <p:txBody>
          <a:bodyPr wrap="square">
            <a:spAutoFit/>
          </a:bodyPr>
          <a:lstStyle/>
          <a:p>
            <a:r>
              <a:rPr lang="ru-RU" sz="2400" b="1" dirty="0"/>
              <a:t>Обеспечение качества</a:t>
            </a:r>
            <a:r>
              <a:rPr lang="ru-RU" sz="2400" dirty="0"/>
              <a:t> (</a:t>
            </a:r>
            <a:r>
              <a:rPr lang="ru-RU" sz="2400" b="1" dirty="0" err="1"/>
              <a:t>Quality</a:t>
            </a:r>
            <a:r>
              <a:rPr lang="ru-RU" sz="2400" b="1" dirty="0"/>
              <a:t> </a:t>
            </a:r>
            <a:r>
              <a:rPr lang="ru-RU" sz="2400" b="1" dirty="0" err="1"/>
              <a:t>Assurance</a:t>
            </a:r>
            <a:r>
              <a:rPr lang="ru-RU" sz="2400" b="1" dirty="0"/>
              <a:t> - QA</a:t>
            </a:r>
            <a:r>
              <a:rPr lang="ru-RU" sz="2400" dirty="0"/>
              <a:t>) - это совокупность мероприятий, охватывающих все технологические этапы разработки, выпуска и эксплуатации программного обеспечения (ПО) информационных систем, предпринимаемых на разных стадиях </a:t>
            </a:r>
            <a:r>
              <a:rPr lang="ru-RU" sz="2400" b="1" dirty="0"/>
              <a:t>жизненного цикла ПО</a:t>
            </a:r>
            <a:r>
              <a:rPr lang="ru-RU" sz="2400" dirty="0"/>
              <a:t>, для </a:t>
            </a:r>
            <a:r>
              <a:rPr lang="ru-RU" sz="2400" b="1" dirty="0"/>
              <a:t>обеспечения качества выпускаемого продукта</a:t>
            </a:r>
            <a:r>
              <a:rPr lang="ru-RU" sz="2400"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Основные понятия</a:t>
            </a:r>
            <a:endParaRPr lang="ru-RU" dirty="0"/>
          </a:p>
        </p:txBody>
      </p:sp>
      <p:sp>
        <p:nvSpPr>
          <p:cNvPr id="4" name="Прямоугольник 3"/>
          <p:cNvSpPr/>
          <p:nvPr/>
        </p:nvSpPr>
        <p:spPr>
          <a:xfrm>
            <a:off x="2024034" y="1669309"/>
            <a:ext cx="7572428" cy="3046988"/>
          </a:xfrm>
          <a:prstGeom prst="rect">
            <a:avLst/>
          </a:prstGeom>
        </p:spPr>
        <p:txBody>
          <a:bodyPr wrap="square">
            <a:spAutoFit/>
          </a:bodyPr>
          <a:lstStyle/>
          <a:p>
            <a:r>
              <a:rPr lang="ru-RU" sz="2400" b="1" dirty="0"/>
              <a:t>Контроль качества</a:t>
            </a:r>
            <a:r>
              <a:rPr lang="ru-RU" sz="2400" dirty="0"/>
              <a:t> (</a:t>
            </a:r>
            <a:r>
              <a:rPr lang="ru-RU" sz="2400" b="1" dirty="0" err="1"/>
              <a:t>Quality</a:t>
            </a:r>
            <a:r>
              <a:rPr lang="ru-RU" sz="2400" b="1" dirty="0"/>
              <a:t> </a:t>
            </a:r>
            <a:r>
              <a:rPr lang="ru-RU" sz="2400" b="1" dirty="0" err="1"/>
              <a:t>Control</a:t>
            </a:r>
            <a:r>
              <a:rPr lang="ru-RU" sz="2400" b="1" dirty="0"/>
              <a:t> - QC</a:t>
            </a:r>
            <a:r>
              <a:rPr lang="ru-RU" sz="2400" dirty="0"/>
              <a:t>) - это совокупность действий проводимых над объектом тестирования в процессе разработки для получения информации об актуальном состоянии объекта тестирования в разрезах: "</a:t>
            </a:r>
            <a:r>
              <a:rPr lang="ru-RU" sz="2400" b="1" dirty="0"/>
              <a:t>готовность Продукта к выпуску</a:t>
            </a:r>
            <a:r>
              <a:rPr lang="ru-RU" sz="2400" dirty="0"/>
              <a:t>", "</a:t>
            </a:r>
            <a:r>
              <a:rPr lang="ru-RU" sz="2400" b="1" dirty="0"/>
              <a:t>Соответствие зафиксированным требованиям</a:t>
            </a:r>
            <a:r>
              <a:rPr lang="ru-RU" sz="2400" dirty="0"/>
              <a:t>", "</a:t>
            </a:r>
            <a:r>
              <a:rPr lang="ru-RU" sz="2400" b="1" dirty="0"/>
              <a:t>Соответствие заявленному уровню качества продукта</a:t>
            </a:r>
            <a:r>
              <a:rPr lang="ru-RU" sz="24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Основные понятия</a:t>
            </a:r>
            <a:endParaRPr lang="ru-RU" dirty="0"/>
          </a:p>
        </p:txBody>
      </p:sp>
      <p:sp>
        <p:nvSpPr>
          <p:cNvPr id="4" name="Прямоугольник 3"/>
          <p:cNvSpPr/>
          <p:nvPr/>
        </p:nvSpPr>
        <p:spPr>
          <a:xfrm>
            <a:off x="2024034" y="1669309"/>
            <a:ext cx="7929618" cy="2677656"/>
          </a:xfrm>
          <a:prstGeom prst="rect">
            <a:avLst/>
          </a:prstGeom>
        </p:spPr>
        <p:txBody>
          <a:bodyPr wrap="square">
            <a:spAutoFit/>
          </a:bodyPr>
          <a:lstStyle/>
          <a:p>
            <a:r>
              <a:rPr lang="ru-RU" sz="2400" b="1" dirty="0"/>
              <a:t>Тестирование программного обеспечения (</a:t>
            </a:r>
            <a:r>
              <a:rPr lang="ru-RU" sz="2400" b="1" dirty="0" err="1"/>
              <a:t>Software</a:t>
            </a:r>
            <a:r>
              <a:rPr lang="ru-RU" sz="2400" b="1" dirty="0"/>
              <a:t> </a:t>
            </a:r>
            <a:r>
              <a:rPr lang="ru-RU" sz="2400" b="1" dirty="0" err="1"/>
              <a:t>Testing</a:t>
            </a:r>
            <a:r>
              <a:rPr lang="ru-RU" sz="2400" b="1" dirty="0"/>
              <a:t>) - </a:t>
            </a:r>
            <a:r>
              <a:rPr lang="ru-RU" sz="2400" dirty="0"/>
              <a:t>это одна из техник контроля качества, включающая в себя активности по </a:t>
            </a:r>
          </a:p>
          <a:p>
            <a:pPr>
              <a:buFont typeface="Wingdings" pitchFamily="2" charset="2"/>
              <a:buChar char="Ø"/>
            </a:pPr>
            <a:r>
              <a:rPr lang="ru-RU" sz="2400" b="1" dirty="0"/>
              <a:t>планированию работ (</a:t>
            </a:r>
            <a:r>
              <a:rPr lang="ru-RU" sz="2400" b="1" dirty="0" err="1"/>
              <a:t>Test</a:t>
            </a:r>
            <a:r>
              <a:rPr lang="ru-RU" sz="2400" b="1" dirty="0"/>
              <a:t> </a:t>
            </a:r>
            <a:r>
              <a:rPr lang="ru-RU" sz="2400" b="1" dirty="0" err="1"/>
              <a:t>Management</a:t>
            </a:r>
            <a:r>
              <a:rPr lang="ru-RU" sz="2400" b="1" dirty="0"/>
              <a:t>), </a:t>
            </a:r>
          </a:p>
          <a:p>
            <a:pPr>
              <a:buFont typeface="Wingdings" pitchFamily="2" charset="2"/>
              <a:buChar char="Ø"/>
            </a:pPr>
            <a:r>
              <a:rPr lang="ru-RU" sz="2400" b="1" dirty="0"/>
              <a:t>проектированию тестов (</a:t>
            </a:r>
            <a:r>
              <a:rPr lang="ru-RU" sz="2400" b="1" dirty="0" err="1"/>
              <a:t>Test</a:t>
            </a:r>
            <a:r>
              <a:rPr lang="ru-RU" sz="2400" b="1" dirty="0"/>
              <a:t> </a:t>
            </a:r>
            <a:r>
              <a:rPr lang="ru-RU" sz="2400" b="1" dirty="0" err="1"/>
              <a:t>Design</a:t>
            </a:r>
            <a:r>
              <a:rPr lang="ru-RU" sz="2400" b="1" dirty="0"/>
              <a:t>), </a:t>
            </a:r>
          </a:p>
          <a:p>
            <a:pPr>
              <a:buFont typeface="Wingdings" pitchFamily="2" charset="2"/>
              <a:buChar char="Ø"/>
            </a:pPr>
            <a:r>
              <a:rPr lang="ru-RU" sz="2400" b="1" dirty="0"/>
              <a:t>выполнению тестирования (</a:t>
            </a:r>
            <a:r>
              <a:rPr lang="ru-RU" sz="2400" b="1" dirty="0" err="1"/>
              <a:t>Test</a:t>
            </a:r>
            <a:r>
              <a:rPr lang="ru-RU" sz="2400" b="1" dirty="0"/>
              <a:t> </a:t>
            </a:r>
            <a:r>
              <a:rPr lang="ru-RU" sz="2400" b="1" dirty="0" err="1"/>
              <a:t>Execution</a:t>
            </a:r>
            <a:r>
              <a:rPr lang="ru-RU" sz="2400" b="1" dirty="0"/>
              <a:t>)</a:t>
            </a:r>
          </a:p>
          <a:p>
            <a:pPr>
              <a:buFont typeface="Wingdings" pitchFamily="2" charset="2"/>
              <a:buChar char="Ø"/>
            </a:pPr>
            <a:r>
              <a:rPr lang="ru-RU" sz="2400" b="1" dirty="0"/>
              <a:t>анализу полученных результатов (</a:t>
            </a:r>
            <a:r>
              <a:rPr lang="ru-RU" sz="2400" b="1" dirty="0" err="1"/>
              <a:t>Test</a:t>
            </a:r>
            <a:r>
              <a:rPr lang="ru-RU" sz="2400" b="1" dirty="0"/>
              <a:t> </a:t>
            </a:r>
            <a:r>
              <a:rPr lang="ru-RU" sz="2400" b="1" dirty="0" err="1"/>
              <a:t>Analysis</a:t>
            </a:r>
            <a:r>
              <a:rPr lang="ru-RU" sz="2400" b="1"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fontScale="90000"/>
          </a:bodyPr>
          <a:lstStyle/>
          <a:p>
            <a:r>
              <a:rPr lang="ru-RU" b="1" dirty="0"/>
              <a:t>Качество программного обеспечения</a:t>
            </a:r>
          </a:p>
        </p:txBody>
      </p:sp>
      <p:sp>
        <p:nvSpPr>
          <p:cNvPr id="4" name="Прямоугольник 3"/>
          <p:cNvSpPr/>
          <p:nvPr/>
        </p:nvSpPr>
        <p:spPr>
          <a:xfrm>
            <a:off x="2024034" y="1669310"/>
            <a:ext cx="7572428" cy="830997"/>
          </a:xfrm>
          <a:prstGeom prst="rect">
            <a:avLst/>
          </a:prstGeom>
        </p:spPr>
        <p:txBody>
          <a:bodyPr wrap="square">
            <a:spAutoFit/>
          </a:bodyPr>
          <a:lstStyle/>
          <a:p>
            <a:r>
              <a:rPr lang="ru-RU" sz="2400" dirty="0"/>
              <a:t>это степень, в которой ПО обладает требуемой комбинацией свойств </a:t>
            </a:r>
          </a:p>
        </p:txBody>
      </p:sp>
      <p:sp>
        <p:nvSpPr>
          <p:cNvPr id="5" name="Прямоугольник 4"/>
          <p:cNvSpPr/>
          <p:nvPr/>
        </p:nvSpPr>
        <p:spPr>
          <a:xfrm>
            <a:off x="4881554" y="2643183"/>
            <a:ext cx="4572000" cy="646331"/>
          </a:xfrm>
          <a:prstGeom prst="rect">
            <a:avLst/>
          </a:prstGeom>
        </p:spPr>
        <p:txBody>
          <a:bodyPr>
            <a:spAutoFit/>
          </a:bodyPr>
          <a:lstStyle/>
          <a:p>
            <a:r>
              <a:rPr lang="en-US" i="1" dirty="0"/>
              <a:t>1061-1998 IEEE Standard for Software Quality Metrics Methodology</a:t>
            </a:r>
            <a:endParaRPr lang="ru-RU" dirty="0"/>
          </a:p>
        </p:txBody>
      </p:sp>
      <p:sp>
        <p:nvSpPr>
          <p:cNvPr id="6" name="Прямоугольник 5"/>
          <p:cNvSpPr/>
          <p:nvPr/>
        </p:nvSpPr>
        <p:spPr>
          <a:xfrm>
            <a:off x="2024034" y="3451871"/>
            <a:ext cx="7572428" cy="1200329"/>
          </a:xfrm>
          <a:prstGeom prst="rect">
            <a:avLst/>
          </a:prstGeom>
        </p:spPr>
        <p:txBody>
          <a:bodyPr wrap="square">
            <a:spAutoFit/>
          </a:bodyPr>
          <a:lstStyle/>
          <a:p>
            <a:r>
              <a:rPr lang="ru-RU" sz="2400" dirty="0"/>
              <a:t>это совокупность характеристик ПО, относящихся к его способности удовлетворять установленные и предполагаемые потребности. </a:t>
            </a:r>
          </a:p>
        </p:txBody>
      </p:sp>
      <p:sp>
        <p:nvSpPr>
          <p:cNvPr id="7" name="Прямоугольник 6"/>
          <p:cNvSpPr/>
          <p:nvPr/>
        </p:nvSpPr>
        <p:spPr>
          <a:xfrm>
            <a:off x="4881554" y="4854372"/>
            <a:ext cx="4572000" cy="646331"/>
          </a:xfrm>
          <a:prstGeom prst="rect">
            <a:avLst/>
          </a:prstGeom>
        </p:spPr>
        <p:txBody>
          <a:bodyPr>
            <a:spAutoFit/>
          </a:bodyPr>
          <a:lstStyle/>
          <a:p>
            <a:r>
              <a:rPr lang="en-US" i="1" dirty="0"/>
              <a:t>ISO 8402:1994 Quality management and quality assurance</a:t>
            </a:r>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Характеристики качества ПО</a:t>
            </a:r>
          </a:p>
        </p:txBody>
      </p:sp>
      <p:sp>
        <p:nvSpPr>
          <p:cNvPr id="4" name="Прямоугольник 3"/>
          <p:cNvSpPr/>
          <p:nvPr/>
        </p:nvSpPr>
        <p:spPr>
          <a:xfrm>
            <a:off x="2024034" y="1669309"/>
            <a:ext cx="7572428" cy="1938992"/>
          </a:xfrm>
          <a:prstGeom prst="rect">
            <a:avLst/>
          </a:prstGeom>
        </p:spPr>
        <p:txBody>
          <a:bodyPr wrap="square">
            <a:spAutoFit/>
          </a:bodyPr>
          <a:lstStyle/>
          <a:p>
            <a:r>
              <a:rPr lang="ru-RU" sz="2400" b="1" dirty="0"/>
              <a:t>Функциональность</a:t>
            </a:r>
            <a:r>
              <a:rPr lang="ru-RU" sz="2400" dirty="0"/>
              <a:t> (</a:t>
            </a:r>
            <a:r>
              <a:rPr lang="ru-RU" sz="2400" dirty="0" err="1"/>
              <a:t>Functionality</a:t>
            </a:r>
            <a:r>
              <a:rPr lang="ru-RU" sz="2400" dirty="0"/>
              <a:t>) - определяется способностью ПО решать задачи, которые соответствуют зафиксированным и предполагаемым потребностям пользователя, при заданных условиях использования ПО</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Характеристики качества ПО</a:t>
            </a:r>
          </a:p>
        </p:txBody>
      </p:sp>
      <p:sp>
        <p:nvSpPr>
          <p:cNvPr id="4" name="Прямоугольник 3"/>
          <p:cNvSpPr/>
          <p:nvPr/>
        </p:nvSpPr>
        <p:spPr>
          <a:xfrm>
            <a:off x="2024034" y="1669309"/>
            <a:ext cx="7572428" cy="3046988"/>
          </a:xfrm>
          <a:prstGeom prst="rect">
            <a:avLst/>
          </a:prstGeom>
        </p:spPr>
        <p:txBody>
          <a:bodyPr wrap="square">
            <a:spAutoFit/>
          </a:bodyPr>
          <a:lstStyle/>
          <a:p>
            <a:r>
              <a:rPr lang="ru-RU" sz="2400" b="1" dirty="0"/>
              <a:t>Надежность</a:t>
            </a:r>
            <a:r>
              <a:rPr lang="ru-RU" sz="2400" dirty="0"/>
              <a:t> (</a:t>
            </a:r>
            <a:r>
              <a:rPr lang="ru-RU" sz="2400" dirty="0" err="1"/>
              <a:t>Reliability</a:t>
            </a:r>
            <a:r>
              <a:rPr lang="ru-RU" sz="2400" dirty="0"/>
              <a:t>) – способность ПО выполнять требуемые задачи в обозначенных условиях на протяжении заданного промежутка времени или указанное количество операций. </a:t>
            </a:r>
            <a:r>
              <a:rPr lang="ru-RU" sz="2400" b="1" dirty="0"/>
              <a:t>Атрибуты надежности:</a:t>
            </a:r>
          </a:p>
          <a:p>
            <a:pPr>
              <a:buFont typeface="Wingdings" pitchFamily="2" charset="2"/>
              <a:buChar char="Ø"/>
            </a:pPr>
            <a:r>
              <a:rPr lang="ru-RU" sz="2400" dirty="0"/>
              <a:t>завершенность и целостность всей системы;</a:t>
            </a:r>
          </a:p>
          <a:p>
            <a:pPr>
              <a:buFont typeface="Wingdings" pitchFamily="2" charset="2"/>
              <a:buChar char="Ø"/>
            </a:pPr>
            <a:r>
              <a:rPr lang="ru-RU" sz="2400" dirty="0"/>
              <a:t>способность самостоятельно и корректно;</a:t>
            </a:r>
          </a:p>
          <a:p>
            <a:pPr>
              <a:buFont typeface="Wingdings" pitchFamily="2" charset="2"/>
              <a:buChar char="Ø"/>
            </a:pPr>
            <a:r>
              <a:rPr lang="ru-RU" sz="2400" dirty="0"/>
              <a:t>восстанавливаться после сбоев в работе;</a:t>
            </a:r>
          </a:p>
          <a:p>
            <a:pPr>
              <a:buFont typeface="Wingdings" pitchFamily="2" charset="2"/>
              <a:buChar char="Ø"/>
            </a:pPr>
            <a:r>
              <a:rPr lang="ru-RU" sz="2400" dirty="0"/>
              <a:t>отказоустойчивость</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Характеристики качества ПО</a:t>
            </a:r>
          </a:p>
        </p:txBody>
      </p:sp>
      <p:sp>
        <p:nvSpPr>
          <p:cNvPr id="4" name="Прямоугольник 3"/>
          <p:cNvSpPr/>
          <p:nvPr/>
        </p:nvSpPr>
        <p:spPr>
          <a:xfrm>
            <a:off x="2024034" y="1669310"/>
            <a:ext cx="7572428" cy="1200329"/>
          </a:xfrm>
          <a:prstGeom prst="rect">
            <a:avLst/>
          </a:prstGeom>
        </p:spPr>
        <p:txBody>
          <a:bodyPr wrap="square">
            <a:spAutoFit/>
          </a:bodyPr>
          <a:lstStyle/>
          <a:p>
            <a:r>
              <a:rPr lang="ru-RU" sz="2400" b="1" dirty="0"/>
              <a:t>Удобство использования</a:t>
            </a:r>
            <a:r>
              <a:rPr lang="ru-RU" sz="2400" dirty="0"/>
              <a:t> (</a:t>
            </a:r>
            <a:r>
              <a:rPr lang="ru-RU" sz="2400" dirty="0" err="1"/>
              <a:t>Usability</a:t>
            </a:r>
            <a:r>
              <a:rPr lang="ru-RU" sz="2400" dirty="0"/>
              <a:t>) – возможность легкого понимания, изучения, использования и привлекательности ПО для пользователя</a:t>
            </a:r>
          </a:p>
        </p:txBody>
      </p:sp>
      <p:sp>
        <p:nvSpPr>
          <p:cNvPr id="5" name="Прямоугольник 4"/>
          <p:cNvSpPr/>
          <p:nvPr/>
        </p:nvSpPr>
        <p:spPr>
          <a:xfrm>
            <a:off x="2024034" y="3085927"/>
            <a:ext cx="7572428" cy="1569660"/>
          </a:xfrm>
          <a:prstGeom prst="rect">
            <a:avLst/>
          </a:prstGeom>
        </p:spPr>
        <p:txBody>
          <a:bodyPr wrap="square">
            <a:spAutoFit/>
          </a:bodyPr>
          <a:lstStyle/>
          <a:p>
            <a:r>
              <a:rPr lang="ru-RU" sz="2400" b="1" dirty="0"/>
              <a:t>Эффективность</a:t>
            </a:r>
            <a:r>
              <a:rPr lang="ru-RU" sz="2400" dirty="0"/>
              <a:t> (</a:t>
            </a:r>
            <a:r>
              <a:rPr lang="ru-RU" sz="2400" dirty="0" err="1"/>
              <a:t>Efficiency</a:t>
            </a:r>
            <a:r>
              <a:rPr lang="ru-RU" sz="2400" dirty="0"/>
              <a:t>) – способность ПО обеспечивать требуемый уровень производительности в соответствие с выделенными ресурсами, временем и другими обозначенными условиями</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Характеристики качества ПО</a:t>
            </a:r>
          </a:p>
        </p:txBody>
      </p:sp>
      <p:sp>
        <p:nvSpPr>
          <p:cNvPr id="4" name="Прямоугольник 3"/>
          <p:cNvSpPr/>
          <p:nvPr/>
        </p:nvSpPr>
        <p:spPr>
          <a:xfrm>
            <a:off x="2024034" y="1669309"/>
            <a:ext cx="7572428" cy="2308324"/>
          </a:xfrm>
          <a:prstGeom prst="rect">
            <a:avLst/>
          </a:prstGeom>
        </p:spPr>
        <p:txBody>
          <a:bodyPr wrap="square">
            <a:spAutoFit/>
          </a:bodyPr>
          <a:lstStyle/>
          <a:p>
            <a:r>
              <a:rPr lang="ru-RU" sz="2400" b="1" dirty="0"/>
              <a:t>Удобство сопровождения</a:t>
            </a:r>
            <a:r>
              <a:rPr lang="ru-RU" sz="2400" dirty="0"/>
              <a:t> (</a:t>
            </a:r>
            <a:r>
              <a:rPr lang="ru-RU" sz="2400" dirty="0" err="1"/>
              <a:t>Maintainability</a:t>
            </a:r>
            <a:r>
              <a:rPr lang="ru-RU" sz="2400" dirty="0"/>
              <a:t>) – легкость, с которой ПО может анализироваться, тестироваться, изменяться для исправления дефектов, для реализации новых требований, для облегчения дальнейшего обслуживания и адаптироваться к именующемуся окружению</a:t>
            </a:r>
          </a:p>
        </p:txBody>
      </p:sp>
      <p:sp>
        <p:nvSpPr>
          <p:cNvPr id="5" name="Прямоугольник 4"/>
          <p:cNvSpPr/>
          <p:nvPr/>
        </p:nvSpPr>
        <p:spPr>
          <a:xfrm>
            <a:off x="2024034" y="4133215"/>
            <a:ext cx="7572428" cy="1200329"/>
          </a:xfrm>
          <a:prstGeom prst="rect">
            <a:avLst/>
          </a:prstGeom>
        </p:spPr>
        <p:txBody>
          <a:bodyPr wrap="square">
            <a:spAutoFit/>
          </a:bodyPr>
          <a:lstStyle/>
          <a:p>
            <a:r>
              <a:rPr lang="ru-RU" sz="2400" b="1" dirty="0"/>
              <a:t>Портативность</a:t>
            </a:r>
            <a:r>
              <a:rPr lang="ru-RU" sz="2400" dirty="0"/>
              <a:t> (</a:t>
            </a:r>
            <a:r>
              <a:rPr lang="ru-RU" sz="2400" dirty="0" err="1"/>
              <a:t>Portability</a:t>
            </a:r>
            <a:r>
              <a:rPr lang="ru-RU" sz="2400" dirty="0"/>
              <a:t>) – характеризует ПО с точки зрения легкости его переноса из одного окружения (</a:t>
            </a:r>
            <a:r>
              <a:rPr lang="ru-RU" sz="2400" dirty="0" err="1"/>
              <a:t>software</a:t>
            </a:r>
            <a:r>
              <a:rPr lang="ru-RU" sz="2400" dirty="0"/>
              <a:t>/</a:t>
            </a:r>
            <a:r>
              <a:rPr lang="ru-RU" sz="2400" dirty="0" err="1"/>
              <a:t>hardware</a:t>
            </a:r>
            <a:r>
              <a:rPr lang="ru-RU" sz="2400" dirty="0"/>
              <a:t>) в другое</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Модель качества ПО</a:t>
            </a:r>
          </a:p>
        </p:txBody>
      </p:sp>
      <p:sp>
        <p:nvSpPr>
          <p:cNvPr id="10" name="Прямоугольник 9"/>
          <p:cNvSpPr/>
          <p:nvPr/>
        </p:nvSpPr>
        <p:spPr>
          <a:xfrm>
            <a:off x="2024034" y="1669310"/>
            <a:ext cx="7572428" cy="830997"/>
          </a:xfrm>
          <a:prstGeom prst="rect">
            <a:avLst/>
          </a:prstGeom>
        </p:spPr>
        <p:txBody>
          <a:bodyPr wrap="square">
            <a:spAutoFit/>
          </a:bodyPr>
          <a:lstStyle/>
          <a:p>
            <a:r>
              <a:rPr lang="ru-RU" sz="2400" b="1" dirty="0"/>
              <a:t>многоуровневая модель качества программного обеспечения</a:t>
            </a:r>
            <a:r>
              <a:rPr lang="ru-RU" sz="2400" dirty="0"/>
              <a:t>,</a:t>
            </a:r>
          </a:p>
        </p:txBody>
      </p:sp>
      <p:sp>
        <p:nvSpPr>
          <p:cNvPr id="11" name="Прямоугольник 10"/>
          <p:cNvSpPr/>
          <p:nvPr/>
        </p:nvSpPr>
        <p:spPr>
          <a:xfrm>
            <a:off x="4881554" y="2643182"/>
            <a:ext cx="4572000" cy="369332"/>
          </a:xfrm>
          <a:prstGeom prst="rect">
            <a:avLst/>
          </a:prstGeom>
        </p:spPr>
        <p:txBody>
          <a:bodyPr>
            <a:spAutoFit/>
          </a:bodyPr>
          <a:lstStyle/>
          <a:p>
            <a:r>
              <a:rPr lang="en-US" i="1" dirty="0"/>
              <a:t>ISO 9126</a:t>
            </a:r>
            <a:endParaRPr lang="ru-R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4034" y="285728"/>
            <a:ext cx="8229600" cy="1143000"/>
          </a:xfrm>
        </p:spPr>
        <p:txBody>
          <a:bodyPr>
            <a:normAutofit/>
          </a:bodyPr>
          <a:lstStyle/>
          <a:p>
            <a:r>
              <a:rPr lang="ru-RU" b="1" dirty="0"/>
              <a:t>Модель качества ПО</a:t>
            </a:r>
          </a:p>
        </p:txBody>
      </p:sp>
      <p:pic>
        <p:nvPicPr>
          <p:cNvPr id="1026" name="Picture 2"/>
          <p:cNvPicPr>
            <a:picLocks noChangeAspect="1" noChangeArrowheads="1"/>
          </p:cNvPicPr>
          <p:nvPr/>
        </p:nvPicPr>
        <p:blipFill>
          <a:blip r:embed="rId2"/>
          <a:srcRect/>
          <a:stretch>
            <a:fillRect/>
          </a:stretch>
        </p:blipFill>
        <p:spPr bwMode="auto">
          <a:xfrm>
            <a:off x="3309919" y="1785927"/>
            <a:ext cx="5091113" cy="4694237"/>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559569-3EC2-4AA7-BE3D-E933C0D8E014}"/>
              </a:ext>
            </a:extLst>
          </p:cNvPr>
          <p:cNvSpPr>
            <a:spLocks noGrp="1"/>
          </p:cNvSpPr>
          <p:nvPr>
            <p:ph type="title"/>
          </p:nvPr>
        </p:nvSpPr>
        <p:spPr/>
        <p:txBody>
          <a:bodyPr/>
          <a:lstStyle/>
          <a:p>
            <a:r>
              <a:rPr lang="ru-RU" b="1">
                <a:solidFill>
                  <a:srgbClr val="330066"/>
                </a:solidFill>
                <a:latin typeface="Times New Roman" panose="02020603050405020304" pitchFamily="18" charset="0"/>
                <a:ea typeface="Times New Roman" panose="02020603050405020304" pitchFamily="18" charset="0"/>
              </a:rPr>
              <a:t>Функциональное тестирование пользовательских интерфейсов</a:t>
            </a:r>
            <a:endParaRPr lang="ru-RU"/>
          </a:p>
        </p:txBody>
      </p:sp>
      <p:sp>
        <p:nvSpPr>
          <p:cNvPr id="3" name="Объект 2">
            <a:extLst>
              <a:ext uri="{FF2B5EF4-FFF2-40B4-BE49-F238E27FC236}">
                <a16:creationId xmlns:a16="http://schemas.microsoft.com/office/drawing/2014/main" id="{1CFDD24B-AD0F-4FF4-A327-6F09C9423973}"/>
              </a:ext>
            </a:extLst>
          </p:cNvPr>
          <p:cNvSpPr>
            <a:spLocks noGrp="1"/>
          </p:cNvSpPr>
          <p:nvPr>
            <p:ph idx="1"/>
          </p:nvPr>
        </p:nvSpPr>
        <p:spPr/>
        <p:txBody>
          <a:bodyPr>
            <a:normAutofit lnSpcReduction="10000"/>
          </a:bodyPr>
          <a:lstStyle/>
          <a:p>
            <a:pPr marL="342900" lvl="0" indent="-342900" algn="just">
              <a:spcAft>
                <a:spcPts val="0"/>
              </a:spcAf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анализ требований к пользовательскому интерфейсу;</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разработка тест-требований и тест-планов для проверки пользовательского интерфейса;</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выполнение тестовых примеров и сбор информации о выполнении тестов;</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определение полноты покрытия пользовательского интерфейса требованиями;</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составление отчетов о проблемах в случае несовпадения поведения системы и требований либо в случае отсутствия требований на отдельные интерфейсные элементы.</a:t>
            </a:r>
            <a:endParaRPr lang="ru-RU" dirty="0">
              <a:solidFill>
                <a:srgbClr val="000000"/>
              </a:solidFill>
              <a:latin typeface="Times New Roman" panose="02020603050405020304" pitchFamily="18" charset="0"/>
              <a:ea typeface="Calibri" panose="020F0502020204030204" pitchFamily="34" charset="0"/>
            </a:endParaRPr>
          </a:p>
          <a:p>
            <a:endParaRPr lang="ru-RU" dirty="0"/>
          </a:p>
        </p:txBody>
      </p:sp>
    </p:spTree>
    <p:extLst>
      <p:ext uri="{BB962C8B-B14F-4D97-AF65-F5344CB8AC3E}">
        <p14:creationId xmlns:p14="http://schemas.microsoft.com/office/powerpoint/2010/main" val="1336874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510F16-6251-4019-A581-20D14FAA1B20}"/>
              </a:ext>
            </a:extLst>
          </p:cNvPr>
          <p:cNvSpPr>
            <a:spLocks noGrp="1"/>
          </p:cNvSpPr>
          <p:nvPr>
            <p:ph type="title"/>
          </p:nvPr>
        </p:nvSpPr>
        <p:spPr/>
        <p:txBody>
          <a:bodyPr/>
          <a:lstStyle/>
          <a:p>
            <a:r>
              <a:rPr lang="ru-RU" b="1">
                <a:solidFill>
                  <a:srgbClr val="330066"/>
                </a:solidFill>
                <a:latin typeface="Times New Roman" panose="02020603050405020304" pitchFamily="18" charset="0"/>
                <a:ea typeface="Times New Roman" panose="02020603050405020304" pitchFamily="18" charset="0"/>
              </a:rPr>
              <a:t>Проверка требований к пользовательскому интерфейсу</a:t>
            </a:r>
            <a:endParaRPr lang="ru-RU"/>
          </a:p>
        </p:txBody>
      </p:sp>
      <p:sp>
        <p:nvSpPr>
          <p:cNvPr id="3" name="Объект 2">
            <a:extLst>
              <a:ext uri="{FF2B5EF4-FFF2-40B4-BE49-F238E27FC236}">
                <a16:creationId xmlns:a16="http://schemas.microsoft.com/office/drawing/2014/main" id="{70965ED2-C1C2-4EC6-BD71-77FC620684C4}"/>
              </a:ext>
            </a:extLst>
          </p:cNvPr>
          <p:cNvSpPr>
            <a:spLocks noGrp="1"/>
          </p:cNvSpPr>
          <p:nvPr>
            <p:ph idx="1"/>
          </p:nvPr>
        </p:nvSpPr>
        <p:spPr/>
        <p:txBody>
          <a:bodyPr/>
          <a:lstStyle/>
          <a:p>
            <a:pPr marL="342900" lvl="0" indent="-342900" algn="just">
              <a:spcAft>
                <a:spcPts val="0"/>
              </a:spcAf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требования к внешнему виду пользовательского интерфейса и формам взаимодействия с пользователем;</a:t>
            </a:r>
            <a:endParaRPr lang="ru-RU" dirty="0">
              <a:solidFill>
                <a:srgbClr val="000000"/>
              </a:solidFill>
              <a:latin typeface="Times New Roman" panose="02020603050405020304" pitchFamily="18" charset="0"/>
              <a:ea typeface="Calibri" panose="020F0502020204030204" pitchFamily="34" charset="0"/>
            </a:endParaRPr>
          </a:p>
          <a:p>
            <a:r>
              <a:rPr lang="ru-RU" dirty="0">
                <a:solidFill>
                  <a:srgbClr val="000000"/>
                </a:solidFill>
                <a:latin typeface="Times New Roman" panose="02020603050405020304" pitchFamily="18" charset="0"/>
                <a:ea typeface="Times New Roman" panose="02020603050405020304" pitchFamily="18" charset="0"/>
              </a:rPr>
              <a:t>требования по доступу к внутренней функциональности системы при помощи пользовательского интерфейса</a:t>
            </a:r>
            <a:endParaRPr lang="ru-RU" dirty="0"/>
          </a:p>
        </p:txBody>
      </p:sp>
    </p:spTree>
    <p:extLst>
      <p:ext uri="{BB962C8B-B14F-4D97-AF65-F5344CB8AC3E}">
        <p14:creationId xmlns:p14="http://schemas.microsoft.com/office/powerpoint/2010/main" val="3831639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D36F66-64D7-4D53-9298-45190B0D8409}"/>
              </a:ext>
            </a:extLst>
          </p:cNvPr>
          <p:cNvSpPr>
            <a:spLocks noGrp="1"/>
          </p:cNvSpPr>
          <p:nvPr>
            <p:ph type="title"/>
          </p:nvPr>
        </p:nvSpPr>
        <p:spPr>
          <a:xfrm>
            <a:off x="172528" y="365125"/>
            <a:ext cx="11542144" cy="1325563"/>
          </a:xfrm>
        </p:spPr>
        <p:txBody>
          <a:bodyPr>
            <a:normAutofit fontScale="90000"/>
          </a:bodyPr>
          <a:lstStyle/>
          <a:p>
            <a:pPr algn="ctr"/>
            <a:r>
              <a:rPr lang="ru-RU" b="1" dirty="0"/>
              <a:t>Требования к внешнему виду пользовательского интерфейса и формам взаимодействия с пользователем</a:t>
            </a:r>
          </a:p>
        </p:txBody>
      </p:sp>
      <p:sp>
        <p:nvSpPr>
          <p:cNvPr id="3" name="Объект 2">
            <a:extLst>
              <a:ext uri="{FF2B5EF4-FFF2-40B4-BE49-F238E27FC236}">
                <a16:creationId xmlns:a16="http://schemas.microsoft.com/office/drawing/2014/main" id="{63BD1F7C-E6A2-4428-A128-EA77BEDC9C9E}"/>
              </a:ext>
            </a:extLst>
          </p:cNvPr>
          <p:cNvSpPr>
            <a:spLocks noGrp="1"/>
          </p:cNvSpPr>
          <p:nvPr>
            <p:ph idx="1"/>
          </p:nvPr>
        </p:nvSpPr>
        <p:spPr/>
        <p:txBody>
          <a:bodyPr/>
          <a:lstStyle/>
          <a:p>
            <a:pPr marL="342900" lvl="0" indent="-342900" algn="just">
              <a:spcAft>
                <a:spcPts val="0"/>
              </a:spcAf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Требования к размещению элементов управления на экранных формах</a:t>
            </a:r>
          </a:p>
          <a:p>
            <a:pPr marL="342900" indent="-342900" algn="jus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Требования к содержанию и оформлению выводимых сообщений</a:t>
            </a:r>
          </a:p>
          <a:p>
            <a:pPr marL="342900" indent="-342900" algn="jus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Требования к форматам ввода</a:t>
            </a:r>
          </a:p>
          <a:p>
            <a:pPr marL="342900" indent="-342900" algn="jus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Требования к реакции системы на ввод пользователя</a:t>
            </a:r>
          </a:p>
          <a:p>
            <a:pPr marL="342900" indent="-342900" algn="just">
              <a:buSzPts val="1000"/>
              <a:buFont typeface="Symbol" panose="05050102010706020507" pitchFamily="18" charset="2"/>
              <a:buChar char=""/>
              <a:tabLst>
                <a:tab pos="457200" algn="l"/>
              </a:tabLst>
            </a:pPr>
            <a:r>
              <a:rPr lang="ru-RU" dirty="0">
                <a:solidFill>
                  <a:srgbClr val="000000"/>
                </a:solidFill>
                <a:latin typeface="Times New Roman" panose="02020603050405020304" pitchFamily="18" charset="0"/>
                <a:ea typeface="Times New Roman" panose="02020603050405020304" pitchFamily="18" charset="0"/>
              </a:rPr>
              <a:t>Требования к времени отклика на команды пользователя</a:t>
            </a:r>
            <a:endParaRPr lang="ru-RU" dirty="0">
              <a:solidFill>
                <a:srgbClr val="000000"/>
              </a:solidFill>
              <a:latin typeface="Times New Roman" panose="02020603050405020304" pitchFamily="18" charset="0"/>
              <a:ea typeface="Calibri" panose="020F0502020204030204" pitchFamily="34" charset="0"/>
            </a:endParaRPr>
          </a:p>
          <a:p>
            <a:pPr marL="0" indent="0" algn="just">
              <a:buSzPts val="1000"/>
              <a:buNone/>
              <a:tabLst>
                <a:tab pos="457200" algn="l"/>
              </a:tabLst>
            </a:pPr>
            <a:endParaRPr lang="ru-RU" dirty="0">
              <a:solidFill>
                <a:srgbClr val="000000"/>
              </a:solidFill>
              <a:latin typeface="Times New Roman" panose="02020603050405020304" pitchFamily="18" charset="0"/>
              <a:ea typeface="Calibri" panose="020F0502020204030204" pitchFamily="34" charset="0"/>
            </a:endParaRPr>
          </a:p>
          <a:p>
            <a:pPr marL="342900" indent="-342900" algn="just">
              <a:buSzPts val="1000"/>
              <a:buFont typeface="Symbol" panose="05050102010706020507" pitchFamily="18" charset="2"/>
              <a:buChar char=""/>
              <a:tabLst>
                <a:tab pos="457200" algn="l"/>
              </a:tabLst>
            </a:pP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endParaRPr lang="ru-RU" dirty="0">
              <a:solidFill>
                <a:srgbClr val="000000"/>
              </a:solidFill>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301561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C381C1-438E-4554-B92A-188B55C5CD46}"/>
              </a:ext>
            </a:extLst>
          </p:cNvPr>
          <p:cNvSpPr>
            <a:spLocks noGrp="1"/>
          </p:cNvSpPr>
          <p:nvPr>
            <p:ph type="title"/>
          </p:nvPr>
        </p:nvSpPr>
        <p:spPr>
          <a:xfrm>
            <a:off x="224287" y="365125"/>
            <a:ext cx="11835441" cy="1325563"/>
          </a:xfrm>
        </p:spPr>
        <p:txBody>
          <a:bodyPr>
            <a:normAutofit fontScale="90000"/>
          </a:bodyPr>
          <a:lstStyle/>
          <a:p>
            <a:r>
              <a:rPr lang="ru-RU" b="1">
                <a:solidFill>
                  <a:srgbClr val="330066"/>
                </a:solidFill>
                <a:latin typeface="Times New Roman" panose="02020603050405020304" pitchFamily="18" charset="0"/>
                <a:ea typeface="Times New Roman" panose="02020603050405020304" pitchFamily="18" charset="0"/>
              </a:rPr>
              <a:t>Методы проведения тестирования пользовательского интерфейса, повторяемость тестирования пользовательского интерфейса</a:t>
            </a:r>
            <a:endParaRPr lang="ru-RU"/>
          </a:p>
        </p:txBody>
      </p:sp>
      <p:sp>
        <p:nvSpPr>
          <p:cNvPr id="3" name="Объект 2">
            <a:extLst>
              <a:ext uri="{FF2B5EF4-FFF2-40B4-BE49-F238E27FC236}">
                <a16:creationId xmlns:a16="http://schemas.microsoft.com/office/drawing/2014/main" id="{3260E201-5EE3-4E6E-BBF4-466D4FB4898D}"/>
              </a:ext>
            </a:extLst>
          </p:cNvPr>
          <p:cNvSpPr>
            <a:spLocks noGrp="1"/>
          </p:cNvSpPr>
          <p:nvPr>
            <p:ph idx="1"/>
          </p:nvPr>
        </p:nvSpPr>
        <p:spPr>
          <a:xfrm>
            <a:off x="838200" y="2639683"/>
            <a:ext cx="10515600" cy="3537280"/>
          </a:xfrm>
        </p:spPr>
        <p:txBody>
          <a:bodyPr/>
          <a:lstStyle/>
          <a:p>
            <a:r>
              <a:rPr lang="ru-RU" b="1" dirty="0">
                <a:solidFill>
                  <a:srgbClr val="330066"/>
                </a:solidFill>
                <a:latin typeface="Times New Roman" panose="02020603050405020304" pitchFamily="18" charset="0"/>
                <a:ea typeface="Times New Roman" panose="02020603050405020304" pitchFamily="18" charset="0"/>
              </a:rPr>
              <a:t>Ручное тестирование</a:t>
            </a:r>
          </a:p>
          <a:p>
            <a:r>
              <a:rPr lang="ru-RU" b="1" dirty="0">
                <a:solidFill>
                  <a:srgbClr val="330066"/>
                </a:solidFill>
                <a:latin typeface="Times New Roman" panose="02020603050405020304" pitchFamily="18" charset="0"/>
                <a:ea typeface="Times New Roman" panose="02020603050405020304" pitchFamily="18" charset="0"/>
              </a:rPr>
              <a:t>Сценарии на формальных языках</a:t>
            </a:r>
          </a:p>
          <a:p>
            <a:endParaRPr lang="ru-RU" dirty="0"/>
          </a:p>
        </p:txBody>
      </p:sp>
    </p:spTree>
    <p:extLst>
      <p:ext uri="{BB962C8B-B14F-4D97-AF65-F5344CB8AC3E}">
        <p14:creationId xmlns:p14="http://schemas.microsoft.com/office/powerpoint/2010/main" val="3526009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A376E-6356-4724-8321-1DA40372E448}"/>
              </a:ext>
            </a:extLst>
          </p:cNvPr>
          <p:cNvSpPr>
            <a:spLocks noGrp="1"/>
          </p:cNvSpPr>
          <p:nvPr>
            <p:ph type="title"/>
          </p:nvPr>
        </p:nvSpPr>
        <p:spPr/>
        <p:txBody>
          <a:bodyPr/>
          <a:lstStyle/>
          <a:p>
            <a:r>
              <a:rPr lang="ru-RU" b="1">
                <a:solidFill>
                  <a:srgbClr val="330066"/>
                </a:solidFill>
                <a:latin typeface="Times New Roman" panose="02020603050405020304" pitchFamily="18" charset="0"/>
                <a:ea typeface="Times New Roman" panose="02020603050405020304" pitchFamily="18" charset="0"/>
              </a:rPr>
              <a:t>Тестирование удобства использования пользовательских интерфейсов</a:t>
            </a:r>
            <a:endParaRPr lang="ru-RU"/>
          </a:p>
        </p:txBody>
      </p:sp>
      <p:sp>
        <p:nvSpPr>
          <p:cNvPr id="3" name="Объект 2">
            <a:extLst>
              <a:ext uri="{FF2B5EF4-FFF2-40B4-BE49-F238E27FC236}">
                <a16:creationId xmlns:a16="http://schemas.microsoft.com/office/drawing/2014/main" id="{464C3AE0-FED1-42BF-B424-AC2523C1E23E}"/>
              </a:ext>
            </a:extLst>
          </p:cNvPr>
          <p:cNvSpPr>
            <a:spLocks noGrp="1"/>
          </p:cNvSpPr>
          <p:nvPr>
            <p:ph idx="1"/>
          </p:nvPr>
        </p:nvSpPr>
        <p:spPr/>
        <p:txBody>
          <a:bodyPr/>
          <a:lstStyle/>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легкость обучения</a:t>
            </a:r>
            <a:r>
              <a:rPr lang="ru-RU" dirty="0">
                <a:solidFill>
                  <a:srgbClr val="000000"/>
                </a:solidFill>
                <a:latin typeface="Times New Roman" panose="02020603050405020304" pitchFamily="18" charset="0"/>
                <a:ea typeface="Times New Roman" panose="02020603050405020304" pitchFamily="18" charset="0"/>
              </a:rPr>
              <a:t> - быстро ли человек учится использовать систему;</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эффективность обучения</a:t>
            </a:r>
            <a:r>
              <a:rPr lang="ru-RU" dirty="0">
                <a:solidFill>
                  <a:srgbClr val="000000"/>
                </a:solidFill>
                <a:latin typeface="Times New Roman" panose="02020603050405020304" pitchFamily="18" charset="0"/>
                <a:ea typeface="Times New Roman" panose="02020603050405020304" pitchFamily="18" charset="0"/>
              </a:rPr>
              <a:t> - быстро ли человек работает после обучения;</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запоминаемость обучения</a:t>
            </a:r>
            <a:r>
              <a:rPr lang="ru-RU" dirty="0">
                <a:solidFill>
                  <a:srgbClr val="000000"/>
                </a:solidFill>
                <a:latin typeface="Times New Roman" panose="02020603050405020304" pitchFamily="18" charset="0"/>
                <a:ea typeface="Times New Roman" panose="02020603050405020304" pitchFamily="18" charset="0"/>
              </a:rPr>
              <a:t> - легко ли запоминается все, чему человек научился;</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ошибки</a:t>
            </a:r>
            <a:r>
              <a:rPr lang="ru-RU" dirty="0">
                <a:solidFill>
                  <a:srgbClr val="000000"/>
                </a:solidFill>
                <a:latin typeface="Times New Roman" panose="02020603050405020304" pitchFamily="18" charset="0"/>
                <a:ea typeface="Times New Roman" panose="02020603050405020304" pitchFamily="18" charset="0"/>
              </a:rPr>
              <a:t> - часто ли человек допускает ошибки в работе;</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общая удовлетворенность</a:t>
            </a:r>
            <a:r>
              <a:rPr lang="ru-RU" dirty="0">
                <a:solidFill>
                  <a:srgbClr val="000000"/>
                </a:solidFill>
                <a:latin typeface="Times New Roman" panose="02020603050405020304" pitchFamily="18" charset="0"/>
                <a:ea typeface="Times New Roman" panose="02020603050405020304" pitchFamily="18" charset="0"/>
              </a:rPr>
              <a:t> - является ли общее впечатление от работы с системой положительным.</a:t>
            </a:r>
            <a:endParaRPr lang="ru-RU" dirty="0">
              <a:solidFill>
                <a:srgbClr val="000000"/>
              </a:solidFill>
              <a:latin typeface="Times New Roman" panose="02020603050405020304" pitchFamily="18" charset="0"/>
              <a:ea typeface="Calibri" panose="020F0502020204030204" pitchFamily="34" charset="0"/>
            </a:endParaRPr>
          </a:p>
          <a:p>
            <a:endParaRPr lang="ru-RU" dirty="0"/>
          </a:p>
        </p:txBody>
      </p:sp>
    </p:spTree>
    <p:extLst>
      <p:ext uri="{BB962C8B-B14F-4D97-AF65-F5344CB8AC3E}">
        <p14:creationId xmlns:p14="http://schemas.microsoft.com/office/powerpoint/2010/main" val="44517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CC5BE2-98D7-4FC4-BC09-9CC0398E3F22}"/>
              </a:ext>
            </a:extLst>
          </p:cNvPr>
          <p:cNvSpPr>
            <a:spLocks noGrp="1"/>
          </p:cNvSpPr>
          <p:nvPr>
            <p:ph type="title"/>
          </p:nvPr>
        </p:nvSpPr>
        <p:spPr/>
        <p:txBody>
          <a:bodyPr>
            <a:normAutofit fontScale="90000"/>
          </a:bodyPr>
          <a:lstStyle/>
          <a:p>
            <a:r>
              <a:rPr lang="ru-RU">
                <a:solidFill>
                  <a:srgbClr val="000000"/>
                </a:solidFill>
                <a:latin typeface="Times New Roman" panose="02020603050405020304" pitchFamily="18" charset="0"/>
                <a:ea typeface="Times New Roman" panose="02020603050405020304" pitchFamily="18" charset="0"/>
              </a:rPr>
              <a:t>этапы </a:t>
            </a:r>
            <a:r>
              <a:rPr lang="ru-RU" i="1">
                <a:solidFill>
                  <a:srgbClr val="000000"/>
                </a:solidFill>
                <a:latin typeface="Times New Roman" panose="02020603050405020304" pitchFamily="18" charset="0"/>
                <a:ea typeface="Times New Roman" panose="02020603050405020304" pitchFamily="18" charset="0"/>
              </a:rPr>
              <a:t>тестирования удобства использования</a:t>
            </a:r>
            <a:r>
              <a:rPr lang="ru-RU">
                <a:solidFill>
                  <a:srgbClr val="000000"/>
                </a:solidFill>
                <a:latin typeface="Times New Roman" panose="02020603050405020304" pitchFamily="18" charset="0"/>
                <a:ea typeface="Times New Roman" panose="02020603050405020304" pitchFamily="18" charset="0"/>
              </a:rPr>
              <a:t> пользовательского интерфейса</a:t>
            </a:r>
            <a:endParaRPr lang="ru-RU"/>
          </a:p>
        </p:txBody>
      </p:sp>
      <p:sp>
        <p:nvSpPr>
          <p:cNvPr id="3" name="Объект 2">
            <a:extLst>
              <a:ext uri="{FF2B5EF4-FFF2-40B4-BE49-F238E27FC236}">
                <a16:creationId xmlns:a16="http://schemas.microsoft.com/office/drawing/2014/main" id="{6D11EF76-6B36-4E40-A78B-59465610B49C}"/>
              </a:ext>
            </a:extLst>
          </p:cNvPr>
          <p:cNvSpPr>
            <a:spLocks noGrp="1"/>
          </p:cNvSpPr>
          <p:nvPr>
            <p:ph idx="1"/>
          </p:nvPr>
        </p:nvSpPr>
        <p:spPr>
          <a:xfrm>
            <a:off x="310551" y="1690688"/>
            <a:ext cx="11881449" cy="5167311"/>
          </a:xfrm>
        </p:spPr>
        <p:txBody>
          <a:bodyPr>
            <a:normAutofit lnSpcReduction="10000"/>
          </a:bodyPr>
          <a:lstStyle/>
          <a:p>
            <a:pPr marL="342900" lvl="0" indent="-342900" algn="just">
              <a:spcAft>
                <a:spcPts val="0"/>
              </a:spcAft>
              <a:buFont typeface="+mj-lt"/>
              <a:buAutoNum type="arabicPeriod"/>
              <a:tabLst>
                <a:tab pos="457200" algn="l"/>
              </a:tabLst>
            </a:pPr>
            <a:r>
              <a:rPr lang="ru-RU" b="1" dirty="0">
                <a:solidFill>
                  <a:srgbClr val="000000"/>
                </a:solidFill>
                <a:latin typeface="Times New Roman" panose="02020603050405020304" pitchFamily="18" charset="0"/>
                <a:ea typeface="Times New Roman" panose="02020603050405020304" pitchFamily="18" charset="0"/>
              </a:rPr>
              <a:t>Исследовательское</a:t>
            </a:r>
            <a:r>
              <a:rPr lang="ru-RU" dirty="0">
                <a:solidFill>
                  <a:srgbClr val="000000"/>
                </a:solidFill>
                <a:latin typeface="Times New Roman" panose="02020603050405020304" pitchFamily="18" charset="0"/>
                <a:ea typeface="Times New Roman" panose="02020603050405020304" pitchFamily="18" charset="0"/>
              </a:rPr>
              <a:t> - проводится после формулирования требований к системе и разработки прототипа интерфейса. Основная цель на этом этапе - провести высокоуровневое обследование интерфейса и выяснить, позволяет ли он с достаточной степенью эффективности решать задачи пользователя.</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Font typeface="+mj-lt"/>
              <a:buAutoNum type="arabicPeriod"/>
              <a:tabLst>
                <a:tab pos="457200" algn="l"/>
              </a:tabLst>
            </a:pPr>
            <a:r>
              <a:rPr lang="ru-RU" b="1" dirty="0">
                <a:solidFill>
                  <a:srgbClr val="000000"/>
                </a:solidFill>
                <a:latin typeface="Times New Roman" panose="02020603050405020304" pitchFamily="18" charset="0"/>
                <a:ea typeface="Times New Roman" panose="02020603050405020304" pitchFamily="18" charset="0"/>
              </a:rPr>
              <a:t>Оценочное</a:t>
            </a:r>
            <a:r>
              <a:rPr lang="ru-RU" dirty="0">
                <a:solidFill>
                  <a:srgbClr val="000000"/>
                </a:solidFill>
                <a:latin typeface="Times New Roman" panose="02020603050405020304" pitchFamily="18" charset="0"/>
                <a:ea typeface="Times New Roman" panose="02020603050405020304" pitchFamily="18" charset="0"/>
              </a:rPr>
              <a:t> - проводится после разработки низкоуровневых требований и детализированного прототипа пользовательского интерфейса. Оценочное тестирование углубляет исследовательское и имеет ту же цель. На данном этапе уже проводятся количественные измерения характеристик пользовательского интерфейса: измеряются количество обращений к системе помощи по отношению к количеству совершенных операций, количество ошибочных операций, время устранения последствий ошибочных операций и т.п.</a:t>
            </a:r>
            <a:endParaRPr lang="ru-RU" dirty="0">
              <a:solidFill>
                <a:srgbClr val="000000"/>
              </a:solidFill>
              <a:latin typeface="Times New Roman" panose="02020603050405020304" pitchFamily="18" charset="0"/>
              <a:ea typeface="Calibri" panose="020F0502020204030204" pitchFamily="34" charset="0"/>
            </a:endParaRPr>
          </a:p>
          <a:p>
            <a:endParaRPr lang="ru-RU" dirty="0"/>
          </a:p>
        </p:txBody>
      </p:sp>
    </p:spTree>
    <p:extLst>
      <p:ext uri="{BB962C8B-B14F-4D97-AF65-F5344CB8AC3E}">
        <p14:creationId xmlns:p14="http://schemas.microsoft.com/office/powerpoint/2010/main" val="1437208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AC278C-DDFD-4460-98CC-05AD1C0E3A3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19F2D4B7-2DB3-41DE-B629-B897F243FF1E}"/>
              </a:ext>
            </a:extLst>
          </p:cNvPr>
          <p:cNvSpPr>
            <a:spLocks noGrp="1"/>
          </p:cNvSpPr>
          <p:nvPr>
            <p:ph idx="1"/>
          </p:nvPr>
        </p:nvSpPr>
        <p:spPr>
          <a:xfrm>
            <a:off x="838200" y="365125"/>
            <a:ext cx="10515600" cy="5811838"/>
          </a:xfrm>
        </p:spPr>
        <p:txBody>
          <a:bodyPr>
            <a:normAutofit lnSpcReduction="10000"/>
          </a:bodyPr>
          <a:lstStyle/>
          <a:p>
            <a:pPr marL="342900" lvl="0" indent="-342900" algn="just">
              <a:spcAft>
                <a:spcPts val="0"/>
              </a:spcAft>
              <a:buFont typeface="+mj-lt"/>
              <a:buAutoNum type="arabicPeriod"/>
              <a:tabLst>
                <a:tab pos="457200" algn="l"/>
              </a:tabLst>
            </a:pPr>
            <a:r>
              <a:rPr lang="ru-RU" b="1">
                <a:solidFill>
                  <a:srgbClr val="000000"/>
                </a:solidFill>
                <a:latin typeface="Times New Roman" panose="02020603050405020304" pitchFamily="18" charset="0"/>
                <a:ea typeface="Times New Roman" panose="02020603050405020304" pitchFamily="18" charset="0"/>
              </a:rPr>
              <a:t>Валидационное</a:t>
            </a:r>
            <a:r>
              <a:rPr lang="ru-RU">
                <a:solidFill>
                  <a:srgbClr val="000000"/>
                </a:solidFill>
                <a:latin typeface="Times New Roman" panose="02020603050405020304" pitchFamily="18" charset="0"/>
                <a:ea typeface="Times New Roman" panose="02020603050405020304" pitchFamily="18" charset="0"/>
              </a:rPr>
              <a:t> - проводится ближе к этапу завершения разработки. На этом этапе проводится анализ соответствия интерфейса программной системы стандартам, регламентирующим вопросы удобства интерфейса (например ISO 13407 [</a:t>
            </a:r>
            <a:r>
              <a:rPr lang="ru-RU">
                <a:solidFill>
                  <a:srgbClr val="0000FF"/>
                </a:solidFill>
                <a:latin typeface="Times New Roman" panose="02020603050405020304" pitchFamily="18" charset="0"/>
                <a:ea typeface="Times New Roman" panose="02020603050405020304" pitchFamily="18" charset="0"/>
                <a:hlinkClick r:id="rId2"/>
              </a:rPr>
              <a:t>31</a:t>
            </a:r>
            <a:r>
              <a:rPr lang="ru-RU">
                <a:solidFill>
                  <a:srgbClr val="000000"/>
                </a:solidFill>
                <a:latin typeface="Times New Roman" panose="02020603050405020304" pitchFamily="18" charset="0"/>
                <a:ea typeface="Times New Roman" panose="02020603050405020304" pitchFamily="18" charset="0"/>
              </a:rPr>
              <a:t>], ISO 9126 [</a:t>
            </a:r>
            <a:r>
              <a:rPr lang="ru-RU">
                <a:solidFill>
                  <a:srgbClr val="0000FF"/>
                </a:solidFill>
                <a:latin typeface="Times New Roman" panose="02020603050405020304" pitchFamily="18" charset="0"/>
                <a:ea typeface="Times New Roman" panose="02020603050405020304" pitchFamily="18" charset="0"/>
                <a:hlinkClick r:id="rId2"/>
              </a:rPr>
              <a:t>32</a:t>
            </a:r>
            <a:r>
              <a:rPr lang="ru-RU">
                <a:solidFill>
                  <a:srgbClr val="000000"/>
                </a:solidFill>
                <a:latin typeface="Times New Roman" panose="02020603050405020304" pitchFamily="18" charset="0"/>
                <a:ea typeface="Times New Roman" panose="02020603050405020304" pitchFamily="18" charset="0"/>
              </a:rPr>
              <a:t>]), проводится общее тестирование всех компонент пользовательского интерфейса с точки зрения конечного пользователя. Под компонентами интерфейса здесь понимается как его программная реализация, так и система помощи и руководство пользователя. Также на данном этапе проверяется отсутствие дефектов удобства использования интерфейса, выявленных на предыдущих этапах.</a:t>
            </a:r>
            <a:endParaRPr lang="ru-RU">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Font typeface="+mj-lt"/>
              <a:buAutoNum type="arabicPeriod"/>
              <a:tabLst>
                <a:tab pos="457200" algn="l"/>
              </a:tabLst>
            </a:pPr>
            <a:r>
              <a:rPr lang="ru-RU" b="1">
                <a:solidFill>
                  <a:srgbClr val="000000"/>
                </a:solidFill>
                <a:latin typeface="Times New Roman" panose="02020603050405020304" pitchFamily="18" charset="0"/>
                <a:ea typeface="Times New Roman" panose="02020603050405020304" pitchFamily="18" charset="0"/>
              </a:rPr>
              <a:t>Сравнительное</a:t>
            </a:r>
            <a:r>
              <a:rPr lang="ru-RU">
                <a:solidFill>
                  <a:srgbClr val="000000"/>
                </a:solidFill>
                <a:latin typeface="Times New Roman" panose="02020603050405020304" pitchFamily="18" charset="0"/>
                <a:ea typeface="Times New Roman" panose="02020603050405020304" pitchFamily="18" charset="0"/>
              </a:rPr>
              <a:t> - данный вид тестирования может проводиться на любом этапе разработки интерфейса. В ходе сравнительного тестирования сравниваются два или более вариантов реализации пользовательского интерфейса.</a:t>
            </a:r>
            <a:endParaRPr lang="ru-RU">
              <a:solidFill>
                <a:srgbClr val="000000"/>
              </a:solidFill>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620758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9FA742-9675-486B-B229-0A28C6F82527}"/>
              </a:ext>
            </a:extLst>
          </p:cNvPr>
          <p:cNvSpPr>
            <a:spLocks noGrp="1"/>
          </p:cNvSpPr>
          <p:nvPr>
            <p:ph type="title"/>
          </p:nvPr>
        </p:nvSpPr>
        <p:spPr/>
        <p:txBody>
          <a:bodyPr/>
          <a:lstStyle/>
          <a:p>
            <a:r>
              <a:rPr lang="ru-RU" dirty="0">
                <a:solidFill>
                  <a:srgbClr val="000000"/>
                </a:solidFill>
                <a:latin typeface="Times New Roman" panose="02020603050405020304" pitchFamily="18" charset="0"/>
                <a:ea typeface="Times New Roman" panose="02020603050405020304" pitchFamily="18" charset="0"/>
              </a:rPr>
              <a:t>10 эвристических характеристик удобного пользовательского интерфейса</a:t>
            </a:r>
            <a:endParaRPr lang="ru-RU" dirty="0"/>
          </a:p>
        </p:txBody>
      </p:sp>
      <p:sp>
        <p:nvSpPr>
          <p:cNvPr id="3" name="Объект 2">
            <a:extLst>
              <a:ext uri="{FF2B5EF4-FFF2-40B4-BE49-F238E27FC236}">
                <a16:creationId xmlns:a16="http://schemas.microsoft.com/office/drawing/2014/main" id="{402E3EC8-30F2-4111-9697-F6AFAA774DDE}"/>
              </a:ext>
            </a:extLst>
          </p:cNvPr>
          <p:cNvSpPr>
            <a:spLocks noGrp="1"/>
          </p:cNvSpPr>
          <p:nvPr>
            <p:ph idx="1"/>
          </p:nvPr>
        </p:nvSpPr>
        <p:spPr>
          <a:xfrm>
            <a:off x="0" y="1825624"/>
            <a:ext cx="12192000" cy="4902979"/>
          </a:xfrm>
        </p:spPr>
        <p:txBody>
          <a:bodyPr>
            <a:normAutofit lnSpcReduction="10000"/>
          </a:bodyPr>
          <a:lstStyle/>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Наблюдаемость состояния системы</a:t>
            </a:r>
            <a:r>
              <a:rPr lang="ru-RU" dirty="0">
                <a:solidFill>
                  <a:srgbClr val="000000"/>
                </a:solidFill>
                <a:latin typeface="Times New Roman" panose="02020603050405020304" pitchFamily="18" charset="0"/>
                <a:ea typeface="Times New Roman" panose="02020603050405020304" pitchFamily="18" charset="0"/>
              </a:rPr>
              <a:t>. Система всегда должна оповещать пользователя о том, что она в данный момент делает, причем через разумные промежутки времени.</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Соотнесение с реальным миром</a:t>
            </a:r>
            <a:r>
              <a:rPr lang="ru-RU" dirty="0">
                <a:solidFill>
                  <a:srgbClr val="000000"/>
                </a:solidFill>
                <a:latin typeface="Times New Roman" panose="02020603050405020304" pitchFamily="18" charset="0"/>
                <a:ea typeface="Times New Roman" panose="02020603050405020304" pitchFamily="18" charset="0"/>
              </a:rPr>
              <a:t>. Терминология, использованная в интерфейсе системы должна соотноситься с пользовательским миром, т.е. это должна быть терминология проблемной области пользователя, а не техническая терминология.</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Пользовательское управление и свобода действий</a:t>
            </a:r>
            <a:r>
              <a:rPr lang="ru-RU" dirty="0">
                <a:solidFill>
                  <a:srgbClr val="000000"/>
                </a:solidFill>
                <a:latin typeface="Times New Roman" panose="02020603050405020304" pitchFamily="18" charset="0"/>
                <a:ea typeface="Times New Roman" panose="02020603050405020304" pitchFamily="18" charset="0"/>
              </a:rPr>
              <a:t>. Пользователи часто выбирают отдельные интерфейсные элементы и используют функции системы по ошибке. В этом случае необходимо предоставлять четко определенный "аварийный выход", при помощи которого можно вернуться к предыдущему нормальному состоянию. К таким "аварийным выходам" относятся, например, функции отката и обратного отката.</a:t>
            </a:r>
            <a:endParaRPr lang="ru-RU" dirty="0">
              <a:solidFill>
                <a:srgbClr val="000000"/>
              </a:solidFill>
              <a:latin typeface="Times New Roman" panose="02020603050405020304" pitchFamily="18" charset="0"/>
              <a:ea typeface="Calibri" panose="020F0502020204030204" pitchFamily="34" charset="0"/>
            </a:endParaRPr>
          </a:p>
          <a:p>
            <a:endParaRPr lang="ru-RU" dirty="0"/>
          </a:p>
        </p:txBody>
      </p:sp>
    </p:spTree>
    <p:extLst>
      <p:ext uri="{BB962C8B-B14F-4D97-AF65-F5344CB8AC3E}">
        <p14:creationId xmlns:p14="http://schemas.microsoft.com/office/powerpoint/2010/main" val="1193975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438F22-1E1F-4D9D-A9D1-3D0A15A9E50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750A7A7F-C1D5-4CBD-BE69-DE4CF20E29A9}"/>
              </a:ext>
            </a:extLst>
          </p:cNvPr>
          <p:cNvSpPr>
            <a:spLocks noGrp="1"/>
          </p:cNvSpPr>
          <p:nvPr>
            <p:ph idx="1"/>
          </p:nvPr>
        </p:nvSpPr>
        <p:spPr/>
        <p:txBody>
          <a:bodyPr/>
          <a:lstStyle/>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Целостность и стандарты</a:t>
            </a:r>
            <a:r>
              <a:rPr lang="ru-RU" dirty="0">
                <a:solidFill>
                  <a:srgbClr val="000000"/>
                </a:solidFill>
                <a:latin typeface="Times New Roman" panose="02020603050405020304" pitchFamily="18" charset="0"/>
                <a:ea typeface="Times New Roman" panose="02020603050405020304" pitchFamily="18" charset="0"/>
              </a:rPr>
              <a:t>. Для обозначения одних и тех же объектов, ситуаций и действий должны использоваться одинаковые слова во всех частях интерфейса. Более того, терминология сообщений в пользовательском интерфейсе должна учитывать соглашения конкретной платформы.</a:t>
            </a:r>
            <a:endParaRPr lang="ru-RU" dirty="0">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dirty="0">
                <a:solidFill>
                  <a:srgbClr val="000000"/>
                </a:solidFill>
                <a:latin typeface="Times New Roman" panose="02020603050405020304" pitchFamily="18" charset="0"/>
                <a:ea typeface="Times New Roman" panose="02020603050405020304" pitchFamily="18" charset="0"/>
              </a:rPr>
              <a:t>Помощь пользователям в распознавании, диагностике и устранении ошибок</a:t>
            </a:r>
            <a:r>
              <a:rPr lang="ru-RU" dirty="0">
                <a:solidFill>
                  <a:srgbClr val="000000"/>
                </a:solidFill>
                <a:latin typeface="Times New Roman" panose="02020603050405020304" pitchFamily="18" charset="0"/>
                <a:ea typeface="Times New Roman" panose="02020603050405020304" pitchFamily="18" charset="0"/>
              </a:rPr>
              <a:t>. Сообщения об ошибках должны быть написаны на естественном языке, а не заменяться кодами ошибок. Сообщения об ошибках должны четко определять суть возникшей проблемы и предлагать ее конструктивное решение.</a:t>
            </a:r>
            <a:endParaRPr lang="ru-RU" dirty="0">
              <a:solidFill>
                <a:srgbClr val="000000"/>
              </a:solidFill>
              <a:latin typeface="Times New Roman" panose="02020603050405020304" pitchFamily="18" charset="0"/>
              <a:ea typeface="Calibri" panose="020F0502020204030204" pitchFamily="34" charset="0"/>
            </a:endParaRPr>
          </a:p>
          <a:p>
            <a:endParaRPr lang="ru-RU" dirty="0"/>
          </a:p>
        </p:txBody>
      </p:sp>
    </p:spTree>
    <p:extLst>
      <p:ext uri="{BB962C8B-B14F-4D97-AF65-F5344CB8AC3E}">
        <p14:creationId xmlns:p14="http://schemas.microsoft.com/office/powerpoint/2010/main" val="1292905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DF1F82-CF0D-493C-8E7E-F2C3D064B1C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218F3911-4477-49E4-9524-74720E2A3192}"/>
              </a:ext>
            </a:extLst>
          </p:cNvPr>
          <p:cNvSpPr>
            <a:spLocks noGrp="1"/>
          </p:cNvSpPr>
          <p:nvPr>
            <p:ph idx="1"/>
          </p:nvPr>
        </p:nvSpPr>
        <p:spPr>
          <a:xfrm>
            <a:off x="327804" y="1104182"/>
            <a:ext cx="11864196" cy="5753818"/>
          </a:xfrm>
        </p:spPr>
        <p:txBody>
          <a:bodyPr>
            <a:normAutofit/>
          </a:bodyPr>
          <a:lstStyle/>
          <a:p>
            <a:pPr marL="342900" lvl="0" indent="-342900" algn="just">
              <a:spcAft>
                <a:spcPts val="0"/>
              </a:spcAft>
              <a:buSzPts val="1000"/>
              <a:buFont typeface="Symbol" panose="05050102010706020507" pitchFamily="18" charset="2"/>
              <a:buChar char=""/>
              <a:tabLst>
                <a:tab pos="457200" algn="l"/>
              </a:tabLst>
            </a:pPr>
            <a:r>
              <a:rPr lang="ru-RU" b="1">
                <a:solidFill>
                  <a:srgbClr val="000000"/>
                </a:solidFill>
                <a:latin typeface="Times New Roman" panose="02020603050405020304" pitchFamily="18" charset="0"/>
                <a:ea typeface="Times New Roman" panose="02020603050405020304" pitchFamily="18" charset="0"/>
              </a:rPr>
              <a:t>Предотвращение ошибок</a:t>
            </a:r>
            <a:r>
              <a:rPr lang="ru-RU">
                <a:solidFill>
                  <a:srgbClr val="000000"/>
                </a:solidFill>
                <a:latin typeface="Times New Roman" panose="02020603050405020304" pitchFamily="18" charset="0"/>
                <a:ea typeface="Times New Roman" panose="02020603050405020304" pitchFamily="18" charset="0"/>
              </a:rPr>
              <a:t>. Продуманный дизайн пользовательского интерфейса, предотвращающий появление ошибок пользователя, всегда лучше хорошо продуманных сообщений об ошибках. При проектировании интерфейса необходимо либо полностью устранить элементы, в которых могут возникать ошибки пользователя, либо проверять ввод пользователя в этих элементах и сообщать ему о потенциально возможном возникновении проблемы.</a:t>
            </a:r>
            <a:endParaRPr lang="ru-RU">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a:solidFill>
                  <a:srgbClr val="000000"/>
                </a:solidFill>
                <a:latin typeface="Times New Roman" panose="02020603050405020304" pitchFamily="18" charset="0"/>
                <a:ea typeface="Times New Roman" panose="02020603050405020304" pitchFamily="18" charset="0"/>
              </a:rPr>
              <a:t>Распознавание, а не вспоминание</a:t>
            </a:r>
            <a:r>
              <a:rPr lang="ru-RU">
                <a:solidFill>
                  <a:srgbClr val="000000"/>
                </a:solidFill>
                <a:latin typeface="Times New Roman" panose="02020603050405020304" pitchFamily="18" charset="0"/>
                <a:ea typeface="Times New Roman" panose="02020603050405020304" pitchFamily="18" charset="0"/>
              </a:rPr>
              <a:t>. При создании интерфейса необходимо минимизировать нагрузку на память пользователя, делая объекты, действия и опции ясными, доступными и явно видимыми. Пользователь не должен запоминать информацию при переходе от одного диалогового окна к другому. Во всех необходимых местах должны быть доступны контекстные инструкции по использованию интерфейса.</a:t>
            </a:r>
            <a:endParaRPr lang="ru-RU">
              <a:solidFill>
                <a:srgbClr val="000000"/>
              </a:solidFill>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462502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B1AA3E-C36B-4E9C-8D2A-6EA8BFD5C38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53CEFD88-EEDB-4CD0-9D85-64CB751BCFC9}"/>
              </a:ext>
            </a:extLst>
          </p:cNvPr>
          <p:cNvSpPr>
            <a:spLocks noGrp="1"/>
          </p:cNvSpPr>
          <p:nvPr>
            <p:ph idx="1"/>
          </p:nvPr>
        </p:nvSpPr>
        <p:spPr>
          <a:xfrm>
            <a:off x="241539" y="1449238"/>
            <a:ext cx="11628407" cy="5193101"/>
          </a:xfrm>
        </p:spPr>
        <p:txBody>
          <a:bodyPr>
            <a:normAutofit lnSpcReduction="10000"/>
          </a:bodyPr>
          <a:lstStyle/>
          <a:p>
            <a:pPr marL="342900" lvl="0" indent="-342900" algn="just">
              <a:spcAft>
                <a:spcPts val="0"/>
              </a:spcAft>
              <a:buSzPts val="1000"/>
              <a:buFont typeface="Symbol" panose="05050102010706020507" pitchFamily="18" charset="2"/>
              <a:buChar char=""/>
              <a:tabLst>
                <a:tab pos="457200" algn="l"/>
              </a:tabLst>
            </a:pPr>
            <a:r>
              <a:rPr lang="ru-RU" b="1">
                <a:solidFill>
                  <a:srgbClr val="000000"/>
                </a:solidFill>
                <a:latin typeface="Times New Roman" panose="02020603050405020304" pitchFamily="18" charset="0"/>
                <a:ea typeface="Times New Roman" panose="02020603050405020304" pitchFamily="18" charset="0"/>
              </a:rPr>
              <a:t>Гибкость и эффективность использования</a:t>
            </a:r>
            <a:r>
              <a:rPr lang="ru-RU">
                <a:solidFill>
                  <a:srgbClr val="000000"/>
                </a:solidFill>
                <a:latin typeface="Times New Roman" panose="02020603050405020304" pitchFamily="18" charset="0"/>
                <a:ea typeface="Times New Roman" panose="02020603050405020304" pitchFamily="18" charset="0"/>
              </a:rPr>
              <a:t>. В интерфейсе должны быть предусмотрены горячие клавиши (не обязательные к использованию начинающим пользователем) - они часто значительно ускоряют работу опытного пользователя. Иными словами, система должна предоставлять два способа работы - для новичков и для опытных пользователей. Желательно при этом давать возможность пользователю автоматизировать часто повторяющиеся действия.</a:t>
            </a:r>
            <a:endParaRPr lang="ru-RU">
              <a:solidFill>
                <a:srgbClr val="000000"/>
              </a:solidFill>
              <a:latin typeface="Times New Roman" panose="02020603050405020304" pitchFamily="18" charset="0"/>
              <a:ea typeface="Calibri" panose="020F0502020204030204" pitchFamily="34" charset="0"/>
            </a:endParaRPr>
          </a:p>
          <a:p>
            <a:pPr marL="342900" lvl="0" indent="-342900" algn="just">
              <a:spcAft>
                <a:spcPts val="0"/>
              </a:spcAft>
              <a:buSzPts val="1000"/>
              <a:buFont typeface="Symbol" panose="05050102010706020507" pitchFamily="18" charset="2"/>
              <a:buChar char=""/>
              <a:tabLst>
                <a:tab pos="457200" algn="l"/>
              </a:tabLst>
            </a:pPr>
            <a:r>
              <a:rPr lang="ru-RU" b="1">
                <a:solidFill>
                  <a:srgbClr val="000000"/>
                </a:solidFill>
                <a:latin typeface="Times New Roman" panose="02020603050405020304" pitchFamily="18" charset="0"/>
                <a:ea typeface="Times New Roman" panose="02020603050405020304" pitchFamily="18" charset="0"/>
              </a:rPr>
              <a:t>Эстетичный и минимально необходимый дизайн</a:t>
            </a:r>
            <a:r>
              <a:rPr lang="ru-RU">
                <a:solidFill>
                  <a:srgbClr val="000000"/>
                </a:solidFill>
                <a:latin typeface="Times New Roman" panose="02020603050405020304" pitchFamily="18" charset="0"/>
                <a:ea typeface="Times New Roman" panose="02020603050405020304" pitchFamily="18" charset="0"/>
              </a:rPr>
              <a:t>. Окна не должны содержать не относящуюся к делу или редко используемую информацию. Каждый интерфейсный элемент, содержащий бесполезную информацию, играет роль информационного шума и отвлекает пользователя от действительно полезных интерфейсных элементов.</a:t>
            </a:r>
            <a:endParaRPr lang="ru-RU">
              <a:solidFill>
                <a:srgbClr val="000000"/>
              </a:solidFill>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42712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076563-A1BD-4D22-8AC6-922B2207841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C638D8A-17D0-4726-800A-7BCED3B6DBAD}"/>
              </a:ext>
            </a:extLst>
          </p:cNvPr>
          <p:cNvSpPr>
            <a:spLocks noGrp="1"/>
          </p:cNvSpPr>
          <p:nvPr>
            <p:ph idx="1"/>
          </p:nvPr>
        </p:nvSpPr>
        <p:spPr>
          <a:xfrm>
            <a:off x="258791" y="1690688"/>
            <a:ext cx="11766431" cy="5020663"/>
          </a:xfrm>
        </p:spPr>
        <p:txBody>
          <a:bodyPr/>
          <a:lstStyle/>
          <a:p>
            <a:pPr marL="342900" lvl="0" indent="-342900" algn="just">
              <a:spcAft>
                <a:spcPts val="0"/>
              </a:spcAft>
              <a:buSzPts val="1000"/>
              <a:buFont typeface="Symbol" panose="05050102010706020507" pitchFamily="18" charset="2"/>
              <a:buChar char=""/>
              <a:tabLst>
                <a:tab pos="457200" algn="l"/>
              </a:tabLst>
            </a:pPr>
            <a:r>
              <a:rPr lang="ru-RU" b="1">
                <a:solidFill>
                  <a:srgbClr val="000000"/>
                </a:solidFill>
                <a:latin typeface="Times New Roman" panose="02020603050405020304" pitchFamily="18" charset="0"/>
                <a:ea typeface="Times New Roman" panose="02020603050405020304" pitchFamily="18" charset="0"/>
              </a:rPr>
              <a:t>Помощь и документация</a:t>
            </a:r>
            <a:r>
              <a:rPr lang="ru-RU">
                <a:solidFill>
                  <a:srgbClr val="000000"/>
                </a:solidFill>
                <a:latin typeface="Times New Roman" panose="02020603050405020304" pitchFamily="18" charset="0"/>
                <a:ea typeface="Times New Roman" panose="02020603050405020304" pitchFamily="18" charset="0"/>
              </a:rPr>
              <a:t>. Несмотря на то, что в идеальном случае лучше, когда системой можно пользоваться без документации, таковая все равно необходима - как в виде системы помощи, так и, возможно, в виде печатного руководства. Информация в документации должна быть структурирована таким образом, чтобы пользователь мог легко найти нужный раздел, посвященный решаемой им задаче. Каждый такой ориентированный на конкретную задачу раздел должен помимо общей информации содержать пошаговые руководства по выполнению задачи и не должен быть слишком длинным.</a:t>
            </a:r>
            <a:endParaRPr lang="ru-RU">
              <a:solidFill>
                <a:srgbClr val="000000"/>
              </a:solidFill>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10274016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752</TotalTime>
  <Words>1393</Words>
  <Application>Microsoft Office PowerPoint</Application>
  <PresentationFormat>Широкоэкранный</PresentationFormat>
  <Paragraphs>82</Paragraphs>
  <Slides>24</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24</vt:i4>
      </vt:variant>
    </vt:vector>
  </HeadingPairs>
  <TitlesOfParts>
    <vt:vector size="31" baseType="lpstr">
      <vt:lpstr>Arial</vt:lpstr>
      <vt:lpstr>Calibri</vt:lpstr>
      <vt:lpstr>Calibri Light</vt:lpstr>
      <vt:lpstr>Symbol</vt:lpstr>
      <vt:lpstr>Times New Roman</vt:lpstr>
      <vt:lpstr>Wingdings</vt:lpstr>
      <vt:lpstr>Тема Office</vt:lpstr>
      <vt:lpstr>Лекция 9 тестирование пользовательского интерфейса программы</vt:lpstr>
      <vt:lpstr>Основные понятия</vt:lpstr>
      <vt:lpstr>Основные понятия</vt:lpstr>
      <vt:lpstr>Основные понятия</vt:lpstr>
      <vt:lpstr>Основные понятия</vt:lpstr>
      <vt:lpstr>Качество программного обеспечения</vt:lpstr>
      <vt:lpstr>Характеристики качества ПО</vt:lpstr>
      <vt:lpstr>Характеристики качества ПО</vt:lpstr>
      <vt:lpstr>Характеристики качества ПО</vt:lpstr>
      <vt:lpstr>Характеристики качества ПО</vt:lpstr>
      <vt:lpstr>Модель качества ПО</vt:lpstr>
      <vt:lpstr>Модель качества ПО</vt:lpstr>
      <vt:lpstr>Функциональное тестирование пользовательских интерфейсов</vt:lpstr>
      <vt:lpstr>Проверка требований к пользовательскому интерфейсу</vt:lpstr>
      <vt:lpstr>Требования к внешнему виду пользовательского интерфейса и формам взаимодействия с пользователем</vt:lpstr>
      <vt:lpstr>Методы проведения тестирования пользовательского интерфейса, повторяемость тестирования пользовательского интерфейса</vt:lpstr>
      <vt:lpstr>Тестирование удобства использования пользовательских интерфейсов</vt:lpstr>
      <vt:lpstr>этапы тестирования удобства использования пользовательского интерфейса</vt:lpstr>
      <vt:lpstr>Презентация PowerPoint</vt:lpstr>
      <vt:lpstr>10 эвристических характеристик удобного пользовательского интерфейса</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2. Основы отладки программного обеспечения</dc:title>
  <dc:creator>Евгений Ткачук</dc:creator>
  <cp:lastModifiedBy>Евгений Ткачук</cp:lastModifiedBy>
  <cp:revision>65</cp:revision>
  <dcterms:created xsi:type="dcterms:W3CDTF">2019-08-14T13:27:45Z</dcterms:created>
  <dcterms:modified xsi:type="dcterms:W3CDTF">2019-08-23T18:38:54Z</dcterms:modified>
</cp:coreProperties>
</file>
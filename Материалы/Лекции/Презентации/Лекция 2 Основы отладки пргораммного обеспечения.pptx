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56" d="100"/>
          <a:sy n="56" d="100"/>
        </p:scale>
        <p:origin x="96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DF9580-42EB-48AC-810B-BB0E7F2D5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E8292E-6725-4EBA-AF64-0242450F3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A5D51C-1AE2-41A1-A243-A88A3F18E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14.08.2019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A500DA-FFB6-4F18-B2B6-B5259CEDC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1ADE00-A412-4690-AB4D-5BA86C65F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205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67AFB2-5487-43BD-A645-C4A3E33B7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96A168-825C-4326-A59F-C3BB78874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93C725-B896-48F2-ADDE-D37B1A502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14.08.2019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AAC956-C61E-4D74-AAAE-3297BC39E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F7295A-E096-48F5-ACE3-9E1511343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857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5B02D1-10E1-473A-8134-134AD3AA9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E004C6-1147-4469-A70E-D8E150A3F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BF3FB5-2E7D-4603-820F-B85A66473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14.08.2019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E9286F-A86D-4991-8995-00B81E73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5A1E1C-85B8-4977-9507-D3C087132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6661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534FE5-5BD8-43AA-91BC-2D147142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0B1232-01C2-4007-A922-E184E0B771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1081E9-62C3-4FAD-9C53-26802FA3D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7B8451-3D16-4C30-A2E6-3FA46A78A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14.08.2019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B6A1F6-D99A-49EB-8A2D-566F766CB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4F96EA-37A5-4595-91BC-5E17DEA0D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898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12972D-3909-4348-8D3E-FB0B9C48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62F1E4-21B0-4F61-9AFC-1EF4F7355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EFD26D-70FD-453E-A183-F97316B1E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0F60524-08FD-4F48-B481-D6C99A1A87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4A8C5EC-3CA1-49B0-97D2-402967F34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74BD85B-1719-4E6F-9257-854B45D48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14.08.2019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641837F-12FB-4E67-935B-C8BE0B3A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BB0F62C-8BB2-459C-9B31-87EAAC6DC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155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A5281C-70FB-4D37-BCB6-FFFFF2081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D0B246F-1ED8-4FA0-960B-0CBD67BFA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14.08.2019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05F674F-EDC4-498F-B8F9-8DBBB9A70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36973A7-DA5C-4FF8-80B2-B76580BCC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16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CA5361D-F9C0-4A4B-94C5-36D3C5947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14.08.2019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1271546-2724-47C4-9DBB-C1EC3454B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04A4A9-C09F-4A05-8121-46D919C1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47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163F6E-0050-42E8-A4DC-A5C05B4ED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07F604-2E61-4106-8A08-9CF362EDF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7603790-11D4-4A58-92FB-E58F04DE4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0B2516-2379-4206-A700-3E2C62F2E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14.08.2019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FCCECC-4067-4DF3-8362-A7848314B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C0ACDA-122C-47C2-A550-2554ECA8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317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81A8F-5421-4CF5-9353-AE0E071C0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8CF67F5-9A8B-46B3-9C57-7B0630670B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160048-8570-4BC9-AD31-FE0F54260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C636A0-F77B-462D-836A-DE63125E4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14.08.2019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EA56B6-E062-437F-A6EF-910DED94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28C62A-C851-43B2-BB27-EF26B0CC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26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577A5-AB23-469C-9601-9E46E0769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2F9A3F-B16C-4790-AF7F-204D4A176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B530A9-1D7E-461B-B792-697E0C31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14.08.2019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210732-5E6F-40CE-9BAF-750B81CD3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40B9CB-1BC6-4831-A2B9-65DF8710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946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BCB3DD1-B640-4F42-8618-52DC401E04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D65716-E894-40E3-A7A6-48B7AA747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D1B5BE-4A56-48E5-B5DD-F8F4A508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14.08.2019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F142BC-0189-40CA-8E9E-51AC0DFB3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C32AEA-D104-4738-8026-3CF7CE3F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8760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A4A46D-0D20-4678-81AC-04EC73607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AA3114-F7E3-425F-A0BA-D191E63F2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381F7B-6C4A-4289-A00A-38C8374EDA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0AC16-FB68-4D90-9C71-CAD0E5C2F217}" type="datetimeFigureOut">
              <a:rPr lang="ru-RU" smtClean="0"/>
              <a:t>14.08.2019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ED8831-BA5A-4BEB-8C70-04E60106A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EEA7DA-BF0A-4142-BAC7-C32D4D74C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3619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D1D42-66DD-4454-B5DC-E175F8AFE7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Лекция 2. </a:t>
            </a:r>
            <a:r>
              <a:rPr lang="ru-RU" dirty="0">
                <a:solidFill>
                  <a:srgbClr val="34343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Основы отладки программного обеспечения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C1AD359-AF07-4600-834C-249723F999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Методы отладки и тестирования программных продуктов </a:t>
            </a:r>
          </a:p>
          <a:p>
            <a:r>
              <a:rPr lang="ru-RU" dirty="0"/>
              <a:t>Б1.В.17,  09.03.01, набор 2017г.</a:t>
            </a:r>
          </a:p>
          <a:p>
            <a:r>
              <a:rPr lang="ru-RU" dirty="0"/>
              <a:t>СКФ МТУСИ, каф. ИВТ, доцент Ткачук Е.О.</a:t>
            </a:r>
          </a:p>
          <a:p>
            <a:r>
              <a:rPr lang="ru-RU" dirty="0"/>
              <a:t>2019/2020г.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1139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9FB14F-7421-4C1F-A31A-2AF3B63E6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Отладка программы требует глубокого знания: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C7E8B0-7AC7-406B-B11A-E621B7A3C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815" y="1825625"/>
            <a:ext cx="11795185" cy="4667250"/>
          </a:xfrm>
        </p:spPr>
        <p:txBody>
          <a:bodyPr/>
          <a:lstStyle/>
          <a:p>
            <a:pPr indent="63055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специфики управления используемыми техническими средствами,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операционной системы,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среды и языка программирования,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реализуемых процессов,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природы и специфики различных ошибок,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методик отладки и соответствующих программных средств.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0" algn="just">
              <a:spcAft>
                <a:spcPts val="0"/>
              </a:spcAft>
              <a:buNone/>
            </a:pP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0191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20B3FD-861F-4E58-BBB9-A52BAE916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Процесс отладки включает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D01B03-AF28-401B-84B2-550CA6C06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indent="450215" algn="just">
              <a:spcAft>
                <a:spcPts val="6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действия, направленные на выявление ошибок (тестирование);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6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диагностику и локализацию ошибок (определение характера ошибок и их местонахождение);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spcAft>
                <a:spcPts val="600"/>
              </a:spcAf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 внесение исправлений в программу с целью устранения ошибок.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ru-RU" i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Локализацией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называют процесс определения оператора программы, выполнение которого вызвало нарушение нормального вычислительного процесса.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8464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4C56D7-5227-4D4E-B471-72594E45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kern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Классификация ошибок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B7E64BB-63DA-4E89-85D4-7121279648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0269" y="1879963"/>
            <a:ext cx="9720992" cy="343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226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682090-484D-45B7-A7D8-C178CF139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 соответствии с этапом обработки, на котором проявляются ошибки, различают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B785EB-E9FC-427D-811D-37B36110F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630555" algn="just">
              <a:spcAft>
                <a:spcPts val="0"/>
              </a:spcAft>
            </a:pP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синтаксические ошибки —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ошибки, фиксируемые компилятором (транс­лятором, интерпретатором) при выполнении синтаксического и частично се­мантического анализа программы;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ошибки компоновки —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ошибки, обнаруженные компоновщиком (редакто­ром связей) при объединении модулей программы;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ошибки выполнения —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ошибки, обнаруженные операционной системой, аппаратными средствами или пользователем при выполнении программы,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3266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819117-C331-4549-AD19-411684131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Синтаксические ошибки.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F6BCE3-C9EE-4B18-B96E-F1E2C09DC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39" y="1825624"/>
            <a:ext cx="11628407" cy="5032375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Синтаксические ошибки относят к группе самых простых, так как синтаксис языка, как правило, строго формализован, и ошибки сопровождаются развернутым комментарием с указанием ее мес­тоположения</a:t>
            </a:r>
          </a:p>
          <a:p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Следует иметь в виду, что чем лучше формализованы правила синтакси­са языка, тем больше ошибок из общего количества может обнаружить ком­пилятор и, соответственно, меньше ошибок будет обнаруживаться на следу­ющих этапах</a:t>
            </a:r>
          </a:p>
          <a:p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 связи с этим говорят о языках программирования с защи­щенным синтаксисом и с незащищенным синтаксисом.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933213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D74B12-7CDA-4AD3-BF44-BF9C420C4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Ошибки компоновки.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A363B7-502F-4551-A505-9061A3B29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Ошибки компоновки, как следует из названия, связаны с проблемами, обнаруженными при разрешении внешних ссылок. </a:t>
            </a:r>
          </a:p>
          <a:p>
            <a:pPr algn="just"/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Например, предусмотрено обращение к подпрограмме другого модуля, а при объединении модулей данная подпрограмма не найдена или не стыкуются списки параметров. </a:t>
            </a:r>
          </a:p>
          <a:p>
            <a:pPr algn="just"/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 большинстве случаев ошибки такого рода также уда­ется быстро локализовать и устранить.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917137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663B9-E3D7-4D3F-8DF1-65018A959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Ошибки выполнения.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287191-AF02-4ED3-AF63-4E67A9F8F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 самой непредсказуемой группе относятся ошибки выполнения.</a:t>
            </a:r>
          </a:p>
          <a:p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Прежде всего, они могут иметь разную природу, и соот­ветственно по-разному проявляться. </a:t>
            </a:r>
          </a:p>
          <a:p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Часть ошибок обнаруживается и доку­ментируется операционной системой. 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942568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68C303-F50F-4A65-81D7-023F82137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Выделяют четыре способа проявления таких ошибок: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E9433-F301-42D7-80F6-D8B069DD4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059728" cy="5026383"/>
          </a:xfrm>
        </p:spPr>
        <p:txBody>
          <a:bodyPr>
            <a:normAutofit fontScale="92500" lnSpcReduction="20000"/>
          </a:bodyPr>
          <a:lstStyle/>
          <a:p>
            <a:pPr indent="630555" algn="just">
              <a:spcAft>
                <a:spcPts val="0"/>
              </a:spcAft>
            </a:pPr>
            <a:r>
              <a:rPr lang="ru-RU" sz="35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появление сообщения об ошибке, зафиксированной схемами контроля выполнения машинных команд, например, переполнении разрядной сетки, ситуации «деление па ноль», нарушении адресации и т. п.;</a:t>
            </a:r>
            <a:endParaRPr lang="ru-RU" sz="35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sz="35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появление сообщения об ошибке, обнаруженной операционной систе­мой, например, нарушении зашиты памяти, попытке записи на устройства, защищенные от записи, отсутствии файла с заданным именем и т. п.;</a:t>
            </a:r>
            <a:endParaRPr lang="ru-RU" sz="35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sz="35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«зависание» компьютера, как простое, когда удается завершить про­грамму бел перезагрузки операционной системы, так и «тяжелое», когда для продолжения работы необходима перезагрузка;</a:t>
            </a:r>
            <a:endParaRPr lang="ru-RU" sz="35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sz="35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несовпадение полученных результатов с ожидаемыми.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9754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433EC2-CA07-4AF0-861D-1C5E150C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Причины ошибок выполнения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9D85C3-97B1-4915-AB66-5627BF738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63055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неверное определение исходных данных,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логические ошибки,</a:t>
            </a:r>
          </a:p>
          <a:p>
            <a:pPr indent="63055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накопление погрешностей результатов вычислений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82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B07A31-AF68-434A-BC95-8B261CAB4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68" y="0"/>
            <a:ext cx="111280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151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529D2-266A-4FCC-9129-A6EEEECD5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сложность отладки увеличивается вследствие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0B4CA5-A140-4CFE-AA74-FB9BFB1F1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161771"/>
          </a:xfrm>
        </p:spPr>
        <p:txBody>
          <a:bodyPr>
            <a:normAutofit/>
          </a:bodyPr>
          <a:lstStyle/>
          <a:p>
            <a:pPr indent="63055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опосредованного проявления ошибок;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возможности взаимовлияния ошибок;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возможности получения внешне одинаковых проявлений разных оши­бок;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отсутствия повторяемости проявлений некоторых ошибок от запуска к запуску - так называемые стохастические ошибки;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возможности устранения внешних проявлений ошибок в исследуемой ситуации при внесении некоторых изменений в программу, например, при включении в программу диагностических фрагментов может аннулировать­ся или измениться внешнее проявление ошибок;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написания отдельных частей программы разными программистами.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462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11813E-E21E-4045-90D4-129CC6BED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Обнаружение ошибок по косвенным признакам методами: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71D195-4371-4075-A72D-CB7679E39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630555" algn="just">
              <a:spcAft>
                <a:spcPts val="0"/>
              </a:spcAft>
            </a:pP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ручного тестирования;</a:t>
            </a:r>
            <a:endParaRPr lang="ru-RU" sz="3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индукции;</a:t>
            </a:r>
            <a:endParaRPr lang="ru-RU" sz="3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дедукции;</a:t>
            </a:r>
            <a:endParaRPr lang="ru-RU" sz="3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обратного прослеживания.</a:t>
            </a:r>
            <a:endParaRPr lang="ru-RU" sz="3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9806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98CDB5-8374-47B7-9171-9550D85C1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98" y="365125"/>
            <a:ext cx="11060502" cy="1325563"/>
          </a:xfrm>
        </p:spPr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Схема процесса отладки методом индукции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25F2093-307D-43AD-B016-9711CC0386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1878" y="1207698"/>
            <a:ext cx="5210355" cy="565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630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DD22FB-B382-4812-8C16-CA0D710BC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Метод дедукции.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554F47-ECE1-4FCC-80E4-F374D1F04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66491"/>
            <a:ext cx="12192000" cy="5244860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 методу дедукции вначале формируют множество причин, которые могли бы вызвать данное проявление ошибки. </a:t>
            </a:r>
          </a:p>
          <a:p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Затем анализируя причины, исключают те, которые противоречат имеющимся данным. </a:t>
            </a:r>
          </a:p>
          <a:p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Если все причины исключены, то следует выполнить дополнительное тестирование исследуемого фрагмента. </a:t>
            </a:r>
          </a:p>
          <a:p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 противном случае наиболее вероятную гипотезу пытаются доказать. </a:t>
            </a:r>
          </a:p>
          <a:p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Если гипотеза объясняет полученные признаки ошибки, то ошибка найдена, иначе - проверяют следующую причину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214580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B32C2E-356E-43B0-B94A-C1A619520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2634C0-3A4A-446E-882E-41955BEC7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DC35CD-CA47-44DA-984B-5E2A5ACB4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325" y="-33093"/>
            <a:ext cx="5175849" cy="690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801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4B813C-AFAA-4065-B29C-356AF8295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kern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Методы и средства получения дополнительной информации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44181D-B291-4C5C-971D-DA1FE0B70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algn="just">
              <a:spcAft>
                <a:spcPts val="0"/>
              </a:spcAft>
              <a:buNone/>
            </a:pP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Для получения дополнительной информации об ошибке можно выполнить добавочные тесты или использовать специальные методы и средства:</a:t>
            </a:r>
            <a:endParaRPr lang="ru-RU" sz="3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отладочный вывод;</a:t>
            </a:r>
            <a:endParaRPr lang="ru-RU" sz="3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интегрированные средства отладки;</a:t>
            </a:r>
            <a:endParaRPr lang="ru-RU" sz="3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независимые отладчики.</a:t>
            </a:r>
            <a:endParaRPr lang="ru-RU" sz="3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0449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94BA04-0CD2-4DBF-8E0E-284B5A188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Отладочный вывод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6F0509-3DF9-4500-8BDF-C0F7A1F79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045" y="1518248"/>
            <a:ext cx="11542144" cy="5141343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Вывод текущего состояния программы с помощью расположенных в критических точках программы операторов вывода — на экран, принтер, громкоговоритель или в файл. </a:t>
            </a:r>
          </a:p>
          <a:p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Вывод отладочных сведений в файл называется журналированием. </a:t>
            </a:r>
          </a:p>
          <a:p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Метод требует включения в программу дополнительного отладочного вывода в </a:t>
            </a:r>
            <a:r>
              <a:rPr lang="ru-RU" sz="32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узловых</a:t>
            </a: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точках. </a:t>
            </a:r>
          </a:p>
          <a:p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Узловыми считают точки алгоритма, в которых основные переменные программы меняют свои значения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205384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0EAD6A-1D9A-4379-92D3-8E9C847CC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81" y="365125"/>
            <a:ext cx="11835442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Интегрированные средства отладки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позволяют: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2DFAB-F936-4567-8D83-013F71FF7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45483" cy="5032375"/>
          </a:xfrm>
        </p:spPr>
        <p:txBody>
          <a:bodyPr/>
          <a:lstStyle/>
          <a:p>
            <a:pPr indent="630555" algn="just">
              <a:spcAft>
                <a:spcPts val="0"/>
              </a:spcAft>
            </a:pP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выполнять программу по шагам, причем как с заходом в подпрограммы, так и выполняя их целиком;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предусматривать точки останова;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выполнять программу до оператора, укачанного курсором;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отображать содержимое любых переменных при пошаговом выполнении;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отслеживать поток сообщений и т. п.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9074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47BCE3-DC82-4E92-801B-00AB19915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1B1331-0037-45F1-8516-FB4ECD370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8DEA84-F941-43A0-A057-2928BAF1D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243" y="1"/>
            <a:ext cx="6751269" cy="709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7181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52B48A-9AAD-43C8-A21D-D30C0B6E9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F2CE38D6-348B-4556-81BD-53993EC382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080" y="552092"/>
            <a:ext cx="10417061" cy="630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9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EA6538-DC0E-4CC9-A9FF-2E773D9BC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92" y="365125"/>
            <a:ext cx="11933208" cy="1325563"/>
          </a:xfrm>
        </p:spPr>
        <p:txBody>
          <a:bodyPr/>
          <a:lstStyle/>
          <a:p>
            <a:pPr algn="ctr"/>
            <a:r>
              <a:rPr lang="ru-RU" b="1" kern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Общая методика отладки программного обеспечения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DBE716-F459-4437-B8D0-D84FAA1CF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61771"/>
          </a:xfrm>
        </p:spPr>
        <p:txBody>
          <a:bodyPr/>
          <a:lstStyle/>
          <a:p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 этап -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изучение проявления ошибки - если выдано какое-либо сообщение или выданы неправильные или неполные результаты, то необходимо их изучить и попытаться понять, какая ошибка могла так проявиться. При этом используют индуктивные и дедуктивные методы отладки. </a:t>
            </a:r>
          </a:p>
          <a:p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 этап -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локализация ошибки - определение конкретного фрагмента, при выполнении которого произошло отклонение от предполагаемого вычислительного процесса.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 этап -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определение причины ошибки - изучение результатов второго этапа и формирование версий возможных причин ошибки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6229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9F9E5D-BEC8-459C-94BE-FD4DFD005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6B77CF-1C7C-4CB8-AC04-312820F5B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630555" algn="just">
              <a:spcAft>
                <a:spcPts val="0"/>
              </a:spcAft>
            </a:pP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 этап -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исправление ошибки - внесение соответствующих изменений во все операторы, совместное выполнение которых привело к ошибке.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 этап -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повторное тестирование - повторение всех тестов с начала, так как при исправлении обнаруженных ошибок часто вносят в программу новые.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74247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72BD3-A31B-4448-8FA1-0F8E8A68B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процесс отладки можно существенно упростить, если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4CBC47-1CF2-44A8-9633-D02FB0A64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630555" algn="just">
              <a:spcAft>
                <a:spcPts val="0"/>
              </a:spcAft>
            </a:pP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программу наращивать «сверху-вниз», от интерфейса к обрабатывающим подпрограммам, тестируя ее по ходу добавления подпрограмм;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выводить пользователю вводимые им данные для контроля и проверять их на допустимость сразу после ввода;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630555" algn="just">
              <a:spcAft>
                <a:spcPts val="0"/>
              </a:spcAft>
            </a:pP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предусматривать вывод основных данных во всех узловых точках алгоритма (ветвлениях, вызовах подпрограмм).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975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A0A44-C793-48B9-9498-CC7CC4D1F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Автономное тестирование модуля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8E6C3B-AF9C-455A-9BD0-D33399997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287" y="1825624"/>
            <a:ext cx="11129513" cy="5032375"/>
          </a:xfrm>
        </p:spPr>
        <p:txBody>
          <a:bodyPr>
            <a:norm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Шаг 1. На основании спецификации отлаживаемого модуля подготовьте тесты для каждой возможности и каждой ситуации, для каждой границы областей допустимых значений всех входных данных, для каждой области изменения данных, для каждой области недопустимых значений всех входных данных и каждого недопустимого условия. </a:t>
            </a:r>
          </a:p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Шаг 2. Проверьте текст модуля, чтобы убедиться, что каждое направление любого разветвления будет пройдено хотя бы на одном тесте. Добавьте недостающие тесты. </a:t>
            </a:r>
          </a:p>
        </p:txBody>
      </p:sp>
    </p:spTree>
    <p:extLst>
      <p:ext uri="{BB962C8B-B14F-4D97-AF65-F5344CB8AC3E}">
        <p14:creationId xmlns:p14="http://schemas.microsoft.com/office/powerpoint/2010/main" val="3583670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CE8477-D612-4137-8C30-321D00BBA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C32C45-0002-42A5-845C-3D9E5CB75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287" y="1825625"/>
            <a:ext cx="11129513" cy="4667250"/>
          </a:xfrm>
        </p:spPr>
        <p:txBody>
          <a:bodyPr>
            <a:norm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Шаг 3. Проверьте текст модуля, чтобы убедиться, что для каждого цикла существуют тесты, обеспечивающие, по крайней мере, три следующие ситуации: тело цикла не выполняется ни разу, тело цикла выполняется один раз и тело цикла выполняется максимальное число раз. Добавьте недостающие тесты. </a:t>
            </a:r>
          </a:p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Шаг 4. Проверьте текст модуля, чтобы убедиться, что существуют тесты, проверяющие чувствительность к отдельным особым значениям входных данных. Добавьте недостающие тесты.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0735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0BEE56-69C8-4E31-A881-5B4E7925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Советы отладчику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74932A-E3CF-499C-9A3C-38BB26FD2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4181"/>
            <a:ext cx="12192000" cy="5388694"/>
          </a:xfrm>
        </p:spPr>
        <p:txBody>
          <a:bodyPr/>
          <a:lstStyle/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1) Проверяйте тщательнее: ошибка скорее всего находится не в том месте, в котором кажется.</a:t>
            </a:r>
          </a:p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2) Часто оказывается легче выделить те места программы, ошибок в которых нет, а затем уже искать в остальных.</a:t>
            </a:r>
          </a:p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3) Тщательнее следить за объявлениями констант, типов и переменных, входными данными.</a:t>
            </a:r>
          </a:p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4) При последовательной разработке приходится особенно аккуратно писать драйверы и заглушки - они сами могут быть источником ошибок.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28437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7D0C268-C7F3-4B00-AD21-29AE2A48C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9781"/>
            <a:ext cx="11353800" cy="6435306"/>
          </a:xfrm>
        </p:spPr>
        <p:txBody>
          <a:bodyPr>
            <a:normAutofit/>
          </a:bodyPr>
          <a:lstStyle/>
          <a:p>
            <a:pPr indent="0" algn="just">
              <a:spcAft>
                <a:spcPts val="0"/>
              </a:spcAft>
              <a:buNone/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5) Анализировать код, начиная с самых простых вариантов. Чаще всего встречаются ошибки:</a:t>
            </a:r>
          </a:p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значения входных аргументов принимаются не в том порядке,</a:t>
            </a:r>
          </a:p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переменная не проинициализирована,</a:t>
            </a:r>
          </a:p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при повторном прохождении модуля, переменная повторно не инициализируется,</a:t>
            </a:r>
          </a:p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вместо предполагаемого полного копирования структуры данных, копируется только верхний уровень (например, вместо создания новой динамической переменной и присваивания ей нужного значения, адрес тупо копируется из уже существующей переменной),</a:t>
            </a:r>
          </a:p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скобки в сложном выражении расставлены неправильно.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3577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6EDE0DD-86C6-4534-A376-E3B9686CB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6045"/>
            <a:ext cx="10515600" cy="5900918"/>
          </a:xfrm>
        </p:spPr>
        <p:txBody>
          <a:bodyPr>
            <a:normAutofit lnSpcReduction="10000"/>
          </a:bodyPr>
          <a:lstStyle/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6) При упорной длительной отладке глаз "</a:t>
            </a:r>
            <a:r>
              <a:rPr lang="ru-RU" sz="32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замыливается</a:t>
            </a: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". Хороший прием - обратиться за помощью к другому лицу, чтобы не повторять ошибочных рассуждений. Правда, частенько остается проблемой убедить это другое лицо помочь вам.</a:t>
            </a:r>
          </a:p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7) Ошибка, скорее всего окажется вашей и будет находиться в тексте программы. Гораздо реже она оказывается:</a:t>
            </a:r>
          </a:p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·в компиляторе,</a:t>
            </a:r>
          </a:p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·операционной системе,</a:t>
            </a:r>
          </a:p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·аппаратной части,</a:t>
            </a:r>
          </a:p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·электропроводке в здании и т.д.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1877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8A5911-E7A4-47F1-8E04-ADA3EB33E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A76D72-84D1-45B3-ACC6-25479CFD1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8) Убедитесь, что исходный текст программы соответствует скомпилированному объектному коду (текст может быть изменен, а запускаемый модуль, который вы тестируете - скомпилирован еще из старого варианта).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9) Навязчивый поиск одной ошибки почти всегда непродуктивен. Не получается - отложите задачу, возьмитесь за написание следующего модуля, на худой конец займитесь документированием.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25201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25F04B-1B52-42E3-B9E8-3BA13E8FD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035BAB-FD48-4374-9F86-7DB689625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10) Старайтесь не жалеть времени, чтобы понять причину ошибки. Это поможет вам:</a:t>
            </a:r>
          </a:p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·исправить программу,</a:t>
            </a:r>
          </a:p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·обнаружить другие ошибки того же типа,</a:t>
            </a:r>
          </a:p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·не делать их в дальнейшем.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48870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2592C8-6C01-4D05-97D5-63D0D706D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367B83-7C1C-4D6D-A8EE-0DC0737B4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11) Если вы уже знаете симптомы ошибки, иногда полезно не исправлять ее сразу, а на фоне известного поведения программы поискать другие ляпы.</a:t>
            </a:r>
          </a:p>
          <a:p>
            <a:pPr indent="450215" algn="just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12) Самые трудно обнаруживаемые ошибки - наведенные, то есть те, что были внесены в код при исправлении других.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32923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1278</Words>
  <Application>Microsoft Office PowerPoint</Application>
  <PresentationFormat>Широкоэкранный</PresentationFormat>
  <Paragraphs>119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Тема Office</vt:lpstr>
      <vt:lpstr>Лекция 2. Основы отладки программного обеспечения</vt:lpstr>
      <vt:lpstr>Отладка программы требует глубокого знания:</vt:lpstr>
      <vt:lpstr>Процесс отладки включает</vt:lpstr>
      <vt:lpstr>Классификация ошибок </vt:lpstr>
      <vt:lpstr>В соответствии с этапом обработки, на котором проявляются ошибки, различают</vt:lpstr>
      <vt:lpstr>Синтаксические ошибки. </vt:lpstr>
      <vt:lpstr>Ошибки компоновки. </vt:lpstr>
      <vt:lpstr>Ошибки выполнения. </vt:lpstr>
      <vt:lpstr>Выделяют четыре способа проявления таких ошибок:</vt:lpstr>
      <vt:lpstr>Причины ошибок выполнения </vt:lpstr>
      <vt:lpstr>Презентация PowerPoint</vt:lpstr>
      <vt:lpstr>сложность отладки увеличивается вследствие </vt:lpstr>
      <vt:lpstr>Обнаружение ошибок по косвенным признакам методами:</vt:lpstr>
      <vt:lpstr>Схема процесса отладки методом индукции</vt:lpstr>
      <vt:lpstr>Метод дедукции. </vt:lpstr>
      <vt:lpstr>Презентация PowerPoint</vt:lpstr>
      <vt:lpstr>Методы и средства получения дополнительной информации</vt:lpstr>
      <vt:lpstr>Отладочный вывод</vt:lpstr>
      <vt:lpstr>Интегрированные средства отладки позволяют:</vt:lpstr>
      <vt:lpstr>Презентация PowerPoint</vt:lpstr>
      <vt:lpstr>Презентация PowerPoint</vt:lpstr>
      <vt:lpstr>Общая методика отладки программного обеспечения</vt:lpstr>
      <vt:lpstr>Презентация PowerPoint</vt:lpstr>
      <vt:lpstr>процесс отладки можно существенно упростить, если </vt:lpstr>
      <vt:lpstr>Автономное тестирование модуля </vt:lpstr>
      <vt:lpstr>Презентация PowerPoint</vt:lpstr>
      <vt:lpstr>Советы отладчику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2. Основы отладки программного обеспечения</dc:title>
  <dc:creator>Евгений Ткачук</dc:creator>
  <cp:lastModifiedBy>Евгений Ткачук</cp:lastModifiedBy>
  <cp:revision>11</cp:revision>
  <dcterms:created xsi:type="dcterms:W3CDTF">2019-08-14T13:27:45Z</dcterms:created>
  <dcterms:modified xsi:type="dcterms:W3CDTF">2019-08-14T15:09:15Z</dcterms:modified>
</cp:coreProperties>
</file>
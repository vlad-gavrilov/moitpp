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F9580-42EB-48AC-810B-BB0E7F2D5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E8292E-6725-4EBA-AF64-0242450F3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5D51C-1AE2-41A1-A243-A88A3F18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A500DA-FFB6-4F18-B2B6-B5259CED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ADE00-A412-4690-AB4D-5BA86C65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0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7AFB2-5487-43BD-A645-C4A3E33B7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6A168-825C-4326-A59F-C3BB7887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93C725-B896-48F2-ADDE-D37B1A50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AC956-C61E-4D74-AAAE-3297BC39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7295A-E096-48F5-ACE3-9E151134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8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B02D1-10E1-473A-8134-134AD3AA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E004C6-1147-4469-A70E-D8E150A3F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F3FB5-2E7D-4603-820F-B85A6647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E9286F-A86D-4991-8995-00B81E7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5A1E1C-85B8-4977-9507-D3C08713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66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34FE5-5BD8-43AA-91BC-2D147142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B1232-01C2-4007-A922-E184E0B77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1081E9-62C3-4FAD-9C53-26802FA3D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7B8451-3D16-4C30-A2E6-3FA46A78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6A1F6-D99A-49EB-8A2D-566F766C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4F96EA-37A5-4595-91BC-5E17DEA0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898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2972D-3909-4348-8D3E-FB0B9C48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2F1E4-21B0-4F61-9AFC-1EF4F7355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EFD26D-70FD-453E-A183-F97316B1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F60524-08FD-4F48-B481-D6C99A1A8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A8C5EC-3CA1-49B0-97D2-402967F34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4BD85B-1719-4E6F-9257-854B45D4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641837F-12FB-4E67-935B-C8BE0B3A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B0F62C-8BB2-459C-9B31-87EAAC6D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55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5281C-70FB-4D37-BCB6-FFFFF208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0B246F-1ED8-4FA0-960B-0CBD67BF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5F674F-EDC4-498F-B8F9-8DBBB9A7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6973A7-DA5C-4FF8-80B2-B76580BC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16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A5361D-F9C0-4A4B-94C5-36D3C594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271546-2724-47C4-9DBB-C1EC3454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04A4A9-C09F-4A05-8121-46D919C1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47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63F6E-0050-42E8-A4DC-A5C05B4E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7F604-2E61-4106-8A08-9CF362EDF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603790-11D4-4A58-92FB-E58F04DE4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0B2516-2379-4206-A700-3E2C62F2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FCCECC-4067-4DF3-8362-A7848314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C0ACDA-122C-47C2-A550-2554ECA8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31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81A8F-5421-4CF5-9353-AE0E071C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CF67F5-9A8B-46B3-9C57-7B0630670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160048-8570-4BC9-AD31-FE0F54260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C636A0-F77B-462D-836A-DE63125E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A56B6-E062-437F-A6EF-910DED94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28C62A-C851-43B2-BB27-EF26B0CC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26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577A5-AB23-469C-9601-9E46E07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2F9A3F-B16C-4790-AF7F-204D4A176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530A9-1D7E-461B-B792-697E0C31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210732-5E6F-40CE-9BAF-750B81CD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40B9CB-1BC6-4831-A2B9-65DF8710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94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CB3DD1-B640-4F42-8618-52DC401E0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D65716-E894-40E3-A7A6-48B7AA74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D1B5BE-4A56-48E5-B5DD-F8F4A508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142BC-0189-40CA-8E9E-51AC0DFB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C32AEA-D104-4738-8026-3CF7CE3F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76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4A46D-0D20-4678-81AC-04EC7360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AA3114-F7E3-425F-A0BA-D191E63F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81F7B-6C4A-4289-A00A-38C8374ED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AC16-FB68-4D90-9C71-CAD0E5C2F217}" type="datetimeFigureOut">
              <a:rPr lang="ru-RU" smtClean="0"/>
              <a:t>23.08.2019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D8831-BA5A-4BEB-8C70-04E60106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EEA7DA-BF0A-4142-BAC7-C32D4D74C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22D3D-7350-4F05-B7EE-EF8CA3415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6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D1D42-66DD-4454-B5DC-E175F8AFE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366" y="1122363"/>
            <a:ext cx="9960634" cy="2387600"/>
          </a:xfrm>
        </p:spPr>
        <p:txBody>
          <a:bodyPr>
            <a:normAutofit/>
          </a:bodyPr>
          <a:lstStyle/>
          <a:p>
            <a:r>
              <a:rPr lang="ru-RU" dirty="0"/>
              <a:t>Лекция7. 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</a:rPr>
              <a:t>Интеграционное т</a:t>
            </a:r>
            <a:r>
              <a:rPr lang="ru-RU" dirty="0">
                <a:solidFill>
                  <a:srgbClr val="34343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естирование программы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AD359-AF07-4600-834C-249723F99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Методы отладки и тестирования программных продуктов </a:t>
            </a:r>
          </a:p>
          <a:p>
            <a:r>
              <a:rPr lang="ru-RU" dirty="0"/>
              <a:t>Б1.В.17,  09.03.01, набор 2017г.</a:t>
            </a:r>
          </a:p>
          <a:p>
            <a:r>
              <a:rPr lang="ru-RU" dirty="0"/>
              <a:t>СКФ МТУСИ, каф. ИВТ, доцент Ткачук Е.О.</a:t>
            </a:r>
          </a:p>
          <a:p>
            <a:r>
              <a:rPr lang="ru-RU" dirty="0"/>
              <a:t>2019/2020г.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13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285728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/>
              <a:t>Уровень тестирования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24034" y="1669310"/>
            <a:ext cx="75724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определяет то, </a:t>
            </a:r>
            <a:r>
              <a:rPr lang="ru-RU" sz="2800" b="1" dirty="0"/>
              <a:t>над чем</a:t>
            </a:r>
            <a:r>
              <a:rPr lang="ru-RU" sz="2800" dirty="0"/>
              <a:t> производятся тесты: над отдельным модулем, группой модулей или системой, в целом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095472" y="3714752"/>
            <a:ext cx="807249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ru-RU" sz="2800" dirty="0"/>
              <a:t>Компонентное или Модульное тестирование (</a:t>
            </a:r>
            <a:r>
              <a:rPr lang="en-US" sz="2800" dirty="0"/>
              <a:t>Component Testing or Unit Testing) 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Интеграционное тестирование (</a:t>
            </a:r>
            <a:r>
              <a:rPr lang="en-US" sz="2800" dirty="0"/>
              <a:t>Integration Testing) 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Системное тестирование (</a:t>
            </a:r>
            <a:r>
              <a:rPr lang="en-US" sz="2800" dirty="0"/>
              <a:t>System Testing) 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Приемочное тестирование (</a:t>
            </a:r>
            <a:r>
              <a:rPr lang="en-US" sz="2800" dirty="0"/>
              <a:t>Acceptance Testing)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Компонентное или Модульное тестирование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24034" y="1928803"/>
            <a:ext cx="82153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проверяет функциональность и ищет дефекты в частях приложения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309918" y="3143248"/>
            <a:ext cx="385765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i="1" dirty="0"/>
              <a:t>Элементы тестирования:</a:t>
            </a:r>
          </a:p>
          <a:p>
            <a:pPr>
              <a:buFont typeface="Wingdings" pitchFamily="2" charset="2"/>
              <a:buChar char="Ø"/>
            </a:pPr>
            <a:r>
              <a:rPr lang="ru-RU" sz="2800" b="1" dirty="0"/>
              <a:t>модули программ,</a:t>
            </a:r>
          </a:p>
          <a:p>
            <a:pPr>
              <a:buFont typeface="Wingdings" pitchFamily="2" charset="2"/>
              <a:buChar char="Ø"/>
            </a:pPr>
            <a:r>
              <a:rPr lang="ru-RU" sz="2800" b="1" dirty="0"/>
              <a:t>объекты,</a:t>
            </a:r>
          </a:p>
          <a:p>
            <a:pPr>
              <a:buFont typeface="Wingdings" pitchFamily="2" charset="2"/>
              <a:buChar char="Ø"/>
            </a:pPr>
            <a:r>
              <a:rPr lang="ru-RU" sz="2800" b="1" dirty="0"/>
              <a:t>классы, </a:t>
            </a:r>
          </a:p>
          <a:p>
            <a:pPr>
              <a:buFont typeface="Wingdings" pitchFamily="2" charset="2"/>
              <a:buChar char="Ø"/>
            </a:pPr>
            <a:r>
              <a:rPr lang="ru-RU" sz="2800" b="1" dirty="0"/>
              <a:t>функции</a:t>
            </a:r>
          </a:p>
          <a:p>
            <a:pPr>
              <a:buFont typeface="Wingdings" pitchFamily="2" charset="2"/>
              <a:buChar char="Ø"/>
            </a:pPr>
            <a:r>
              <a:rPr lang="ru-RU" sz="2800" b="1" dirty="0"/>
              <a:t>и т.д.</a:t>
            </a:r>
            <a:endParaRPr lang="ru-RU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259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Компонентное или Модульное тестирование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24100" y="1500174"/>
            <a:ext cx="764386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проводится вызывая код, который необходимо проверить и при поддержке сред разработки, таких как </a:t>
            </a:r>
            <a:r>
              <a:rPr lang="ru-RU" sz="2800" dirty="0" err="1"/>
              <a:t>фреймворки</a:t>
            </a:r>
            <a:r>
              <a:rPr lang="ru-RU" sz="2800" dirty="0"/>
              <a:t> (</a:t>
            </a:r>
            <a:r>
              <a:rPr lang="ru-RU" sz="2800" dirty="0" err="1"/>
              <a:t>frameworks</a:t>
            </a:r>
            <a:r>
              <a:rPr lang="ru-RU" sz="2800" dirty="0"/>
              <a:t> - каркасы) для модульного тестирования или инструменты для отладки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524100" y="4286256"/>
            <a:ext cx="78581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Методика тестирования - </a:t>
            </a:r>
            <a:r>
              <a:rPr lang="ru-RU" sz="2800" b="1" dirty="0"/>
              <a:t>подготовка автоматизированных тестов</a:t>
            </a:r>
            <a:r>
              <a:rPr lang="ru-RU" sz="2800" dirty="0"/>
              <a:t> :</a:t>
            </a:r>
            <a:endParaRPr lang="ru-RU" sz="2800" b="1" dirty="0"/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test-driven development</a:t>
            </a:r>
            <a:r>
              <a:rPr lang="ru-RU" sz="2800" dirty="0"/>
              <a:t> - разработка от тестирования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/>
              <a:t>test first approach</a:t>
            </a:r>
            <a:r>
              <a:rPr lang="ru-RU" sz="2800" dirty="0"/>
              <a:t> - тестирование вначале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2596" y="285728"/>
            <a:ext cx="8229600" cy="1132732"/>
          </a:xfrm>
        </p:spPr>
        <p:txBody>
          <a:bodyPr>
            <a:normAutofit/>
          </a:bodyPr>
          <a:lstStyle/>
          <a:p>
            <a:r>
              <a:rPr lang="ru-RU" dirty="0"/>
              <a:t>Интеграционное тестирование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07033" y="1285860"/>
            <a:ext cx="117836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предназначено для проверки связи между компонентами, а также взаимодействия с различными частями системы (операционной системой, оборудованием либо связи между различными системами)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47290" y="2841429"/>
            <a:ext cx="102394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Уровни интеграционного тестирования: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Компонентный интеграционный уровень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Системный интеграционный уровень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166910" y="4786322"/>
            <a:ext cx="764386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Подходы к интеграционному тестированию: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Снизу вверх (</a:t>
            </a:r>
            <a:r>
              <a:rPr lang="en-US" sz="2800" i="1" dirty="0"/>
              <a:t>Bottom Up Integration</a:t>
            </a:r>
            <a:r>
              <a:rPr lang="en-US" sz="2800" dirty="0"/>
              <a:t>)</a:t>
            </a:r>
            <a:r>
              <a:rPr lang="ru-RU" sz="28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err="1"/>
              <a:t>Сверху</a:t>
            </a:r>
            <a:r>
              <a:rPr lang="en-US" sz="2800" dirty="0"/>
              <a:t> </a:t>
            </a:r>
            <a:r>
              <a:rPr lang="en-US" sz="2800" dirty="0" err="1"/>
              <a:t>вниз</a:t>
            </a:r>
            <a:r>
              <a:rPr lang="en-US" sz="2800" dirty="0"/>
              <a:t> (</a:t>
            </a:r>
            <a:r>
              <a:rPr lang="en-US" sz="2800" i="1" dirty="0"/>
              <a:t>Top Down Integration</a:t>
            </a:r>
            <a:r>
              <a:rPr lang="en-US" sz="2800" dirty="0"/>
              <a:t>)</a:t>
            </a:r>
            <a:r>
              <a:rPr lang="ru-RU" sz="28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Большой взрыв (</a:t>
            </a:r>
            <a:r>
              <a:rPr lang="ru-RU" sz="2800" i="1" dirty="0"/>
              <a:t>"</a:t>
            </a:r>
            <a:r>
              <a:rPr lang="en-US" sz="2800" i="1" dirty="0"/>
              <a:t>Big Bang" Integration</a:t>
            </a:r>
            <a:r>
              <a:rPr lang="en-US" sz="2800" dirty="0"/>
              <a:t>)</a:t>
            </a:r>
            <a:endParaRPr lang="ru-RU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58" y="500042"/>
            <a:ext cx="8229600" cy="2214570"/>
          </a:xfrm>
        </p:spPr>
        <p:txBody>
          <a:bodyPr>
            <a:normAutofit/>
          </a:bodyPr>
          <a:lstStyle/>
          <a:p>
            <a:r>
              <a:rPr lang="ru-RU" b="1" dirty="0"/>
              <a:t>Компонентный интеграционный уровень</a:t>
            </a:r>
            <a:r>
              <a:rPr lang="ru-RU" dirty="0"/>
              <a:t> (</a:t>
            </a:r>
            <a:r>
              <a:rPr lang="ru-RU" i="1" dirty="0" err="1"/>
              <a:t>Component</a:t>
            </a:r>
            <a:r>
              <a:rPr lang="ru-RU" i="1" dirty="0"/>
              <a:t> </a:t>
            </a:r>
            <a:r>
              <a:rPr lang="ru-RU" i="1" dirty="0" err="1"/>
              <a:t>Integration</a:t>
            </a:r>
            <a:r>
              <a:rPr lang="ru-RU" i="1" dirty="0"/>
              <a:t> </a:t>
            </a:r>
            <a:r>
              <a:rPr lang="ru-RU" i="1" dirty="0" err="1"/>
              <a:t>testing</a:t>
            </a:r>
            <a:r>
              <a:rPr lang="ru-RU" dirty="0"/>
              <a:t>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81290" y="3286125"/>
            <a:ext cx="65008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Проверяется взаимодействие между компонентами системы после проведения компонентного тестирования.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857232"/>
            <a:ext cx="8229600" cy="2214570"/>
          </a:xfrm>
        </p:spPr>
        <p:txBody>
          <a:bodyPr>
            <a:normAutofit/>
          </a:bodyPr>
          <a:lstStyle/>
          <a:p>
            <a:r>
              <a:rPr lang="ru-RU" b="1" dirty="0"/>
              <a:t>Подход Снизу вверх</a:t>
            </a:r>
            <a:r>
              <a:rPr lang="ru-RU" dirty="0"/>
              <a:t> (</a:t>
            </a:r>
            <a:r>
              <a:rPr lang="en-US" i="1" dirty="0"/>
              <a:t>Bottom Up Integration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809852" y="3571876"/>
            <a:ext cx="67151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ru-RU" sz="2800" dirty="0"/>
              <a:t>Все низкоуровневые модули, процедуры или функции собираются воедино и затем тестируются.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После чего собирается следующий уровень модулей для проведения интеграционного тестирования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857232"/>
            <a:ext cx="8229600" cy="2214570"/>
          </a:xfrm>
        </p:spPr>
        <p:txBody>
          <a:bodyPr>
            <a:normAutofit/>
          </a:bodyPr>
          <a:lstStyle/>
          <a:p>
            <a:r>
              <a:rPr lang="ru-RU" b="1" dirty="0"/>
              <a:t>Подход </a:t>
            </a:r>
            <a:r>
              <a:rPr lang="en-US" b="1" dirty="0" err="1"/>
              <a:t>Сверху</a:t>
            </a:r>
            <a:r>
              <a:rPr lang="en-US" b="1" dirty="0"/>
              <a:t> </a:t>
            </a:r>
            <a:r>
              <a:rPr lang="en-US" b="1" dirty="0" err="1"/>
              <a:t>вниз</a:t>
            </a:r>
            <a:r>
              <a:rPr lang="en-US" dirty="0"/>
              <a:t> (</a:t>
            </a:r>
            <a:r>
              <a:rPr lang="en-US" i="1" dirty="0"/>
              <a:t>Top Down Integration</a:t>
            </a:r>
            <a:r>
              <a:rPr lang="en-US" dirty="0"/>
              <a:t>)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447543" y="2605717"/>
            <a:ext cx="671515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ru-RU" sz="2800" dirty="0"/>
              <a:t>Вначале тестируются все высокоуровневые модули, и постепенно один за другим добавляются низкоуровневые.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Все модули более низкого уровня симулируются заглушками с аналогичной функциональностью, затем по мере готовности они заменяются реальными активными компонентами.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857232"/>
            <a:ext cx="8229600" cy="2214570"/>
          </a:xfrm>
        </p:spPr>
        <p:txBody>
          <a:bodyPr>
            <a:normAutofit/>
          </a:bodyPr>
          <a:lstStyle/>
          <a:p>
            <a:r>
              <a:rPr lang="ru-RU" b="1" dirty="0"/>
              <a:t>Подход Большой взрыв</a:t>
            </a:r>
            <a:r>
              <a:rPr lang="ru-RU" dirty="0"/>
              <a:t> (</a:t>
            </a:r>
            <a:r>
              <a:rPr lang="ru-RU" i="1" dirty="0"/>
              <a:t>"</a:t>
            </a:r>
            <a:r>
              <a:rPr lang="en-US" i="1" dirty="0"/>
              <a:t>Big Bang" Integration</a:t>
            </a:r>
            <a:r>
              <a:rPr lang="en-US" dirty="0"/>
              <a:t>)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809852" y="3571876"/>
            <a:ext cx="67151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ru-RU" sz="2800" dirty="0"/>
              <a:t>Все или практически все разработанные модули собираются вместе в виде законченной системы или ее основной части, и затем проводится интеграционное тестирование.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857232"/>
            <a:ext cx="8229600" cy="1071562"/>
          </a:xfrm>
        </p:spPr>
        <p:txBody>
          <a:bodyPr>
            <a:normAutofit/>
          </a:bodyPr>
          <a:lstStyle/>
          <a:p>
            <a:r>
              <a:rPr lang="ru-RU" b="1" dirty="0"/>
              <a:t>Системное тестирование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24100" y="1964353"/>
            <a:ext cx="77153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проверка как функциональных, так и не функциональных требований в системе в целом.</a:t>
            </a:r>
          </a:p>
          <a:p>
            <a:r>
              <a:rPr lang="ru-RU" sz="2800" b="1" dirty="0"/>
              <a:t>Дефекты: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неверное использование ресурсов системы,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непредусмотренные комбинации данных пользовательского уровня,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несовместимость с окружением,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непредусмотренные сценарии использования,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отсутствующая или неверная функциональность,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неудобство использования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и т.д.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857232"/>
            <a:ext cx="8229600" cy="1071562"/>
          </a:xfrm>
        </p:spPr>
        <p:txBody>
          <a:bodyPr>
            <a:normAutofit/>
          </a:bodyPr>
          <a:lstStyle/>
          <a:p>
            <a:r>
              <a:rPr lang="ru-RU" b="1" dirty="0"/>
              <a:t>Системное тестирование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93298" y="3328894"/>
            <a:ext cx="99603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Подходы к системному тестированию:</a:t>
            </a:r>
          </a:p>
          <a:p>
            <a:pPr>
              <a:buFont typeface="Wingdings" pitchFamily="2" charset="2"/>
              <a:buChar char="Ø"/>
            </a:pPr>
            <a:r>
              <a:rPr lang="ru-RU" sz="2800" b="1" dirty="0"/>
              <a:t>на базе требований</a:t>
            </a:r>
            <a:r>
              <a:rPr lang="ru-RU" sz="2800" dirty="0"/>
              <a:t> (</a:t>
            </a:r>
            <a:r>
              <a:rPr lang="ru-RU" sz="2800" i="1" dirty="0" err="1"/>
              <a:t>requirements</a:t>
            </a:r>
            <a:r>
              <a:rPr lang="ru-RU" sz="2800" i="1" dirty="0"/>
              <a:t> </a:t>
            </a:r>
            <a:r>
              <a:rPr lang="ru-RU" sz="2800" i="1" dirty="0" err="1"/>
              <a:t>based</a:t>
            </a:r>
            <a:r>
              <a:rPr lang="ru-RU" sz="2800" dirty="0"/>
              <a:t>) </a:t>
            </a:r>
          </a:p>
          <a:p>
            <a:pPr>
              <a:buFont typeface="Wingdings" pitchFamily="2" charset="2"/>
              <a:buChar char="Ø"/>
            </a:pPr>
            <a:r>
              <a:rPr lang="ru-RU" sz="2800" b="1" dirty="0"/>
              <a:t>на базе вариантов использования</a:t>
            </a:r>
            <a:r>
              <a:rPr lang="ru-RU" sz="2800" dirty="0"/>
              <a:t> (</a:t>
            </a:r>
            <a:r>
              <a:rPr lang="ru-RU" sz="2800" i="1" dirty="0" err="1"/>
              <a:t>use</a:t>
            </a:r>
            <a:r>
              <a:rPr lang="ru-RU" sz="2800" i="1" dirty="0"/>
              <a:t> </a:t>
            </a:r>
            <a:r>
              <a:rPr lang="ru-RU" sz="2800" i="1" dirty="0" err="1"/>
              <a:t>case</a:t>
            </a:r>
            <a:r>
              <a:rPr lang="ru-RU" sz="2800" i="1" dirty="0"/>
              <a:t> </a:t>
            </a:r>
            <a:r>
              <a:rPr lang="ru-RU" sz="2800" i="1" dirty="0" err="1"/>
              <a:t>based</a:t>
            </a:r>
            <a:r>
              <a:rPr lang="ru-RU" sz="2800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857232"/>
            <a:ext cx="8229600" cy="1357322"/>
          </a:xfrm>
        </p:spPr>
        <p:txBody>
          <a:bodyPr>
            <a:normAutofit/>
          </a:bodyPr>
          <a:lstStyle/>
          <a:p>
            <a:r>
              <a:rPr lang="ru-RU" b="1" dirty="0"/>
              <a:t>Приемочное тестирование или Приемо-сдаточное испытание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238348" y="2857496"/>
            <a:ext cx="764386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Формальный процесс тестирования, который проверяет соответствие системы требованиям и проводится с целью</a:t>
            </a:r>
            <a:r>
              <a:rPr lang="ru-RU" sz="2800" b="1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определения удовлетворяет ли система приемочным критериям; 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вынесения решения заказчиком или другим уполномоченным лицом принимается приложение или нет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857232"/>
            <a:ext cx="8229600" cy="1357322"/>
          </a:xfrm>
        </p:spPr>
        <p:txBody>
          <a:bodyPr>
            <a:normAutofit/>
          </a:bodyPr>
          <a:lstStyle/>
          <a:p>
            <a:r>
              <a:rPr lang="ru-RU" b="1" dirty="0"/>
              <a:t>Приемочное тестирование или Приемо-сдаточное испытание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41540" y="2857496"/>
            <a:ext cx="964067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выполняется на основании набора типичных тестовых случаев и сценариев, разработанных на основании требований к данному приложению.</a:t>
            </a:r>
          </a:p>
          <a:p>
            <a:r>
              <a:rPr lang="ru-RU" sz="2800" dirty="0"/>
              <a:t>Решение о проведении приемочного тестирования принимается, когда: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продукт достиг необходимого уровня качества;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/>
              <a:t>заказчик ознакомлен с </a:t>
            </a:r>
            <a:r>
              <a:rPr lang="ru-RU" sz="2800" b="1" dirty="0"/>
              <a:t>Планом Приемочных Работ</a:t>
            </a:r>
            <a:r>
              <a:rPr lang="ru-RU" sz="2800" dirty="0"/>
              <a:t> (</a:t>
            </a:r>
            <a:r>
              <a:rPr lang="ru-RU" sz="2800" b="1" dirty="0" err="1"/>
              <a:t>Product</a:t>
            </a:r>
            <a:r>
              <a:rPr lang="ru-RU" sz="2800" b="1" dirty="0"/>
              <a:t> </a:t>
            </a:r>
            <a:r>
              <a:rPr lang="ru-RU" sz="2800" b="1" dirty="0" err="1"/>
              <a:t>Acceptance</a:t>
            </a:r>
            <a:r>
              <a:rPr lang="ru-RU" sz="2800" b="1" dirty="0"/>
              <a:t> </a:t>
            </a:r>
            <a:r>
              <a:rPr lang="ru-RU" sz="2800" b="1" dirty="0" err="1"/>
              <a:t>Plan</a:t>
            </a:r>
            <a:r>
              <a:rPr lang="ru-RU" sz="2800"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66B35-5F48-41E8-944C-CE12272DA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/>
              <a:t>Интеграционное тестирование</a:t>
            </a:r>
            <a:r>
              <a:rPr lang="ru-RU" dirty="0"/>
              <a:t> 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6E383-C5C3-4C6D-9988-E68DE496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- это тестирование части системы, состоящей из двух и более модулей. Основная задача </a:t>
            </a:r>
            <a:r>
              <a:rPr lang="ru-RU" i="1" dirty="0"/>
              <a:t>интеграционного тестирования</a:t>
            </a:r>
            <a:r>
              <a:rPr lang="ru-RU" dirty="0"/>
              <a:t> - поиск дефектов, связанных с ошибками в реализации и интерпретации интерфейсного взаимодействия между модулями.</a:t>
            </a:r>
          </a:p>
        </p:txBody>
      </p:sp>
    </p:spTree>
    <p:extLst>
      <p:ext uri="{BB962C8B-B14F-4D97-AF65-F5344CB8AC3E}">
        <p14:creationId xmlns:p14="http://schemas.microsoft.com/office/powerpoint/2010/main" val="288296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2BBF3-5B95-4CBF-AA07-0F8EA576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Пример структуры комплекса программ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8B20E0-6DF2-4C93-BB16-3970D8C8A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9A7412-6DEF-4F1D-ACF6-9C3260E6F7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01660" y="1825625"/>
            <a:ext cx="7090914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51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86FA0-7F0D-43C9-BC5B-8F517338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Два метода 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сборки модулей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173F29-F156-45B8-B0BE-D02278C11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528" y="1825624"/>
            <a:ext cx="12019472" cy="5032375"/>
          </a:xfrm>
        </p:spPr>
        <p:txBody>
          <a:bodyPr/>
          <a:lstStyle/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Монолитный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характеризующийся одновременным объединением всех модулей в тестируемый комплекс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Инкрементальный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характеризующийся пошаговым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помодульным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) наращиванием комплекса программ с 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пошаговым тестированием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собираемого комплекса. В инкрементальном методе выделяют две стратегии добавления модулей:</a:t>
            </a:r>
          </a:p>
          <a:p>
            <a:pPr marL="742950" lvl="1" indent="-285750" algn="just"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"Сверху вниз" и соответствующее ему </a:t>
            </a:r>
            <a:r>
              <a:rPr lang="ru-RU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нисходящее тестирование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"Снизу вверх" и соответственно </a:t>
            </a:r>
            <a:r>
              <a:rPr lang="ru-RU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восходящее тестирование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844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8D58A-C902-4856-9FC8-25E0248C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04" y="365125"/>
            <a:ext cx="11025996" cy="1325563"/>
          </a:xfrm>
        </p:spPr>
        <p:txBody>
          <a:bodyPr/>
          <a:lstStyle/>
          <a:p>
            <a:pPr algn="ctr"/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Сравнение </a:t>
            </a:r>
            <a:r>
              <a:rPr lang="ru-RU" i="1">
                <a:latin typeface="Times New Roman" panose="02020603050405020304" pitchFamily="18" charset="0"/>
                <a:ea typeface="Calibri" panose="020F0502020204030204" pitchFamily="34" charset="0"/>
              </a:rPr>
              <a:t>монолитного</a:t>
            </a: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 и инкрементального подхода 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C1516E-A1F4-469E-BEB8-B6F03DFCB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885726"/>
          </a:xfrm>
        </p:spPr>
        <p:txBody>
          <a:bodyPr>
            <a:normAutofit/>
          </a:bodyPr>
          <a:lstStyle/>
          <a:p>
            <a:pPr lvl="0"/>
            <a:r>
              <a:rPr lang="ru-RU" i="1" dirty="0"/>
              <a:t>Монолитное тестирование</a:t>
            </a:r>
            <a:r>
              <a:rPr lang="ru-RU" dirty="0"/>
              <a:t> требует больших трудозатрат, связанных с дополнительной разработкой драйверов и заглушек и со сложностью идентификации ошибок, проявляющихся в пространстве собранного кода.</a:t>
            </a:r>
          </a:p>
          <a:p>
            <a:pPr lvl="0"/>
            <a:r>
              <a:rPr lang="ru-RU" dirty="0"/>
              <a:t>Пошаговое тестирование связано с меньшей трудоемкостью идентификации ошибок за счет постепенного наращивания объема тестируемого кода и соответственно локализации добавленной области тестируемого кода.</a:t>
            </a:r>
          </a:p>
          <a:p>
            <a:pPr lvl="0"/>
            <a:r>
              <a:rPr lang="ru-RU" i="1" dirty="0"/>
              <a:t>Монолитное тестирование</a:t>
            </a:r>
            <a:r>
              <a:rPr lang="ru-RU" dirty="0"/>
              <a:t> предоставляет большие возможности распараллеливания работ особенно на начальной </a:t>
            </a:r>
            <a:r>
              <a:rPr lang="ru-RU" i="1" dirty="0"/>
              <a:t>фазе тестирования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474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7452F-F32A-4168-9F3D-2651D1F0C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нисходящего тестирования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5A9B5E-724C-43D8-908F-4F8648C06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среды для исполняемой очередности вызовов оттестированными модулями тестируемых модулей,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постоянная разработка и использование заглушек,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приоритетного тестирования модулей, содержащих операции обмена с окружением, или модулей, критичных для тестируемого алгоритма.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1806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452022-B5F8-4881-957E-9EF0DC01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Недостатки </a:t>
            </a:r>
            <a:r>
              <a:rPr lang="ru-RU" i="1">
                <a:latin typeface="Times New Roman" panose="02020603050405020304" pitchFamily="18" charset="0"/>
                <a:ea typeface="Calibri" panose="020F0502020204030204" pitchFamily="34" charset="0"/>
              </a:rPr>
              <a:t>нисходящего тестирования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04CEDA-92BA-4284-A1AB-0094AAD78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825625"/>
            <a:ext cx="11818189" cy="4799462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31877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Проблема разработки достаточно "интеллектуальных" заглушек, т.е. заглушек, пригодных к использованию при моделировании различных режимов работы комплекса, необходимых для тестирования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31877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Сложность организации и разработки среды для реализации исполнения модулей в нужной последовательности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31877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Параллельная разработка модулей верхних и нижних уровней приводит к не всегда эффективной реализации модулей из-за подстройки (специализации) еще не тестированных модулей нижних уровней к уже оттестированным модулям верхних уровней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547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33701-B62F-4BA4-9095-AA9E9C6C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Особенности восходящего тестирования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233E93-066F-4E85-BFFF-82C9C9037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 организации порядка 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сборки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и перехода к тестированию модулей, соответствующему порядку их реализации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2028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6E7B9-34A4-459F-BA94-1358EEC5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Недостатки </a:t>
            </a:r>
            <a:r>
              <a:rPr lang="ru-RU" i="1">
                <a:latin typeface="Times New Roman" panose="02020603050405020304" pitchFamily="18" charset="0"/>
                <a:ea typeface="Calibri" panose="020F0502020204030204" pitchFamily="34" charset="0"/>
              </a:rPr>
              <a:t>восходящего тестирования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65DB8B-BAF9-4C30-AEB6-B3F2313A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Запаздывание проверки концептуальных особенностей тестируемого комплекса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Необходимость в разработке и использовании драйверов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616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4646B-433B-4FDA-9A84-930E9850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indent="450215" algn="just">
              <a:spcAft>
                <a:spcPts val="0"/>
              </a:spcAft>
            </a:pPr>
            <a:r>
              <a:rPr lang="ru-RU" b="1">
                <a:latin typeface="Times New Roman" panose="02020603050405020304" pitchFamily="18" charset="0"/>
                <a:ea typeface="Calibri" panose="020F0502020204030204" pitchFamily="34" charset="0"/>
              </a:rPr>
              <a:t>Особенности интеграционного тестирования для процедурного программирования</a:t>
            </a:r>
            <a:endParaRPr lang="ru-RU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82BBE5-9D64-4AB9-A8C2-79431D216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Процесс построения набора тестов при структурном тестировании определяется принципом, на котором основывается конструирование Графа 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Модели Программы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(ГМП). 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тестирование практически всегда проводится по критерию покрытия ветвей C1, т.е. каждая дуга и каждая вершина графа модуля должны содержаться, по крайней мере, в одном из путей тестирования.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Сложность тестирования модуля по критерию С1 выражается уточненной формулой для оценки топологической сложности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МакКейба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V(P,C1) = q +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k</a:t>
            </a:r>
            <a:r>
              <a:rPr lang="ru-RU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где q - число бинарных выборов для условий ветвления, а 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k</a:t>
            </a:r>
            <a:r>
              <a:rPr lang="ru-RU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- число входов графа.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3649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BA5B4-F8FA-40CF-A362-48EBCDA5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два варианта построения </a:t>
            </a:r>
            <a:r>
              <a:rPr lang="ru-RU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графовой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 модели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 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A4A486-44BD-4214-A298-4AEF64C07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Плоская или иерархическая модель проекта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Граф вызовов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A6E976-2C3B-4265-A489-670E55F97E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2797" y="2943225"/>
            <a:ext cx="3486150" cy="39147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F066D2-4B6B-4963-B6D6-FF10E0DD21E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14472" y="3510950"/>
            <a:ext cx="2863701" cy="280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91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00DF4B-2F80-44BA-8FA5-E7F086FC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1" y="365125"/>
            <a:ext cx="1155939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интеграционного тестирования для объектно-ориентированного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E4DAF3-C884-41E7-8803-99EB31C4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551" y="1825624"/>
            <a:ext cx="11881449" cy="5032375"/>
          </a:xfrm>
        </p:spPr>
        <p:txBody>
          <a:bodyPr>
            <a:normAutofit lnSpcReduction="10000"/>
          </a:bodyPr>
          <a:lstStyle/>
          <a:p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Графовая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модель класса, как и объектно-ориентированной программы, на интеграционном уровне в качестве узлов использует методы. Дуги данной ГМП (вызовы методов) могут быть образованы двумя способами:</a:t>
            </a:r>
            <a:endParaRPr lang="ru-RU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Прямым вызовом одного метода из кода другого, в случае, если вызываемый метод виден (не закрыт для доступа средствами языка программирования) из класса, содержащего вызывающий метод, присвоим такой конструкции название </a:t>
            </a:r>
            <a:r>
              <a:rPr lang="ru-RU" b="1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Р-путь (P-</a:t>
            </a:r>
            <a:r>
              <a:rPr lang="ru-RU" b="1" i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path</a:t>
            </a:r>
            <a:r>
              <a:rPr lang="ru-RU" b="1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ru-RU" b="1" i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Procedure</a:t>
            </a:r>
            <a:r>
              <a:rPr lang="ru-RU" b="1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ru-RU" b="1" i="1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path</a:t>
            </a:r>
            <a:r>
              <a:rPr lang="ru-RU" b="1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, процедурный путь)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.</a:t>
            </a:r>
            <a:endParaRPr lang="ru-RU" sz="4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Обработкой сообщения, когда явного вызова метода нет, но в результате работы "вызывающего" метода порождается сообщение, которое должно быть обработано "вызываемым" методом.</a:t>
            </a:r>
            <a:endParaRPr lang="ru-RU" sz="4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8854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DE147-F906-4945-8301-1002CCDE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23" y="365125"/>
            <a:ext cx="12053977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MM-путей и P-путей в </a:t>
            </a:r>
            <a:r>
              <a:rPr lang="ru-RU" dirty="0" err="1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графовой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модели класса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88CD63-265C-4EF1-8392-DFE8ADABE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 descr="Пример MM-путей и P-путей в графовой модели класса">
            <a:extLst>
              <a:ext uri="{FF2B5EF4-FFF2-40B4-BE49-F238E27FC236}">
                <a16:creationId xmlns:a16="http://schemas.microsoft.com/office/drawing/2014/main" id="{710B62C7-884E-4496-B7A8-CDC1E0228D4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142" y="1825625"/>
            <a:ext cx="6418053" cy="5248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9868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00144-509A-492D-89FE-A3B81D8B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6DCFD-59D0-4A96-A068-CA87A9143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317047"/>
          </a:xfrm>
        </p:spPr>
        <p:txBody>
          <a:bodyPr>
            <a:normAutofit lnSpcReduction="10000"/>
          </a:bodyPr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Значение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Kext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(число точек входа, которые могут быть вызваны извне) определяется как сумма методов - обработчиков сообщений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Kmsg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и тех методов, которые могут быть вызваны из других классов программы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Kem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.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Это определяется самим разработчиком путем разграничения доступа к методам класса (с помощью ключевых слов разграничения доступа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private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protected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) при написании методов, а также назначении дружественных (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friend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) функций и дружественных классов. 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Таким образом,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Kext</a:t>
            </a:r>
            <a:r>
              <a:rPr lang="ru-RU" dirty="0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Kmsg</a:t>
            </a:r>
            <a:r>
              <a:rPr lang="ru-RU" dirty="0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+ </a:t>
            </a:r>
            <a:r>
              <a:rPr lang="ru-RU" dirty="0" err="1">
                <a:solidFill>
                  <a:srgbClr val="8B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Kem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, и имеет новый по сравнению с процедурным программированием физический смысл.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233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FC303-05F2-4474-AA32-677C5DEC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отличия от программы, построенной по процедурному принципу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5D5D8E-65C1-4D4C-B612-786042903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Принцип соединения узлов в ГМП, отражающий два возможных типа вызовов методов класса (через </a:t>
            </a:r>
            <a:r>
              <a:rPr lang="ru-RU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ММ-пути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и </a:t>
            </a:r>
            <a:r>
              <a:rPr lang="ru-RU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Р-пути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), что приводит к новому наполнению для множества М требуемых элементов.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(модули) непрозрачны для внешних объектов, что влечет за собой неприменимость механизма упрощения графа модуля, используемого для получения </a:t>
            </a:r>
            <a:r>
              <a:rPr lang="ru-RU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графа вызовов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ru-RU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процедурном программировании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923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14C51-209D-4059-97E6-C31D234B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формула </a:t>
            </a:r>
            <a:r>
              <a:rPr lang="ru-RU" i="1" dirty="0"/>
              <a:t>оценки сложности интеграционного тестирования</a:t>
            </a:r>
            <a:r>
              <a:rPr lang="ru-RU" dirty="0"/>
              <a:t> класса </a:t>
            </a:r>
            <a:r>
              <a:rPr lang="ru-RU" dirty="0" err="1"/>
              <a:t>Cls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4B3122-C998-4404-89D4-A62893F97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4400" dirty="0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V(</a:t>
            </a:r>
            <a:r>
              <a:rPr lang="ru-RU" sz="4400" dirty="0" err="1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Cls</a:t>
            </a:r>
            <a:r>
              <a:rPr lang="ru-RU" sz="4400" dirty="0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C) = f (</a:t>
            </a:r>
            <a:r>
              <a:rPr lang="ru-RU" sz="4400" dirty="0" err="1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</a:t>
            </a:r>
            <a:r>
              <a:rPr lang="ru-RU" sz="4400" baseline="-25000" dirty="0" err="1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msg</a:t>
            </a:r>
            <a:r>
              <a:rPr lang="ru-RU" sz="4400" dirty="0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ru-RU" sz="4400" dirty="0" err="1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</a:t>
            </a:r>
            <a:r>
              <a:rPr lang="ru-RU" sz="4400" baseline="-25000" dirty="0" err="1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em</a:t>
            </a:r>
            <a:r>
              <a:rPr lang="ru-RU" sz="4400" dirty="0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</a:t>
            </a:r>
            <a:r>
              <a:rPr lang="ru-RU" dirty="0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содержащая </a:t>
            </a:r>
            <a:r>
              <a:rPr lang="ru-RU" dirty="0">
                <a:solidFill>
                  <a:srgbClr val="8B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классов, имеет сложность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интеграционного тестирования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классов</a:t>
            </a:r>
          </a:p>
          <a:p>
            <a:pPr algn="just"/>
            <a:endParaRPr lang="ru-RU" sz="4400" dirty="0">
              <a:solidFill>
                <a:srgbClr val="8B0000"/>
              </a:solidFill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/>
            <a:endParaRPr lang="ru-RU" sz="4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1F5469-4650-4BA4-9142-F6360233ABD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947" y="4001293"/>
            <a:ext cx="6107502" cy="14678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2275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F26816-6A0A-460A-AD7C-73F49F8C5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42" y="399631"/>
            <a:ext cx="11818189" cy="1584357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включения объекта в модель программного проекта, построенного с использованием MM-путей и P-путей</a:t>
            </a:r>
            <a:endParaRPr lang="ru-RU" dirty="0"/>
          </a:p>
        </p:txBody>
      </p:sp>
      <p:pic>
        <p:nvPicPr>
          <p:cNvPr id="4" name="Объект 3" descr="Пример включения объекта в модель программного проекта, построенного с использованием MM-путей и P-путей">
            <a:extLst>
              <a:ext uri="{FF2B5EF4-FFF2-40B4-BE49-F238E27FC236}">
                <a16:creationId xmlns:a16="http://schemas.microsoft.com/office/drawing/2014/main" id="{1DDD6A5D-0789-4CD1-81D5-D14CF9E864F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54" y="1983988"/>
            <a:ext cx="10121567" cy="46583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6074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8F031-F4D4-41C2-AA34-7C43EEC4C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Дерево классов проекта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D33E1-CC17-4FB1-AA53-500650958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Дерево классов проекта">
            <a:extLst>
              <a:ext uri="{FF2B5EF4-FFF2-40B4-BE49-F238E27FC236}">
                <a16:creationId xmlns:a16="http://schemas.microsoft.com/office/drawing/2014/main" id="{35EC8973-0EF2-4D95-9C37-6121A1DFF61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570" y="2657475"/>
            <a:ext cx="6499105" cy="33982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694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34177-2F24-4838-9D99-8274ABED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Модель класса, входящего в программный проект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7CC20-D570-48E4-97D5-14B935F3F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Модель класса, входящего в программный проект">
            <a:extLst>
              <a:ext uri="{FF2B5EF4-FFF2-40B4-BE49-F238E27FC236}">
                <a16:creationId xmlns:a16="http://schemas.microsoft.com/office/drawing/2014/main" id="{81BC4FD6-C228-47FA-883C-D2C015D7EE4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879" y="2386012"/>
            <a:ext cx="5546246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9784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8C54A-4115-44F3-84A1-EFDA3DF2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75" y="365125"/>
            <a:ext cx="11404121" cy="1325563"/>
          </a:xfrm>
        </p:spPr>
        <p:txBody>
          <a:bodyPr>
            <a:normAutofit fontScale="90000"/>
          </a:bodyPr>
          <a:lstStyle/>
          <a:p>
            <a:r>
              <a:rPr lang="ru-RU" i="1">
                <a:latin typeface="Times New Roman" panose="02020603050405020304" pitchFamily="18" charset="0"/>
                <a:ea typeface="Calibri" panose="020F0502020204030204" pitchFamily="34" charset="0"/>
              </a:rPr>
              <a:t>Методика проведения тестирования программы</a:t>
            </a: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, представленной в виде </a:t>
            </a:r>
            <a:r>
              <a:rPr lang="ru-RU" i="1">
                <a:latin typeface="Times New Roman" panose="02020603050405020304" pitchFamily="18" charset="0"/>
                <a:ea typeface="Calibri" panose="020F0502020204030204" pitchFamily="34" charset="0"/>
              </a:rPr>
              <a:t>классовой модели</a:t>
            </a:r>
            <a:r>
              <a:rPr lang="ru-RU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9F9A26-1BA5-4D12-A736-E5D2D98D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551" y="1825625"/>
            <a:ext cx="11043249" cy="4351338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На первом уровне проводится тестирование методов каждого класса программы, что соответствует этапу модульного тестирования.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На втором уровне тестируются методы класса, которые образуют контекст </a:t>
            </a:r>
            <a:r>
              <a:rPr lang="ru-RU" i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интеграционного тестирования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 каждого класса.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</a:rPr>
              <a:t>На третьем уровне протестированный класс включается в общий контекст (дерево классов) программного проекта. Здесь становится возможным отслеживать реакцию программы на внешние события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9791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F4C7C-B526-49F5-AEC7-E0A4FBB8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Уровни тестирования классовой модели программного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FB4D46-73C8-4886-AB8C-02B06B1C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Уровни тестирования классовой модели программного проекта">
            <a:extLst>
              <a:ext uri="{FF2B5EF4-FFF2-40B4-BE49-F238E27FC236}">
                <a16:creationId xmlns:a16="http://schemas.microsoft.com/office/drawing/2014/main" id="{29AFF6E1-66E1-4B96-BBF3-94BE7D44A6D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660" y="2214562"/>
            <a:ext cx="5356465" cy="409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34778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1123</Words>
  <Application>Microsoft Office PowerPoint</Application>
  <PresentationFormat>Широкоэкранный</PresentationFormat>
  <Paragraphs>123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Symbol</vt:lpstr>
      <vt:lpstr>Times New Roman</vt:lpstr>
      <vt:lpstr>Verdana</vt:lpstr>
      <vt:lpstr>Wingdings</vt:lpstr>
      <vt:lpstr>Тема Office</vt:lpstr>
      <vt:lpstr>Лекция7. Интеграционное тестирование программы</vt:lpstr>
      <vt:lpstr>Уровень тестирования</vt:lpstr>
      <vt:lpstr>Компонентное или Модульное тестирование </vt:lpstr>
      <vt:lpstr>Компонентное или Модульное тестирование</vt:lpstr>
      <vt:lpstr>Интеграционное тестирование</vt:lpstr>
      <vt:lpstr>Компонентный интеграционный уровень (Component Integration testing)</vt:lpstr>
      <vt:lpstr>Подход Снизу вверх (Bottom Up Integration)</vt:lpstr>
      <vt:lpstr>Подход Сверху вниз (Top Down Integration) </vt:lpstr>
      <vt:lpstr>Подход Большой взрыв ("Big Bang" Integration) </vt:lpstr>
      <vt:lpstr>Системное тестирование</vt:lpstr>
      <vt:lpstr>Системное тестирование</vt:lpstr>
      <vt:lpstr>Приемочное тестирование или Приемо-сдаточное испытание</vt:lpstr>
      <vt:lpstr>Приемочное тестирование или Приемо-сдаточное испытание</vt:lpstr>
      <vt:lpstr>Интеграционное тестирование </vt:lpstr>
      <vt:lpstr>Пример структуры комплекса программ</vt:lpstr>
      <vt:lpstr>Два метода сборки модулей:</vt:lpstr>
      <vt:lpstr>Сравнение монолитного и инкрементального подхода </vt:lpstr>
      <vt:lpstr>Особенности нисходящего тестирования </vt:lpstr>
      <vt:lpstr>Недостатки нисходящего тестирования</vt:lpstr>
      <vt:lpstr>Особенности восходящего тестирования </vt:lpstr>
      <vt:lpstr>Недостатки восходящего тестирования</vt:lpstr>
      <vt:lpstr>Особенности интеграционного тестирования для процедурного программирования</vt:lpstr>
      <vt:lpstr>два варианта построения графовой модели проекта</vt:lpstr>
      <vt:lpstr>Особенности интеграционного тестирования для объектно-ориентированного программирования</vt:lpstr>
      <vt:lpstr>Пример MM-путей и P-путей в графовой модели класса</vt:lpstr>
      <vt:lpstr>Презентация PowerPoint</vt:lpstr>
      <vt:lpstr>отличия от программы, построенной по процедурному принципу</vt:lpstr>
      <vt:lpstr>формула оценки сложности интеграционного тестирования класса Cls</vt:lpstr>
      <vt:lpstr>Пример включения объекта в модель программного проекта, построенного с использованием MM-путей и P-путей</vt:lpstr>
      <vt:lpstr>Дерево классов проекта</vt:lpstr>
      <vt:lpstr>Модель класса, входящего в программный проект</vt:lpstr>
      <vt:lpstr>Методика проведения тестирования программы, представленной в виде классовой модели </vt:lpstr>
      <vt:lpstr>.  Уровни тестирования классовой модели программного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Основы отладки программного обеспечения</dc:title>
  <dc:creator>Евгений Ткачук</dc:creator>
  <cp:lastModifiedBy>Евгений Ткачук</cp:lastModifiedBy>
  <cp:revision>58</cp:revision>
  <dcterms:created xsi:type="dcterms:W3CDTF">2019-08-14T13:27:45Z</dcterms:created>
  <dcterms:modified xsi:type="dcterms:W3CDTF">2019-08-23T18:00:10Z</dcterms:modified>
</cp:coreProperties>
</file>
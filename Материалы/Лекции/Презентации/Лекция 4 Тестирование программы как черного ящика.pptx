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2" r:id="rId3"/>
    <p:sldId id="266" r:id="rId4"/>
    <p:sldId id="327" r:id="rId5"/>
    <p:sldId id="260" r:id="rId6"/>
    <p:sldId id="325" r:id="rId7"/>
    <p:sldId id="261" r:id="rId8"/>
    <p:sldId id="262" r:id="rId9"/>
    <p:sldId id="265" r:id="rId10"/>
    <p:sldId id="270" r:id="rId11"/>
    <p:sldId id="345" r:id="rId12"/>
    <p:sldId id="346" r:id="rId13"/>
    <p:sldId id="344" r:id="rId14"/>
    <p:sldId id="348" r:id="rId15"/>
    <p:sldId id="349" r:id="rId16"/>
    <p:sldId id="263" r:id="rId17"/>
    <p:sldId id="264" r:id="rId18"/>
    <p:sldId id="350" r:id="rId19"/>
    <p:sldId id="351" r:id="rId20"/>
    <p:sldId id="271" r:id="rId21"/>
    <p:sldId id="328" r:id="rId22"/>
    <p:sldId id="329" r:id="rId23"/>
    <p:sldId id="330" r:id="rId24"/>
    <p:sldId id="331" r:id="rId25"/>
    <p:sldId id="332" r:id="rId26"/>
    <p:sldId id="333" r:id="rId27"/>
    <p:sldId id="334" r:id="rId28"/>
    <p:sldId id="335" r:id="rId29"/>
    <p:sldId id="336" r:id="rId30"/>
    <p:sldId id="337" r:id="rId31"/>
    <p:sldId id="338" r:id="rId32"/>
    <p:sldId id="339" r:id="rId33"/>
    <p:sldId id="340" r:id="rId3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1" autoAdjust="0"/>
    <p:restoredTop sz="94660"/>
  </p:normalViewPr>
  <p:slideViewPr>
    <p:cSldViewPr snapToGrid="0">
      <p:cViewPr varScale="1">
        <p:scale>
          <a:sx n="56" d="100"/>
          <a:sy n="56" d="100"/>
        </p:scale>
        <p:origin x="96" y="1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DF9580-42EB-48AC-810B-BB0E7F2D5F3E}"/>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FAE8292E-6725-4EBA-AF64-0242450F37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3A5D51C-1AE2-41A1-A243-A88A3F18EA0B}"/>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5" name="Нижний колонтитул 4">
            <a:extLst>
              <a:ext uri="{FF2B5EF4-FFF2-40B4-BE49-F238E27FC236}">
                <a16:creationId xmlns:a16="http://schemas.microsoft.com/office/drawing/2014/main" id="{58A500DA-FFB6-4F18-B2B6-B5259CEDCB6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01ADE00-A412-4690-AB4D-5BA86C65F7A2}"/>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3024205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67AFB2-5487-43BD-A645-C4A3E33B791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B96A168-825C-4326-A59F-C3BB7887457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D93C725-B896-48F2-ADDE-D37B1A502687}"/>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5" name="Нижний колонтитул 4">
            <a:extLst>
              <a:ext uri="{FF2B5EF4-FFF2-40B4-BE49-F238E27FC236}">
                <a16:creationId xmlns:a16="http://schemas.microsoft.com/office/drawing/2014/main" id="{08AAC956-C61E-4D74-AAAE-3297BC39E1D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7EF7295A-E096-48F5-ACE3-9E15113433EE}"/>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12528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5B02D1-10E1-473A-8134-134AD3AA91B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EE004C6-1147-4469-A70E-D8E150A3FD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CBF3FB5-2E7D-4603-820F-B85A66473612}"/>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5" name="Нижний колонтитул 4">
            <a:extLst>
              <a:ext uri="{FF2B5EF4-FFF2-40B4-BE49-F238E27FC236}">
                <a16:creationId xmlns:a16="http://schemas.microsoft.com/office/drawing/2014/main" id="{C3E9286F-A86D-4991-8995-00B81E735D6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B5A1E1C-85B8-4977-9507-D3C087132551}"/>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4156661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534FE5-5BD8-43AA-91BC-2D147142F6D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50B1232-01C2-4007-A922-E184E0B771E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281081E9-62C3-4FAD-9C53-26802FA3DB15}"/>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87B8451-3D16-4C30-A2E6-3FA46A78A0C1}"/>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6" name="Нижний колонтитул 5">
            <a:extLst>
              <a:ext uri="{FF2B5EF4-FFF2-40B4-BE49-F238E27FC236}">
                <a16:creationId xmlns:a16="http://schemas.microsoft.com/office/drawing/2014/main" id="{FBB6A1F6-D99A-49EB-8A2D-566F766CB7D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E4F96EA-37A5-4595-91BC-5E17DEA0D78A}"/>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713898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12972D-3909-4348-8D3E-FB0B9C48156D}"/>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3462F1E4-21B0-4F61-9AFC-1EF4F7355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02EFD26D-70FD-453E-A183-F97316B1EAB8}"/>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30F60524-08FD-4F48-B481-D6C99A1A87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4A8C5EC-3CA1-49B0-97D2-402967F34AD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F74BD85B-1719-4E6F-9257-854B45D48AC5}"/>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8" name="Нижний колонтитул 7">
            <a:extLst>
              <a:ext uri="{FF2B5EF4-FFF2-40B4-BE49-F238E27FC236}">
                <a16:creationId xmlns:a16="http://schemas.microsoft.com/office/drawing/2014/main" id="{2641837F-12FB-4E67-935B-C8BE0B3AE33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FBB0F62C-8BB2-459C-9B31-87EAAC6DC649}"/>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791554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A5281C-70FB-4D37-BCB6-FFFFF20818AD}"/>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6D0B246F-1ED8-4FA0-960B-0CBD67BFA652}"/>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4" name="Нижний колонтитул 3">
            <a:extLst>
              <a:ext uri="{FF2B5EF4-FFF2-40B4-BE49-F238E27FC236}">
                <a16:creationId xmlns:a16="http://schemas.microsoft.com/office/drawing/2014/main" id="{305F674F-EDC4-498F-B8F9-8DBBB9A70E69}"/>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436973A7-DA5C-4FF8-80B2-B76580BCC48A}"/>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3248166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7CA5361D-F9C0-4A4B-94C5-36D3C594725F}"/>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3" name="Нижний колонтитул 2">
            <a:extLst>
              <a:ext uri="{FF2B5EF4-FFF2-40B4-BE49-F238E27FC236}">
                <a16:creationId xmlns:a16="http://schemas.microsoft.com/office/drawing/2014/main" id="{A1271546-2724-47C4-9DBB-C1EC3454B39F}"/>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604A4A9-C09F-4A05-8121-46D919C12055}"/>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260147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163F6E-0050-42E8-A4DC-A5C05B4ED218}"/>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A607F604-2E61-4106-8A08-9CF362EDF2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97603790-11D4-4A58-92FB-E58F04DE4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C0B2516-2379-4206-A700-3E2C62F2E0A9}"/>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6" name="Нижний колонтитул 5">
            <a:extLst>
              <a:ext uri="{FF2B5EF4-FFF2-40B4-BE49-F238E27FC236}">
                <a16:creationId xmlns:a16="http://schemas.microsoft.com/office/drawing/2014/main" id="{1AFCCECC-4067-4DF3-8362-A7848314B8F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B9C0ACDA-122C-47C2-A550-2554ECA86C4D}"/>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2652317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D81A8F-5421-4CF5-9353-AE0E071C0CB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8CF67F5-9A8B-46B3-9C57-7B0630670B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8160048-8570-4BC9-AD31-FE0F542608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FC636A0-F77B-462D-836A-DE63125E43A8}"/>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6" name="Нижний колонтитул 5">
            <a:extLst>
              <a:ext uri="{FF2B5EF4-FFF2-40B4-BE49-F238E27FC236}">
                <a16:creationId xmlns:a16="http://schemas.microsoft.com/office/drawing/2014/main" id="{9CEA56B6-E062-437F-A6EF-910DED94226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928C62A-C851-43B2-BB27-EF26B0CC91E0}"/>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1421260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6577A5-AB23-469C-9601-9E46E0769E1E}"/>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362F9A3F-B16C-4790-AF7F-204D4A17602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FB530A9-1D7E-461B-B792-697E0C31F7A3}"/>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5" name="Нижний колонтитул 4">
            <a:extLst>
              <a:ext uri="{FF2B5EF4-FFF2-40B4-BE49-F238E27FC236}">
                <a16:creationId xmlns:a16="http://schemas.microsoft.com/office/drawing/2014/main" id="{A4210732-5E6F-40CE-9BAF-750B81CD37A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B40B9CB-1BC6-4831-A2B9-65DF8710868A}"/>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2656946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BCB3DD1-B640-4F42-8618-52DC401E049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46D65716-E894-40E3-A7A6-48B7AA747252}"/>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CD1B5BE-4A56-48E5-B5DD-F8F4A508296A}"/>
              </a:ext>
            </a:extLst>
          </p:cNvPr>
          <p:cNvSpPr>
            <a:spLocks noGrp="1"/>
          </p:cNvSpPr>
          <p:nvPr>
            <p:ph type="dt" sz="half" idx="10"/>
          </p:nvPr>
        </p:nvSpPr>
        <p:spPr/>
        <p:txBody>
          <a:bodyPr/>
          <a:lstStyle/>
          <a:p>
            <a:fld id="{B600AC16-FB68-4D90-9C71-CAD0E5C2F217}" type="datetimeFigureOut">
              <a:rPr lang="ru-RU" smtClean="0"/>
              <a:t>22.08.2019</a:t>
            </a:fld>
            <a:endParaRPr lang="ru-RU"/>
          </a:p>
        </p:txBody>
      </p:sp>
      <p:sp>
        <p:nvSpPr>
          <p:cNvPr id="5" name="Нижний колонтитул 4">
            <a:extLst>
              <a:ext uri="{FF2B5EF4-FFF2-40B4-BE49-F238E27FC236}">
                <a16:creationId xmlns:a16="http://schemas.microsoft.com/office/drawing/2014/main" id="{5BF142BC-0189-40CA-8E9E-51AC0DFB33A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66C32AEA-D104-4738-8026-3CF7CE3FD611}"/>
              </a:ext>
            </a:extLst>
          </p:cNvPr>
          <p:cNvSpPr>
            <a:spLocks noGrp="1"/>
          </p:cNvSpPr>
          <p:nvPr>
            <p:ph type="sldNum" sz="quarter" idx="12"/>
          </p:nvPr>
        </p:nvSpPr>
        <p:spPr/>
        <p:txBody>
          <a:bodyPr/>
          <a:lstStyle/>
          <a:p>
            <a:fld id="{C5E22D3D-7350-4F05-B7EE-EF8CA3415039}" type="slidenum">
              <a:rPr lang="ru-RU" smtClean="0"/>
              <a:t>‹#›</a:t>
            </a:fld>
            <a:endParaRPr lang="ru-RU"/>
          </a:p>
        </p:txBody>
      </p:sp>
    </p:spTree>
    <p:extLst>
      <p:ext uri="{BB962C8B-B14F-4D97-AF65-F5344CB8AC3E}">
        <p14:creationId xmlns:p14="http://schemas.microsoft.com/office/powerpoint/2010/main" val="179876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A4A46D-0D20-4678-81AC-04EC736075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2AA3114-F7E3-425F-A0BA-D191E63F2E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7381F7B-6C4A-4289-A00A-38C8374EDA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00AC16-FB68-4D90-9C71-CAD0E5C2F217}" type="datetimeFigureOut">
              <a:rPr lang="ru-RU" smtClean="0"/>
              <a:t>22.08.2019</a:t>
            </a:fld>
            <a:endParaRPr lang="ru-RU"/>
          </a:p>
        </p:txBody>
      </p:sp>
      <p:sp>
        <p:nvSpPr>
          <p:cNvPr id="5" name="Нижний колонтитул 4">
            <a:extLst>
              <a:ext uri="{FF2B5EF4-FFF2-40B4-BE49-F238E27FC236}">
                <a16:creationId xmlns:a16="http://schemas.microsoft.com/office/drawing/2014/main" id="{98ED8831-BA5A-4BEB-8C70-04E60106AD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68EEA7DA-BF0A-4142-BAC7-C32D4D74C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22D3D-7350-4F05-B7EE-EF8CA3415039}" type="slidenum">
              <a:rPr lang="ru-RU" smtClean="0"/>
              <a:t>‹#›</a:t>
            </a:fld>
            <a:endParaRPr lang="ru-RU"/>
          </a:p>
        </p:txBody>
      </p:sp>
    </p:spTree>
    <p:extLst>
      <p:ext uri="{BB962C8B-B14F-4D97-AF65-F5344CB8AC3E}">
        <p14:creationId xmlns:p14="http://schemas.microsoft.com/office/powerpoint/2010/main" val="2093619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www.protesting.ru/testing/testcase.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ru.wikipedia.org/wiki/%D0%A1%D0%BF%D0%B5%D1%86%D0%B8%D1%84%D0%B8%D0%BA%D0%B0%D1%86%D0%B8%D1%8F_%D0%BF%D1%80%D0%BE%D0%B3%D1%80%D0%B0%D0%BC%D0%BC%D0%BD%D0%BE%D0%B3%D0%BE_%D0%BE%D0%B1%D0%B5%D1%81%D0%BF%D0%B5%D1%87%D0%B5%D0%BD%D0%B8%D1%8F" TargetMode="External"/><Relationship Id="rId2" Type="http://schemas.openxmlformats.org/officeDocument/2006/relationships/hyperlink" Target="https://ru.wikipedia.org/wiki/%D0%A2%D1%80%D0%B5%D0%B1%D0%BE%D0%B2%D0%B0%D0%BD%D0%B8%D1%8F_%D0%BA_%D0%BF%D1%80%D0%BE%D0%B3%D1%80%D0%B0%D0%BC%D0%BC%D0%BD%D0%BE%D0%BC%D1%83_%D0%BE%D0%B1%D0%B5%D1%81%D0%BF%D0%B5%D1%87%D0%B5%D0%BD%D0%B8%D1%8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BD1D42-66DD-4454-B5DC-E175F8AFE71D}"/>
              </a:ext>
            </a:extLst>
          </p:cNvPr>
          <p:cNvSpPr>
            <a:spLocks noGrp="1"/>
          </p:cNvSpPr>
          <p:nvPr>
            <p:ph type="ctrTitle"/>
          </p:nvPr>
        </p:nvSpPr>
        <p:spPr>
          <a:xfrm>
            <a:off x="707366" y="1122363"/>
            <a:ext cx="9960634" cy="2387600"/>
          </a:xfrm>
        </p:spPr>
        <p:txBody>
          <a:bodyPr>
            <a:normAutofit fontScale="90000"/>
          </a:bodyPr>
          <a:lstStyle/>
          <a:p>
            <a:r>
              <a:rPr lang="ru-RU" dirty="0"/>
              <a:t>Лекция 4. </a:t>
            </a:r>
            <a:r>
              <a:rPr lang="ru-RU" dirty="0">
                <a:solidFill>
                  <a:srgbClr val="343434"/>
                </a:solidFill>
                <a:latin typeface="Arial" panose="020B0604020202020204" pitchFamily="34" charset="0"/>
                <a:ea typeface="Times New Roman" panose="02020603050405020304" pitchFamily="18" charset="0"/>
              </a:rPr>
              <a:t>Тестирование программы как черного ящика</a:t>
            </a:r>
            <a:endParaRPr lang="ru-RU" dirty="0"/>
          </a:p>
        </p:txBody>
      </p:sp>
      <p:sp>
        <p:nvSpPr>
          <p:cNvPr id="3" name="Подзаголовок 2">
            <a:extLst>
              <a:ext uri="{FF2B5EF4-FFF2-40B4-BE49-F238E27FC236}">
                <a16:creationId xmlns:a16="http://schemas.microsoft.com/office/drawing/2014/main" id="{0C1AD359-AF07-4600-834C-249723F999BD}"/>
              </a:ext>
            </a:extLst>
          </p:cNvPr>
          <p:cNvSpPr>
            <a:spLocks noGrp="1"/>
          </p:cNvSpPr>
          <p:nvPr>
            <p:ph type="subTitle" idx="1"/>
          </p:nvPr>
        </p:nvSpPr>
        <p:spPr/>
        <p:txBody>
          <a:bodyPr>
            <a:normAutofit lnSpcReduction="10000"/>
          </a:bodyPr>
          <a:lstStyle/>
          <a:p>
            <a:r>
              <a:rPr lang="ru-RU" dirty="0"/>
              <a:t>Методы отладки и тестирования программных продуктов </a:t>
            </a:r>
          </a:p>
          <a:p>
            <a:r>
              <a:rPr lang="ru-RU" dirty="0"/>
              <a:t>Б1.В.17,  09.03.01, набор 2017г.</a:t>
            </a:r>
          </a:p>
          <a:p>
            <a:r>
              <a:rPr lang="ru-RU" dirty="0"/>
              <a:t>СКФ МТУСИ, каф. ИВТ, доцент Ткачук Е.О.</a:t>
            </a:r>
          </a:p>
          <a:p>
            <a:r>
              <a:rPr lang="ru-RU" dirty="0"/>
              <a:t>2019/2020г.</a:t>
            </a:r>
          </a:p>
          <a:p>
            <a:endParaRPr lang="ru-RU" dirty="0"/>
          </a:p>
        </p:txBody>
      </p:sp>
    </p:spTree>
    <p:extLst>
      <p:ext uri="{BB962C8B-B14F-4D97-AF65-F5344CB8AC3E}">
        <p14:creationId xmlns:p14="http://schemas.microsoft.com/office/powerpoint/2010/main" val="3791139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19536" y="116632"/>
            <a:ext cx="8229600" cy="652934"/>
          </a:xfrm>
        </p:spPr>
        <p:txBody>
          <a:bodyPr/>
          <a:lstStyle/>
          <a:p>
            <a:r>
              <a:rPr lang="ru-RU" sz="3600" b="1" dirty="0"/>
              <a:t>Что почитать?</a:t>
            </a:r>
          </a:p>
        </p:txBody>
      </p:sp>
      <p:sp>
        <p:nvSpPr>
          <p:cNvPr id="4" name="Объект 2"/>
          <p:cNvSpPr txBox="1">
            <a:spLocks/>
          </p:cNvSpPr>
          <p:nvPr/>
        </p:nvSpPr>
        <p:spPr bwMode="auto">
          <a:xfrm>
            <a:off x="2783272" y="2364751"/>
            <a:ext cx="8338120" cy="2088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1" fontAlgn="base" hangingPunct="1">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1" fontAlgn="base" hangingPunct="1">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defRPr>
            </a:lvl4pPr>
            <a:lvl5pPr marL="20574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a:lstStyle>
          <a:p>
            <a:pPr marL="0" indent="0" algn="ctr">
              <a:buNone/>
            </a:pPr>
            <a:r>
              <a:rPr lang="ru-RU" sz="2400" b="1" i="1" dirty="0"/>
              <a:t>Для тех, кто постарше:</a:t>
            </a:r>
          </a:p>
          <a:p>
            <a:pPr marL="0" indent="0">
              <a:buNone/>
            </a:pPr>
            <a:r>
              <a:rPr lang="ru-RU" sz="2000" dirty="0"/>
              <a:t>2. </a:t>
            </a:r>
            <a:r>
              <a:rPr lang="ru-RU" sz="2000" b="1" dirty="0" err="1"/>
              <a:t>Тамре</a:t>
            </a:r>
            <a:r>
              <a:rPr lang="ru-RU" sz="2000" b="1" dirty="0"/>
              <a:t> Л. </a:t>
            </a:r>
            <a:r>
              <a:rPr lang="ru-RU" sz="2000" dirty="0"/>
              <a:t>Введение в тестирование программного обеспечения. — М.: «Вильямс», 2003. — 368 с.</a:t>
            </a:r>
          </a:p>
          <a:p>
            <a:pPr marL="0" indent="0">
              <a:buNone/>
            </a:pPr>
            <a:r>
              <a:rPr lang="ru-RU" sz="2000" dirty="0"/>
              <a:t>3. </a:t>
            </a:r>
            <a:r>
              <a:rPr lang="ru-RU" sz="2000" b="1" dirty="0"/>
              <a:t>Майерс Г., </a:t>
            </a:r>
            <a:r>
              <a:rPr lang="ru-RU" sz="2000" b="1" dirty="0" err="1"/>
              <a:t>Баджетт</a:t>
            </a:r>
            <a:r>
              <a:rPr lang="ru-RU" sz="2000" b="1" dirty="0"/>
              <a:t> Т., </a:t>
            </a:r>
            <a:r>
              <a:rPr lang="ru-RU" sz="2000" b="1" dirty="0" err="1"/>
              <a:t>Сандлер</a:t>
            </a:r>
            <a:r>
              <a:rPr lang="ru-RU" sz="2000" b="1" dirty="0"/>
              <a:t> К. </a:t>
            </a:r>
            <a:r>
              <a:rPr lang="ru-RU" sz="2000" dirty="0"/>
              <a:t>Искусство тестирования программ: 3 изд. — М.: «Диалектика», «Вильямс», 2012. — 272 с. </a:t>
            </a:r>
          </a:p>
          <a:p>
            <a:pPr marL="0" indent="0">
              <a:buNone/>
            </a:pPr>
            <a:endParaRPr lang="ru-RU" sz="2000" dirty="0"/>
          </a:p>
        </p:txBody>
      </p:sp>
      <p:sp>
        <p:nvSpPr>
          <p:cNvPr id="5" name="Объект 2"/>
          <p:cNvSpPr txBox="1">
            <a:spLocks/>
          </p:cNvSpPr>
          <p:nvPr/>
        </p:nvSpPr>
        <p:spPr bwMode="auto">
          <a:xfrm>
            <a:off x="2778832" y="4509120"/>
            <a:ext cx="8229600" cy="2088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1" fontAlgn="base" hangingPunct="1">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1" fontAlgn="base" hangingPunct="1">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defRPr>
            </a:lvl4pPr>
            <a:lvl5pPr marL="20574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a:lstStyle>
          <a:p>
            <a:pPr marL="0" indent="0" algn="ctr">
              <a:buNone/>
            </a:pPr>
            <a:r>
              <a:rPr lang="ru-RU" sz="2400" b="1" i="1" dirty="0"/>
              <a:t>Для совсем взрослых:</a:t>
            </a:r>
          </a:p>
          <a:p>
            <a:pPr marL="0" indent="0">
              <a:buNone/>
            </a:pPr>
            <a:r>
              <a:rPr lang="ru-RU" sz="2000" dirty="0"/>
              <a:t>4. </a:t>
            </a:r>
            <a:r>
              <a:rPr lang="ru-RU" sz="2000" b="1" dirty="0"/>
              <a:t>Котляров В.П. </a:t>
            </a:r>
            <a:r>
              <a:rPr lang="ru-RU" sz="2000" dirty="0"/>
              <a:t>Основы тестирования программного обеспечения. — М.: «БИНОМ», 2006. — 285 с.</a:t>
            </a:r>
          </a:p>
          <a:p>
            <a:pPr marL="0" indent="0">
              <a:buNone/>
            </a:pPr>
            <a:r>
              <a:rPr lang="ru-RU" sz="2000" dirty="0"/>
              <a:t>5. </a:t>
            </a:r>
            <a:r>
              <a:rPr lang="ru-RU" sz="2000" b="1" dirty="0" err="1"/>
              <a:t>Дастин</a:t>
            </a:r>
            <a:r>
              <a:rPr lang="ru-RU" sz="2000" b="1" dirty="0"/>
              <a:t> Э., </a:t>
            </a:r>
            <a:r>
              <a:rPr lang="ru-RU" sz="2000" b="1" dirty="0" err="1"/>
              <a:t>Рэшка</a:t>
            </a:r>
            <a:r>
              <a:rPr lang="ru-RU" sz="2000" b="1" dirty="0"/>
              <a:t> Д.., Пол Д. </a:t>
            </a:r>
            <a:r>
              <a:rPr lang="ru-RU" sz="2000" dirty="0"/>
              <a:t>Автоматизированное тестирование программного обеспечения. — М.: «ЛОРИ», 2003. — 568 с.</a:t>
            </a:r>
          </a:p>
          <a:p>
            <a:pPr marL="0" indent="0">
              <a:buNone/>
            </a:pPr>
            <a:endParaRPr lang="ru-RU" sz="2000" dirty="0"/>
          </a:p>
          <a:p>
            <a:pPr marL="0" indent="0">
              <a:buNone/>
            </a:pPr>
            <a:endParaRPr lang="ru-RU" sz="2000" dirty="0"/>
          </a:p>
        </p:txBody>
      </p:sp>
      <p:pic>
        <p:nvPicPr>
          <p:cNvPr id="5122" name="Picture 2" descr="http://www.prodetey.ru/sites/default/files/article-images/3597/main-3597-dcaee606f5d5fde8442df8762239195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0271" y="980729"/>
            <a:ext cx="1209793" cy="15671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124" name="Picture 4" descr="http://www.uznayvse.ru/images/stories/uzn_132346426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3343" y="2812670"/>
            <a:ext cx="1264402" cy="140841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126" name="Picture 6" descr="http://www.ucpl.lib.mo.us/childrens/Clips/albert-einstei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83343" y="4885013"/>
            <a:ext cx="1256720" cy="176114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 name="Объект 2"/>
          <p:cNvSpPr txBox="1">
            <a:spLocks/>
          </p:cNvSpPr>
          <p:nvPr/>
        </p:nvSpPr>
        <p:spPr bwMode="auto">
          <a:xfrm>
            <a:off x="2801528" y="684995"/>
            <a:ext cx="7614953" cy="167975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1" fontAlgn="base" hangingPunct="1">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1" fontAlgn="base" hangingPunct="1">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defRPr>
            </a:lvl4pPr>
            <a:lvl5pPr marL="20574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a:lstStyle>
          <a:p>
            <a:pPr marL="0" indent="0" algn="ctr">
              <a:buNone/>
            </a:pPr>
            <a:r>
              <a:rPr lang="ru-RU" sz="2200" b="1" i="1" dirty="0"/>
              <a:t>Для самых маленьких:</a:t>
            </a:r>
          </a:p>
          <a:p>
            <a:pPr marL="0" indent="0">
              <a:buNone/>
            </a:pPr>
            <a:r>
              <a:rPr lang="ru-RU" sz="2200" dirty="0"/>
              <a:t>1. </a:t>
            </a:r>
            <a:r>
              <a:rPr lang="ru-RU" sz="2200" b="1" dirty="0"/>
              <a:t>Савин Р. </a:t>
            </a:r>
            <a:r>
              <a:rPr lang="ru-RU" sz="2200" dirty="0"/>
              <a:t>Тестирование Дот Ком, или Пособие по жестокому обращению с багами в интернет-</a:t>
            </a:r>
            <a:r>
              <a:rPr lang="ru-RU" sz="2200" dirty="0" err="1"/>
              <a:t>стартапах</a:t>
            </a:r>
            <a:r>
              <a:rPr lang="ru-RU" sz="2200" dirty="0"/>
              <a:t>. — М.: Дело, 2007. — 312 с.</a:t>
            </a:r>
          </a:p>
        </p:txBody>
      </p:sp>
    </p:spTree>
    <p:extLst>
      <p:ext uri="{BB962C8B-B14F-4D97-AF65-F5344CB8AC3E}">
        <p14:creationId xmlns:p14="http://schemas.microsoft.com/office/powerpoint/2010/main" val="414782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2492897"/>
            <a:ext cx="8229600" cy="1139825"/>
          </a:xfrm>
        </p:spPr>
        <p:txBody>
          <a:bodyPr/>
          <a:lstStyle/>
          <a:p>
            <a:r>
              <a:rPr lang="ru-RU" sz="4800" dirty="0"/>
              <a:t>Что такое тестирование?</a:t>
            </a:r>
          </a:p>
        </p:txBody>
      </p:sp>
    </p:spTree>
    <p:extLst>
      <p:ext uri="{BB962C8B-B14F-4D97-AF65-F5344CB8AC3E}">
        <p14:creationId xmlns:p14="http://schemas.microsoft.com/office/powerpoint/2010/main" val="1313946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p:cNvSpPr>
            <a:spLocks noGrp="1"/>
          </p:cNvSpPr>
          <p:nvPr>
            <p:ph idx="1"/>
          </p:nvPr>
        </p:nvSpPr>
        <p:spPr>
          <a:xfrm>
            <a:off x="1631504" y="1844824"/>
            <a:ext cx="8928992" cy="3600400"/>
          </a:xfrm>
        </p:spPr>
        <p:txBody>
          <a:bodyPr/>
          <a:lstStyle/>
          <a:p>
            <a:pPr marL="0" indent="0" algn="ctr">
              <a:buNone/>
            </a:pPr>
            <a:r>
              <a:rPr lang="ru-RU" i="1" dirty="0">
                <a:latin typeface="+mj-lt"/>
              </a:rPr>
              <a:t>«Если бы строители строили здания так же, как программисты пишут программы, первый залетевший дятел разрушил бы цивилизацию»</a:t>
            </a:r>
          </a:p>
          <a:p>
            <a:pPr marL="0" indent="0" algn="r">
              <a:buNone/>
            </a:pPr>
            <a:endParaRPr lang="ru-RU" sz="2400" i="1" dirty="0">
              <a:latin typeface="+mj-lt"/>
            </a:endParaRPr>
          </a:p>
          <a:p>
            <a:pPr marL="0" indent="0" algn="r">
              <a:buNone/>
            </a:pPr>
            <a:r>
              <a:rPr lang="ru-RU" sz="2400" i="1" dirty="0">
                <a:latin typeface="+mj-lt"/>
              </a:rPr>
              <a:t>Второй закон </a:t>
            </a:r>
            <a:r>
              <a:rPr lang="ru-RU" sz="2400" i="1" dirty="0" err="1">
                <a:latin typeface="+mj-lt"/>
              </a:rPr>
              <a:t>Вейнберга</a:t>
            </a:r>
            <a:endParaRPr lang="ru-RU" sz="2400" i="1" dirty="0">
              <a:latin typeface="+mj-lt"/>
            </a:endParaRPr>
          </a:p>
          <a:p>
            <a:pPr marL="0" indent="0" algn="r">
              <a:buNone/>
            </a:pPr>
            <a:r>
              <a:rPr lang="ru-RU" sz="2400" i="1" dirty="0">
                <a:latin typeface="+mj-lt"/>
              </a:rPr>
              <a:t>(Артур Блох «Законы </a:t>
            </a:r>
            <a:r>
              <a:rPr lang="ru-RU" sz="2400" i="1" dirty="0" err="1">
                <a:latin typeface="+mj-lt"/>
              </a:rPr>
              <a:t>Мёрфи</a:t>
            </a:r>
            <a:r>
              <a:rPr lang="ru-RU" sz="2400" i="1" dirty="0">
                <a:latin typeface="+mj-lt"/>
              </a:rPr>
              <a:t>») </a:t>
            </a:r>
          </a:p>
        </p:txBody>
      </p:sp>
      <p:pic>
        <p:nvPicPr>
          <p:cNvPr id="9218" name="Picture 2" descr="http://cs5334.userapi.com/u8620368/-5/x_2908389f.jpg"/>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100000" l="0" r="100000">
                        <a14:foregroundMark x1="41053" y1="53477" x2="41053" y2="53477"/>
                        <a14:foregroundMark x1="51053" y1="51490" x2="51053" y2="51490"/>
                        <a14:foregroundMark x1="54211" y1="61424" x2="54211" y2="61424"/>
                        <a14:foregroundMark x1="55614" y1="53146" x2="55614" y2="53146"/>
                        <a14:foregroundMark x1="4035" y1="37748" x2="4035" y2="37748"/>
                        <a14:foregroundMark x1="85263" y1="20530" x2="85263" y2="20530"/>
                        <a14:foregroundMark x1="41053" y1="50166" x2="44561" y2="47185"/>
                        <a14:foregroundMark x1="49123" y1="58775" x2="52807" y2="50497"/>
                        <a14:backgroundMark x1="84475" y1="22366" x2="84475" y2="22366"/>
                        <a14:backgroundMark x1="81735" y1="15054" x2="92237" y2="24946"/>
                        <a14:backgroundMark x1="1598" y1="33548" x2="7763" y2="44086"/>
                        <a14:backgroundMark x1="81735" y1="11828" x2="94292" y2="36774"/>
                        <a14:backgroundMark x1="79680" y1="28387" x2="93607" y2="11183"/>
                      </a14:backgroundRemoval>
                    </a14:imgEffect>
                  </a14:imgLayer>
                </a14:imgProps>
              </a:ext>
              <a:ext uri="{28A0092B-C50C-407E-A947-70E740481C1C}">
                <a14:useLocalDpi xmlns:a14="http://schemas.microsoft.com/office/drawing/2010/main" val="0"/>
              </a:ext>
            </a:extLst>
          </a:blip>
          <a:srcRect/>
          <a:stretch>
            <a:fillRect/>
          </a:stretch>
        </p:blipFill>
        <p:spPr bwMode="auto">
          <a:xfrm>
            <a:off x="3071665" y="4077073"/>
            <a:ext cx="1819275" cy="1928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95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solidFill>
                  <a:schemeClr val="tx1"/>
                </a:solidFill>
              </a:rPr>
              <a:t>Баг (англ. </a:t>
            </a:r>
            <a:r>
              <a:rPr lang="en-US" i="1" dirty="0">
                <a:solidFill>
                  <a:schemeClr val="tx1"/>
                </a:solidFill>
              </a:rPr>
              <a:t>Bug</a:t>
            </a:r>
            <a:r>
              <a:rPr lang="ru-RU" i="1" dirty="0">
                <a:solidFill>
                  <a:schemeClr val="tx1"/>
                </a:solidFill>
              </a:rPr>
              <a:t> - жучок</a:t>
            </a:r>
            <a:r>
              <a:rPr lang="en-US" dirty="0">
                <a:solidFill>
                  <a:schemeClr val="tx1"/>
                </a:solidFill>
              </a:rPr>
              <a:t>)</a:t>
            </a:r>
            <a:endParaRPr lang="ru-RU" dirty="0">
              <a:solidFill>
                <a:schemeClr val="tx1"/>
              </a:solidFill>
            </a:endParaRPr>
          </a:p>
        </p:txBody>
      </p:sp>
      <p:sp>
        <p:nvSpPr>
          <p:cNvPr id="3" name="Объект 2"/>
          <p:cNvSpPr>
            <a:spLocks noGrp="1"/>
          </p:cNvSpPr>
          <p:nvPr>
            <p:ph idx="1"/>
          </p:nvPr>
        </p:nvSpPr>
        <p:spPr>
          <a:xfrm>
            <a:off x="1641633" y="4797152"/>
            <a:ext cx="9036496" cy="1512168"/>
          </a:xfrm>
        </p:spPr>
        <p:txBody>
          <a:bodyPr/>
          <a:lstStyle/>
          <a:p>
            <a:pPr marL="0" indent="0" algn="ctr">
              <a:buNone/>
            </a:pPr>
            <a:r>
              <a:rPr lang="ru-RU" dirty="0"/>
              <a:t>В широком смысле баг – это отклонение </a:t>
            </a:r>
            <a:r>
              <a:rPr lang="ru-RU" b="1" dirty="0"/>
              <a:t>фактического</a:t>
            </a:r>
            <a:r>
              <a:rPr lang="ru-RU" dirty="0"/>
              <a:t> результата от </a:t>
            </a:r>
            <a:r>
              <a:rPr lang="ru-RU" b="1" dirty="0"/>
              <a:t>ожидаемого</a:t>
            </a:r>
          </a:p>
        </p:txBody>
      </p:sp>
      <p:pic>
        <p:nvPicPr>
          <p:cNvPr id="4" name="Picture 4" descr="http://im0-tub-ru.yandex.net/i?id=29933000-04-72&amp;n=21"/>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4871864" y="1700809"/>
            <a:ext cx="2016224" cy="2541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237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524000" y="260648"/>
            <a:ext cx="9036496" cy="1656184"/>
          </a:xfrm>
        </p:spPr>
        <p:txBody>
          <a:bodyPr/>
          <a:lstStyle/>
          <a:p>
            <a:pPr marL="0" indent="0" algn="ctr">
              <a:buNone/>
            </a:pPr>
            <a:r>
              <a:rPr lang="ru-RU" sz="3000" dirty="0"/>
              <a:t>В широком смысле баг – это отклонение </a:t>
            </a:r>
            <a:r>
              <a:rPr lang="ru-RU" sz="3000" b="1" dirty="0"/>
              <a:t>фактического</a:t>
            </a:r>
            <a:r>
              <a:rPr lang="ru-RU" sz="3000" dirty="0"/>
              <a:t> результата от </a:t>
            </a:r>
            <a:r>
              <a:rPr lang="ru-RU" sz="3000" b="1" dirty="0"/>
              <a:t>ожидаемого</a:t>
            </a:r>
          </a:p>
        </p:txBody>
      </p:sp>
      <p:pic>
        <p:nvPicPr>
          <p:cNvPr id="2050" name="Picture 2" descr="http://static.guim.co.uk/sys-images/Guardian/Pix/pictures/2009/12/2/1259766908448/Kerry-Skarbakka-falls-off-0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761" y="1412776"/>
            <a:ext cx="3971925"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778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631504" y="116632"/>
            <a:ext cx="9036496" cy="1656184"/>
          </a:xfrm>
        </p:spPr>
        <p:txBody>
          <a:bodyPr/>
          <a:lstStyle/>
          <a:p>
            <a:pPr marL="0" indent="0" algn="ctr">
              <a:buNone/>
            </a:pPr>
            <a:r>
              <a:rPr lang="ru-RU" dirty="0">
                <a:effectLst>
                  <a:outerShdw blurRad="38100" dist="38100" dir="2700000" algn="tl">
                    <a:srgbClr val="000000">
                      <a:alpha val="43137"/>
                    </a:srgbClr>
                  </a:outerShdw>
                </a:effectLst>
                <a:latin typeface="+mj-lt"/>
              </a:rPr>
              <a:t>Применительно к ПО, баг – это когда </a:t>
            </a:r>
            <a:r>
              <a:rPr lang="ru-RU" b="1" dirty="0">
                <a:effectLst>
                  <a:outerShdw blurRad="38100" dist="38100" dir="2700000" algn="tl">
                    <a:srgbClr val="000000">
                      <a:alpha val="43137"/>
                    </a:srgbClr>
                  </a:outerShdw>
                </a:effectLst>
                <a:latin typeface="+mj-lt"/>
              </a:rPr>
              <a:t>результат</a:t>
            </a:r>
            <a:r>
              <a:rPr lang="ru-RU" dirty="0">
                <a:effectLst>
                  <a:outerShdw blurRad="38100" dist="38100" dir="2700000" algn="tl">
                    <a:srgbClr val="000000">
                      <a:alpha val="43137"/>
                    </a:srgbClr>
                  </a:outerShdw>
                </a:effectLst>
                <a:latin typeface="+mj-lt"/>
              </a:rPr>
              <a:t> работы программы не соответствует ее </a:t>
            </a:r>
            <a:r>
              <a:rPr lang="ru-RU" b="1" dirty="0">
                <a:effectLst>
                  <a:outerShdw blurRad="38100" dist="38100" dir="2700000" algn="tl">
                    <a:srgbClr val="000000">
                      <a:alpha val="43137"/>
                    </a:srgbClr>
                  </a:outerShdw>
                </a:effectLst>
                <a:latin typeface="+mj-lt"/>
              </a:rPr>
              <a:t>функциональной спецификации</a:t>
            </a:r>
          </a:p>
        </p:txBody>
      </p:sp>
      <p:pic>
        <p:nvPicPr>
          <p:cNvPr id="3074" name="Picture 2" descr="500 Internal Server Err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5600" y="2276872"/>
            <a:ext cx="7114728" cy="3870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232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919536" y="116632"/>
            <a:ext cx="8229600" cy="1512168"/>
          </a:xfrm>
        </p:spPr>
        <p:txBody>
          <a:bodyPr/>
          <a:lstStyle/>
          <a:p>
            <a:pPr marL="0" indent="0" algn="ctr">
              <a:buNone/>
            </a:pPr>
            <a:r>
              <a:rPr lang="ru-RU" sz="2500" b="1" dirty="0"/>
              <a:t>Функциональная спецификация </a:t>
            </a:r>
            <a:r>
              <a:rPr lang="ru-RU" sz="2500" dirty="0"/>
              <a:t>– это детальное описание того, как должна работать программа </a:t>
            </a:r>
            <a:r>
              <a:rPr lang="ru-RU" sz="2500" b="1" dirty="0"/>
              <a:t>с точки зрения пользователя</a:t>
            </a:r>
            <a:r>
              <a:rPr lang="ru-RU" sz="2500" dirty="0"/>
              <a:t>.</a:t>
            </a:r>
          </a:p>
          <a:p>
            <a:pPr marL="0" indent="0">
              <a:buNone/>
            </a:pPr>
            <a:endParaRPr lang="ru-RU" sz="2500" dirty="0"/>
          </a:p>
          <a:p>
            <a:pPr marL="0" indent="0">
              <a:buNone/>
            </a:pPr>
            <a:endParaRPr lang="ru-RU" sz="2500" dirty="0"/>
          </a:p>
        </p:txBody>
      </p:sp>
      <p:pic>
        <p:nvPicPr>
          <p:cNvPr id="5122" name="Picture 2" descr="http://s40.radikal.ru/i090/1104/7c/7c57c80bb58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577" y="1616223"/>
            <a:ext cx="7607225" cy="4855096"/>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3054164" y="2274057"/>
            <a:ext cx="6076801" cy="3323987"/>
          </a:xfrm>
          <a:prstGeom prst="rect">
            <a:avLst/>
          </a:prstGeom>
        </p:spPr>
        <p:txBody>
          <a:bodyPr wrap="square">
            <a:spAutoFit/>
          </a:bodyPr>
          <a:lstStyle/>
          <a:p>
            <a:r>
              <a:rPr lang="ru-RU" sz="1400" dirty="0">
                <a:solidFill>
                  <a:srgbClr val="800000"/>
                </a:solidFill>
              </a:rPr>
              <a:t>3.4. При нажатии на основную часть кнопки «Вставить» в рабочее поле вставляется содержимое буфера обмена с сохранением исходного форматирования.</a:t>
            </a:r>
          </a:p>
          <a:p>
            <a:r>
              <a:rPr lang="ru-RU" sz="1400" dirty="0">
                <a:solidFill>
                  <a:srgbClr val="800000"/>
                </a:solidFill>
              </a:rPr>
              <a:t>3.5. При нажатии на нижнюю часть  кнопки «Вставить» появляется выпадающее меню «Параметры вставки».</a:t>
            </a:r>
          </a:p>
          <a:p>
            <a:r>
              <a:rPr lang="ru-RU" sz="1400" dirty="0">
                <a:solidFill>
                  <a:srgbClr val="800000"/>
                </a:solidFill>
              </a:rPr>
              <a:t>3.5.1. Выпадающее меню «Параметры вставки» содержит пункты:  «Сохранить исходное форматирование», «Объединить форматирование», «Сохранить только текст», а также выпадающие меню «Специальная вставка», «Вставка по умолчанию».</a:t>
            </a:r>
          </a:p>
          <a:p>
            <a:r>
              <a:rPr lang="ru-RU" sz="1400" dirty="0">
                <a:solidFill>
                  <a:srgbClr val="800000"/>
                </a:solidFill>
              </a:rPr>
              <a:t>3.5.1.1. При нажатии на пункт «Сохранить исходное форматирование» в рабочее поле вставляется содержимое буфера обмена с сохранением исходного форматирования.</a:t>
            </a:r>
          </a:p>
          <a:p>
            <a:r>
              <a:rPr lang="ru-RU" sz="1400" dirty="0">
                <a:solidFill>
                  <a:srgbClr val="800000"/>
                </a:solidFill>
              </a:rPr>
              <a:t>3.5.1.2. При нажатии на пункт «Объединить форматирование» в рабочее поле вставляется содержимое буфера обмена в формате окружающего текста (то, что уже введено до этого в</a:t>
            </a:r>
          </a:p>
        </p:txBody>
      </p:sp>
    </p:spTree>
    <p:extLst>
      <p:ext uri="{BB962C8B-B14F-4D97-AF65-F5344CB8AC3E}">
        <p14:creationId xmlns:p14="http://schemas.microsoft.com/office/powerpoint/2010/main" val="1671137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133724" y="548680"/>
            <a:ext cx="8229600" cy="820688"/>
          </a:xfrm>
        </p:spPr>
        <p:txBody>
          <a:bodyPr/>
          <a:lstStyle/>
          <a:p>
            <a:pPr marL="0" indent="0" algn="ctr">
              <a:buNone/>
            </a:pPr>
            <a:r>
              <a:rPr lang="ru-RU" dirty="0"/>
              <a:t>Тестирование – это поиск </a:t>
            </a:r>
            <a:r>
              <a:rPr lang="ru-RU" b="1" dirty="0"/>
              <a:t>багов.</a:t>
            </a:r>
          </a:p>
        </p:txBody>
      </p:sp>
      <p:pic>
        <p:nvPicPr>
          <p:cNvPr id="11" name="Рисунок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58170" y="1225723"/>
            <a:ext cx="6362204" cy="3787825"/>
          </a:xfrm>
          <a:prstGeom prst="rect">
            <a:avLst/>
          </a:prstGeom>
          <a:ln>
            <a:noFill/>
          </a:ln>
          <a:effectLst>
            <a:softEdge rad="112500"/>
          </a:effectLst>
        </p:spPr>
      </p:pic>
      <p:sp>
        <p:nvSpPr>
          <p:cNvPr id="5" name="Объект 2"/>
          <p:cNvSpPr txBox="1">
            <a:spLocks/>
          </p:cNvSpPr>
          <p:nvPr/>
        </p:nvSpPr>
        <p:spPr bwMode="auto">
          <a:xfrm>
            <a:off x="1991544" y="5229200"/>
            <a:ext cx="8229600" cy="1224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1" fontAlgn="base" hangingPunct="1">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1" fontAlgn="base" hangingPunct="1">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defRPr>
            </a:lvl4pPr>
            <a:lvl5pPr marL="20574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eaLnBrk="1" fontAlgn="base" hangingPunct="1">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a:lstStyle>
          <a:p>
            <a:pPr marL="0" indent="0" algn="ctr">
              <a:buNone/>
            </a:pPr>
            <a:r>
              <a:rPr lang="ru-RU" dirty="0">
                <a:effectLst/>
              </a:rPr>
              <a:t>Цель тестирования – найти баги, до того, как их найдет </a:t>
            </a:r>
            <a:r>
              <a:rPr lang="ru-RU" b="1" dirty="0">
                <a:effectLst/>
              </a:rPr>
              <a:t>пользователь</a:t>
            </a:r>
            <a:r>
              <a:rPr lang="ru-RU" dirty="0">
                <a:effectLst/>
              </a:rPr>
              <a:t>.</a:t>
            </a:r>
          </a:p>
        </p:txBody>
      </p:sp>
    </p:spTree>
    <p:extLst>
      <p:ext uri="{BB962C8B-B14F-4D97-AF65-F5344CB8AC3E}">
        <p14:creationId xmlns:p14="http://schemas.microsoft.com/office/powerpoint/2010/main" val="407747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991544" y="1268761"/>
            <a:ext cx="8229600" cy="4530725"/>
          </a:xfrm>
        </p:spPr>
        <p:txBody>
          <a:bodyPr/>
          <a:lstStyle/>
          <a:p>
            <a:pPr marL="0" indent="0" algn="ctr">
              <a:buNone/>
            </a:pPr>
            <a:r>
              <a:rPr lang="ru-RU" dirty="0"/>
              <a:t>Под </a:t>
            </a:r>
            <a:r>
              <a:rPr lang="ru-RU" b="1" i="1" dirty="0"/>
              <a:t>«пользователем»</a:t>
            </a:r>
            <a:r>
              <a:rPr lang="ru-RU" i="1" dirty="0"/>
              <a:t> </a:t>
            </a:r>
            <a:r>
              <a:rPr lang="ru-RU" dirty="0"/>
              <a:t>в данном случае может пониматься как </a:t>
            </a:r>
            <a:r>
              <a:rPr lang="ru-RU" b="1" i="1" dirty="0"/>
              <a:t>конечный пользователь </a:t>
            </a:r>
            <a:r>
              <a:rPr lang="ru-RU" dirty="0"/>
              <a:t>всей программы в целом, так и </a:t>
            </a:r>
            <a:r>
              <a:rPr lang="ru-RU" b="1" i="1" dirty="0"/>
              <a:t>внутренний пользователь </a:t>
            </a:r>
            <a:r>
              <a:rPr lang="ru-RU" dirty="0"/>
              <a:t>– разработчик, который будет использовать тестируемый </a:t>
            </a:r>
          </a:p>
          <a:p>
            <a:pPr marL="0" indent="0" algn="ctr">
              <a:buNone/>
            </a:pPr>
            <a:r>
              <a:rPr lang="ru-RU" dirty="0"/>
              <a:t>участок кода.</a:t>
            </a:r>
          </a:p>
        </p:txBody>
      </p:sp>
    </p:spTree>
    <p:extLst>
      <p:ext uri="{BB962C8B-B14F-4D97-AF65-F5344CB8AC3E}">
        <p14:creationId xmlns:p14="http://schemas.microsoft.com/office/powerpoint/2010/main" val="3614416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Тестирование программного обеспечения (</a:t>
            </a:r>
            <a:r>
              <a:rPr lang="ru-RU" b="1" dirty="0" err="1"/>
              <a:t>Software</a:t>
            </a:r>
            <a:r>
              <a:rPr lang="ru-RU" b="1" dirty="0"/>
              <a:t> </a:t>
            </a:r>
            <a:r>
              <a:rPr lang="ru-RU" b="1" dirty="0" err="1"/>
              <a:t>Testing</a:t>
            </a:r>
            <a:r>
              <a:rPr lang="ru-RU" b="1" dirty="0"/>
              <a:t>)</a:t>
            </a:r>
            <a:endParaRPr lang="ru-RU" dirty="0"/>
          </a:p>
        </p:txBody>
      </p:sp>
      <p:sp>
        <p:nvSpPr>
          <p:cNvPr id="4" name="Прямоугольник 3"/>
          <p:cNvSpPr/>
          <p:nvPr/>
        </p:nvSpPr>
        <p:spPr>
          <a:xfrm>
            <a:off x="2024034" y="1669310"/>
            <a:ext cx="7572428" cy="1200329"/>
          </a:xfrm>
          <a:prstGeom prst="rect">
            <a:avLst/>
          </a:prstGeom>
        </p:spPr>
        <p:txBody>
          <a:bodyPr wrap="square">
            <a:spAutoFit/>
          </a:bodyPr>
          <a:lstStyle/>
          <a:p>
            <a:r>
              <a:rPr lang="ru-RU" sz="2400" dirty="0"/>
              <a:t>проверка соответствия между реальным и ожидаемым поведением программы, осуществляемая на конечном наборе тестов, выбранном определенным образом</a:t>
            </a:r>
          </a:p>
        </p:txBody>
      </p:sp>
      <p:sp>
        <p:nvSpPr>
          <p:cNvPr id="5" name="Прямоугольник 4"/>
          <p:cNvSpPr/>
          <p:nvPr/>
        </p:nvSpPr>
        <p:spPr>
          <a:xfrm>
            <a:off x="5810248" y="3214687"/>
            <a:ext cx="4572000" cy="646331"/>
          </a:xfrm>
          <a:prstGeom prst="rect">
            <a:avLst/>
          </a:prstGeom>
        </p:spPr>
        <p:txBody>
          <a:bodyPr>
            <a:spAutoFit/>
          </a:bodyPr>
          <a:lstStyle/>
          <a:p>
            <a:r>
              <a:rPr lang="en-US" i="1" dirty="0"/>
              <a:t>IEEE Guide to Software Engineering Body of Knowledge, SWEBOK, 2004</a:t>
            </a:r>
            <a:endParaRPr lang="ru-RU" dirty="0"/>
          </a:p>
        </p:txBody>
      </p:sp>
      <p:sp>
        <p:nvSpPr>
          <p:cNvPr id="6" name="Прямоугольник 5"/>
          <p:cNvSpPr/>
          <p:nvPr/>
        </p:nvSpPr>
        <p:spPr>
          <a:xfrm>
            <a:off x="1952596" y="3812450"/>
            <a:ext cx="4572000" cy="830997"/>
          </a:xfrm>
          <a:prstGeom prst="rect">
            <a:avLst/>
          </a:prstGeom>
        </p:spPr>
        <p:txBody>
          <a:bodyPr>
            <a:spAutoFit/>
          </a:bodyPr>
          <a:lstStyle/>
          <a:p>
            <a:r>
              <a:rPr lang="ru-RU" sz="2400" dirty="0"/>
              <a:t>одна из техник контроля качества, включающая в себя:</a:t>
            </a:r>
          </a:p>
        </p:txBody>
      </p:sp>
      <p:sp>
        <p:nvSpPr>
          <p:cNvPr id="7" name="Прямоугольник 6"/>
          <p:cNvSpPr/>
          <p:nvPr/>
        </p:nvSpPr>
        <p:spPr>
          <a:xfrm>
            <a:off x="2381224" y="4645422"/>
            <a:ext cx="8072494" cy="1569660"/>
          </a:xfrm>
          <a:prstGeom prst="rect">
            <a:avLst/>
          </a:prstGeom>
        </p:spPr>
        <p:txBody>
          <a:bodyPr wrap="square">
            <a:spAutoFit/>
          </a:bodyPr>
          <a:lstStyle/>
          <a:p>
            <a:pPr>
              <a:buFont typeface="Wingdings" pitchFamily="2" charset="2"/>
              <a:buChar char="Ø"/>
            </a:pPr>
            <a:r>
              <a:rPr lang="ru-RU" sz="2400" dirty="0"/>
              <a:t>планирование работ (</a:t>
            </a:r>
            <a:r>
              <a:rPr lang="ru-RU" sz="2400" b="1" dirty="0" err="1"/>
              <a:t>Test</a:t>
            </a:r>
            <a:r>
              <a:rPr lang="ru-RU" sz="2400" b="1" dirty="0"/>
              <a:t> </a:t>
            </a:r>
            <a:r>
              <a:rPr lang="ru-RU" sz="2400" b="1" dirty="0" err="1"/>
              <a:t>Management</a:t>
            </a:r>
            <a:r>
              <a:rPr lang="ru-RU" sz="2400" dirty="0"/>
              <a:t>),</a:t>
            </a:r>
            <a:endParaRPr lang="en-US" sz="2400" dirty="0"/>
          </a:p>
          <a:p>
            <a:pPr>
              <a:buFont typeface="Wingdings" pitchFamily="2" charset="2"/>
              <a:buChar char="Ø"/>
            </a:pPr>
            <a:r>
              <a:rPr lang="ru-RU" sz="2400" dirty="0"/>
              <a:t>проектирование тестов (</a:t>
            </a:r>
            <a:r>
              <a:rPr lang="ru-RU" sz="2400" b="1" dirty="0" err="1"/>
              <a:t>Test</a:t>
            </a:r>
            <a:r>
              <a:rPr lang="ru-RU" sz="2400" b="1" dirty="0"/>
              <a:t> </a:t>
            </a:r>
            <a:r>
              <a:rPr lang="ru-RU" sz="2400" b="1" dirty="0" err="1"/>
              <a:t>Design</a:t>
            </a:r>
            <a:r>
              <a:rPr lang="ru-RU" sz="2400" dirty="0"/>
              <a:t>), </a:t>
            </a:r>
            <a:endParaRPr lang="en-US" sz="2400" dirty="0"/>
          </a:p>
          <a:p>
            <a:pPr>
              <a:buFont typeface="Wingdings" pitchFamily="2" charset="2"/>
              <a:buChar char="Ø"/>
            </a:pPr>
            <a:r>
              <a:rPr lang="ru-RU" sz="2400" dirty="0"/>
              <a:t>выполнение тестирования (</a:t>
            </a:r>
            <a:r>
              <a:rPr lang="ru-RU" sz="2400" b="1" dirty="0" err="1"/>
              <a:t>Test</a:t>
            </a:r>
            <a:r>
              <a:rPr lang="ru-RU" sz="2400" b="1" dirty="0"/>
              <a:t> </a:t>
            </a:r>
            <a:r>
              <a:rPr lang="ru-RU" sz="2400" b="1" dirty="0" err="1"/>
              <a:t>Execution</a:t>
            </a:r>
            <a:r>
              <a:rPr lang="ru-RU" sz="2400" dirty="0"/>
              <a:t>)</a:t>
            </a:r>
          </a:p>
          <a:p>
            <a:pPr>
              <a:buFont typeface="Wingdings" pitchFamily="2" charset="2"/>
              <a:buChar char="Ø"/>
            </a:pPr>
            <a:r>
              <a:rPr lang="ru-RU" sz="2400" dirty="0"/>
              <a:t>анализ полученных результатов (</a:t>
            </a:r>
            <a:r>
              <a:rPr lang="ru-RU" sz="2400" b="1" dirty="0" err="1"/>
              <a:t>Test</a:t>
            </a:r>
            <a:r>
              <a:rPr lang="ru-RU" sz="2400" b="1" dirty="0"/>
              <a:t> </a:t>
            </a:r>
            <a:r>
              <a:rPr lang="ru-RU" sz="2400" b="1" dirty="0" err="1"/>
              <a:t>Analysis</a:t>
            </a:r>
            <a:r>
              <a:rPr lang="ru-RU" sz="24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52596" y="285728"/>
            <a:ext cx="8229600" cy="1132732"/>
          </a:xfrm>
        </p:spPr>
        <p:txBody>
          <a:bodyPr>
            <a:normAutofit/>
          </a:bodyPr>
          <a:lstStyle/>
          <a:p>
            <a:r>
              <a:rPr lang="ru-RU" dirty="0"/>
              <a:t>Тест Дизайн (</a:t>
            </a:r>
            <a:r>
              <a:rPr lang="en-US" dirty="0"/>
              <a:t>Test Design)</a:t>
            </a:r>
            <a:endParaRPr lang="ru-RU" dirty="0"/>
          </a:p>
        </p:txBody>
      </p:sp>
      <p:sp>
        <p:nvSpPr>
          <p:cNvPr id="4" name="Прямоугольник 3"/>
          <p:cNvSpPr/>
          <p:nvPr/>
        </p:nvSpPr>
        <p:spPr>
          <a:xfrm>
            <a:off x="1952596" y="1285860"/>
            <a:ext cx="8501122" cy="1569660"/>
          </a:xfrm>
          <a:prstGeom prst="rect">
            <a:avLst/>
          </a:prstGeom>
        </p:spPr>
        <p:txBody>
          <a:bodyPr wrap="square">
            <a:spAutoFit/>
          </a:bodyPr>
          <a:lstStyle/>
          <a:p>
            <a:r>
              <a:rPr lang="ru-RU" sz="2400" dirty="0"/>
              <a:t>процесс тестирования ПО, на котором проектируются и создаются тестовые случаи (тест кейсы), в соответствии с определёнными ранее критериями качества и целями тестирования.</a:t>
            </a:r>
          </a:p>
        </p:txBody>
      </p:sp>
      <p:sp>
        <p:nvSpPr>
          <p:cNvPr id="5" name="Прямоугольник 4"/>
          <p:cNvSpPr/>
          <p:nvPr/>
        </p:nvSpPr>
        <p:spPr>
          <a:xfrm>
            <a:off x="2309786" y="2857496"/>
            <a:ext cx="8072494" cy="2308324"/>
          </a:xfrm>
          <a:prstGeom prst="rect">
            <a:avLst/>
          </a:prstGeom>
        </p:spPr>
        <p:txBody>
          <a:bodyPr wrap="square">
            <a:spAutoFit/>
          </a:bodyPr>
          <a:lstStyle/>
          <a:p>
            <a:r>
              <a:rPr lang="ru-RU" sz="2400" b="1" dirty="0"/>
              <a:t>План работы над тест дизайном</a:t>
            </a:r>
          </a:p>
          <a:p>
            <a:pPr>
              <a:buFont typeface="Wingdings" pitchFamily="2" charset="2"/>
              <a:buChar char="Ø"/>
            </a:pPr>
            <a:r>
              <a:rPr lang="ru-RU" sz="2400" dirty="0"/>
              <a:t>анализ имеющихся проектных артефактов: документация (спецификации, требования, планы), модели, исполняемый код и т.д. </a:t>
            </a:r>
          </a:p>
          <a:p>
            <a:pPr>
              <a:buFont typeface="Wingdings" pitchFamily="2" charset="2"/>
              <a:buChar char="Ø"/>
            </a:pPr>
            <a:r>
              <a:rPr lang="ru-RU" sz="2400" dirty="0"/>
              <a:t>написание спецификации по тест дизайну</a:t>
            </a:r>
          </a:p>
          <a:p>
            <a:pPr>
              <a:buFont typeface="Wingdings" pitchFamily="2" charset="2"/>
              <a:buChar char="Ø"/>
            </a:pPr>
            <a:r>
              <a:rPr lang="ru-RU" sz="2400" dirty="0"/>
              <a:t>проектирование и создание </a:t>
            </a:r>
            <a:r>
              <a:rPr lang="ru-RU" sz="2400" dirty="0">
                <a:hlinkClick r:id="rId2" action="ppaction://hlinkfile"/>
              </a:rPr>
              <a:t>тестовых случаев</a:t>
            </a:r>
            <a:endParaRPr lang="ru-RU" sz="2400" dirty="0"/>
          </a:p>
        </p:txBody>
      </p:sp>
      <p:sp>
        <p:nvSpPr>
          <p:cNvPr id="6" name="Прямоугольник 5"/>
          <p:cNvSpPr/>
          <p:nvPr/>
        </p:nvSpPr>
        <p:spPr>
          <a:xfrm>
            <a:off x="2166910" y="5214951"/>
            <a:ext cx="7643866" cy="1200329"/>
          </a:xfrm>
          <a:prstGeom prst="rect">
            <a:avLst/>
          </a:prstGeom>
        </p:spPr>
        <p:txBody>
          <a:bodyPr wrap="square">
            <a:spAutoFit/>
          </a:bodyPr>
          <a:lstStyle/>
          <a:p>
            <a:r>
              <a:rPr lang="ru-RU" sz="2400" b="1" dirty="0"/>
              <a:t>Роли, ответственные за тест дизайн</a:t>
            </a:r>
          </a:p>
          <a:p>
            <a:pPr>
              <a:buFont typeface="Wingdings" pitchFamily="2" charset="2"/>
              <a:buChar char="Ø"/>
            </a:pPr>
            <a:r>
              <a:rPr lang="ru-RU" sz="2400" dirty="0"/>
              <a:t>Тест аналитик - определяет "</a:t>
            </a:r>
            <a:r>
              <a:rPr lang="ru-RU" sz="2400" b="1" dirty="0"/>
              <a:t>ЧТО тестировать?</a:t>
            </a:r>
            <a:r>
              <a:rPr lang="ru-RU" sz="2400" dirty="0"/>
              <a:t>" </a:t>
            </a:r>
          </a:p>
          <a:p>
            <a:pPr>
              <a:buFont typeface="Wingdings" pitchFamily="2" charset="2"/>
              <a:buChar char="Ø"/>
            </a:pPr>
            <a:r>
              <a:rPr lang="ru-RU" sz="2400" dirty="0"/>
              <a:t>Тест дизайнер - определяет "</a:t>
            </a:r>
            <a:r>
              <a:rPr lang="ru-RU" sz="2400" b="1" dirty="0"/>
              <a:t>КАК тестировать?</a:t>
            </a:r>
            <a:r>
              <a:rPr lang="ru-RU" sz="2400"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15F792-B648-48CC-A6E6-9112B92D7356}"/>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06B1282-9BE7-4288-A83C-424D76BFDA70}"/>
              </a:ext>
            </a:extLst>
          </p:cNvPr>
          <p:cNvSpPr>
            <a:spLocks noGrp="1"/>
          </p:cNvSpPr>
          <p:nvPr>
            <p:ph idx="1"/>
          </p:nvPr>
        </p:nvSpPr>
        <p:spPr/>
        <p:txBody>
          <a:bodyPr/>
          <a:lstStyle/>
          <a:p>
            <a:endParaRPr lang="ru-RU"/>
          </a:p>
        </p:txBody>
      </p:sp>
    </p:spTree>
    <p:extLst>
      <p:ext uri="{BB962C8B-B14F-4D97-AF65-F5344CB8AC3E}">
        <p14:creationId xmlns:p14="http://schemas.microsoft.com/office/powerpoint/2010/main" val="2630496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52596" y="285728"/>
            <a:ext cx="8229600" cy="1143000"/>
          </a:xfrm>
        </p:spPr>
        <p:txBody>
          <a:bodyPr/>
          <a:lstStyle/>
          <a:p>
            <a:r>
              <a:rPr lang="ru-RU" dirty="0"/>
              <a:t>Тестовый случай (</a:t>
            </a:r>
            <a:r>
              <a:rPr lang="en-US" dirty="0"/>
              <a:t>Test Case)</a:t>
            </a:r>
            <a:endParaRPr lang="ru-RU" dirty="0"/>
          </a:p>
        </p:txBody>
      </p:sp>
      <p:sp>
        <p:nvSpPr>
          <p:cNvPr id="4" name="Прямоугольник 3"/>
          <p:cNvSpPr/>
          <p:nvPr/>
        </p:nvSpPr>
        <p:spPr>
          <a:xfrm>
            <a:off x="3238480" y="1428736"/>
            <a:ext cx="6500842" cy="1569660"/>
          </a:xfrm>
          <a:prstGeom prst="rect">
            <a:avLst/>
          </a:prstGeom>
        </p:spPr>
        <p:txBody>
          <a:bodyPr wrap="square">
            <a:spAutoFit/>
          </a:bodyPr>
          <a:lstStyle/>
          <a:p>
            <a:r>
              <a:rPr lang="ru-RU" sz="2400" dirty="0"/>
              <a:t>артефакт, описывающий совокупность шагов, конкретных условий и параметров, необходимых для проверки реализации тестируемой функции или её части</a:t>
            </a:r>
          </a:p>
        </p:txBody>
      </p:sp>
      <p:sp>
        <p:nvSpPr>
          <p:cNvPr id="5" name="Прямоугольник 4"/>
          <p:cNvSpPr/>
          <p:nvPr/>
        </p:nvSpPr>
        <p:spPr>
          <a:xfrm>
            <a:off x="2952728" y="4000505"/>
            <a:ext cx="6215106" cy="1200329"/>
          </a:xfrm>
          <a:prstGeom prst="rect">
            <a:avLst/>
          </a:prstGeom>
        </p:spPr>
        <p:txBody>
          <a:bodyPr wrap="square">
            <a:spAutoFit/>
          </a:bodyPr>
          <a:lstStyle/>
          <a:p>
            <a:r>
              <a:rPr lang="ru-RU" sz="2400" b="1" dirty="0"/>
              <a:t>Виды Тестовых Случаев</a:t>
            </a:r>
          </a:p>
          <a:p>
            <a:r>
              <a:rPr lang="ru-RU" sz="2400" dirty="0"/>
              <a:t>разделяются по ожидаемому результату на </a:t>
            </a:r>
            <a:r>
              <a:rPr lang="ru-RU" sz="2400" b="1" dirty="0"/>
              <a:t>позитивные</a:t>
            </a:r>
            <a:r>
              <a:rPr lang="ru-RU" sz="2400" dirty="0"/>
              <a:t> и </a:t>
            </a:r>
            <a:r>
              <a:rPr lang="ru-RU" sz="2400" b="1" dirty="0"/>
              <a:t>негативные</a:t>
            </a:r>
            <a:r>
              <a:rPr lang="ru-RU" sz="24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52596" y="285728"/>
            <a:ext cx="8229600" cy="1143000"/>
          </a:xfrm>
        </p:spPr>
        <p:txBody>
          <a:bodyPr/>
          <a:lstStyle/>
          <a:p>
            <a:r>
              <a:rPr lang="ru-RU" dirty="0"/>
              <a:t>Позитивный тест</a:t>
            </a:r>
            <a:r>
              <a:rPr lang="en-US" dirty="0"/>
              <a:t> </a:t>
            </a:r>
            <a:r>
              <a:rPr lang="ru-RU" dirty="0"/>
              <a:t>случай</a:t>
            </a:r>
          </a:p>
        </p:txBody>
      </p:sp>
      <p:sp>
        <p:nvSpPr>
          <p:cNvPr id="4" name="Прямоугольник 3"/>
          <p:cNvSpPr/>
          <p:nvPr/>
        </p:nvSpPr>
        <p:spPr>
          <a:xfrm>
            <a:off x="2952728" y="1571613"/>
            <a:ext cx="6715156" cy="1200329"/>
          </a:xfrm>
          <a:prstGeom prst="rect">
            <a:avLst/>
          </a:prstGeom>
        </p:spPr>
        <p:txBody>
          <a:bodyPr wrap="square">
            <a:spAutoFit/>
          </a:bodyPr>
          <a:lstStyle/>
          <a:p>
            <a:r>
              <a:rPr lang="ru-RU" sz="2400" dirty="0">
                <a:solidFill>
                  <a:prstClr val="black"/>
                </a:solidFill>
              </a:rPr>
              <a:t>использует только корректные данные и проверяет, что приложение правильно выполнило вызываемую функцию. </a:t>
            </a:r>
            <a:endParaRPr lang="ru-RU" dirty="0"/>
          </a:p>
        </p:txBody>
      </p:sp>
      <p:sp>
        <p:nvSpPr>
          <p:cNvPr id="5" name="Заголовок 1"/>
          <p:cNvSpPr txBox="1">
            <a:spLocks/>
          </p:cNvSpPr>
          <p:nvPr/>
        </p:nvSpPr>
        <p:spPr>
          <a:xfrm>
            <a:off x="2024034" y="2786058"/>
            <a:ext cx="8229600" cy="1143000"/>
          </a:xfrm>
          <a:prstGeom prst="rect">
            <a:avLst/>
          </a:prstGeom>
        </p:spPr>
        <p:txBody>
          <a:bodyPr vert="horz" lIns="91440" tIns="45720" rIns="91440" bIns="45720" rtlCol="0" anchor="ctr">
            <a:normAutofit/>
          </a:bodyPr>
          <a:lstStyle/>
          <a:p>
            <a:pPr>
              <a:spcBef>
                <a:spcPct val="0"/>
              </a:spcBef>
              <a:defRPr/>
            </a:pPr>
            <a:r>
              <a:rPr lang="ru-RU" sz="5000" dirty="0">
                <a:solidFill>
                  <a:schemeClr val="bg2">
                    <a:lumMod val="25000"/>
                  </a:schemeClr>
                </a:solidFill>
                <a:latin typeface="+mj-lt"/>
                <a:ea typeface="+mj-ea"/>
                <a:cs typeface="+mj-cs"/>
              </a:rPr>
              <a:t>Негативный тест</a:t>
            </a:r>
            <a:r>
              <a:rPr lang="en-US" sz="5000" dirty="0">
                <a:solidFill>
                  <a:schemeClr val="bg2">
                    <a:lumMod val="25000"/>
                  </a:schemeClr>
                </a:solidFill>
                <a:latin typeface="+mj-lt"/>
                <a:ea typeface="+mj-ea"/>
                <a:cs typeface="+mj-cs"/>
              </a:rPr>
              <a:t> </a:t>
            </a:r>
            <a:r>
              <a:rPr lang="ru-RU" sz="5000" dirty="0">
                <a:solidFill>
                  <a:schemeClr val="bg2">
                    <a:lumMod val="25000"/>
                  </a:schemeClr>
                </a:solidFill>
                <a:latin typeface="+mj-lt"/>
                <a:ea typeface="+mj-ea"/>
                <a:cs typeface="+mj-cs"/>
              </a:rPr>
              <a:t>случай</a:t>
            </a:r>
          </a:p>
        </p:txBody>
      </p:sp>
      <p:sp>
        <p:nvSpPr>
          <p:cNvPr id="6" name="Прямоугольник 5"/>
          <p:cNvSpPr/>
          <p:nvPr/>
        </p:nvSpPr>
        <p:spPr>
          <a:xfrm>
            <a:off x="2881290" y="3857628"/>
            <a:ext cx="7572396" cy="2308324"/>
          </a:xfrm>
          <a:prstGeom prst="rect">
            <a:avLst/>
          </a:prstGeom>
        </p:spPr>
        <p:txBody>
          <a:bodyPr wrap="square">
            <a:spAutoFit/>
          </a:bodyPr>
          <a:lstStyle/>
          <a:p>
            <a:r>
              <a:rPr lang="ru-RU" sz="2400" dirty="0"/>
              <a:t>оперирует как корректными так и некорректными данными </a:t>
            </a:r>
            <a:r>
              <a:rPr lang="ru-RU" sz="2400" dirty="0">
                <a:solidFill>
                  <a:prstClr val="black"/>
                </a:solidFill>
              </a:rPr>
              <a:t>(минимум 1 некорректный параметр) и ставит целью проверку исключительных ситуаций (срабатывание </a:t>
            </a:r>
            <a:r>
              <a:rPr lang="ru-RU" sz="2400" dirty="0" err="1">
                <a:solidFill>
                  <a:prstClr val="black"/>
                </a:solidFill>
              </a:rPr>
              <a:t>валидаторов</a:t>
            </a:r>
            <a:r>
              <a:rPr lang="ru-RU" sz="2400" dirty="0">
                <a:solidFill>
                  <a:prstClr val="black"/>
                </a:solidFill>
              </a:rPr>
              <a:t>), а также проверяет, что вызываемая приложением функция не выполняется при срабатывании </a:t>
            </a:r>
            <a:r>
              <a:rPr lang="ru-RU" sz="2400" dirty="0" err="1">
                <a:solidFill>
                  <a:prstClr val="black"/>
                </a:solidFill>
              </a:rPr>
              <a:t>валидатора</a:t>
            </a:r>
            <a:r>
              <a:rPr lang="ru-RU" sz="2400" dirty="0">
                <a:solidFill>
                  <a:prstClr val="black"/>
                </a:solidFill>
              </a:rPr>
              <a:t>. </a:t>
            </a:r>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52596" y="142852"/>
            <a:ext cx="8229600" cy="1143000"/>
          </a:xfrm>
        </p:spPr>
        <p:txBody>
          <a:bodyPr/>
          <a:lstStyle/>
          <a:p>
            <a:r>
              <a:rPr lang="ru-RU" dirty="0"/>
              <a:t>Структура тестового случая</a:t>
            </a:r>
          </a:p>
        </p:txBody>
      </p:sp>
      <p:sp>
        <p:nvSpPr>
          <p:cNvPr id="4" name="Прямоугольник 3"/>
          <p:cNvSpPr/>
          <p:nvPr/>
        </p:nvSpPr>
        <p:spPr>
          <a:xfrm>
            <a:off x="2666976" y="1500175"/>
            <a:ext cx="6072230" cy="461665"/>
          </a:xfrm>
          <a:prstGeom prst="rect">
            <a:avLst/>
          </a:prstGeom>
          <a:ln>
            <a:solidFill>
              <a:schemeClr val="tx2">
                <a:lumMod val="60000"/>
                <a:lumOff val="40000"/>
              </a:schemeClr>
            </a:solidFill>
          </a:ln>
        </p:spPr>
        <p:txBody>
          <a:bodyPr wrap="square">
            <a:spAutoFit/>
          </a:bodyPr>
          <a:lstStyle/>
          <a:p>
            <a:r>
              <a:rPr lang="en-US" sz="2400" b="1" dirty="0"/>
              <a:t>Action</a:t>
            </a:r>
            <a:r>
              <a:rPr lang="en-US" sz="2400" dirty="0"/>
              <a:t> &gt; </a:t>
            </a:r>
            <a:r>
              <a:rPr lang="en-US" sz="2400" b="1" dirty="0"/>
              <a:t>Expected Result</a:t>
            </a:r>
            <a:r>
              <a:rPr lang="en-US" sz="2400" dirty="0"/>
              <a:t> &gt; </a:t>
            </a:r>
            <a:r>
              <a:rPr lang="en-US" sz="2400" b="1" dirty="0"/>
              <a:t>Test Result</a:t>
            </a:r>
            <a:r>
              <a:rPr lang="en-US" sz="2400" dirty="0"/>
              <a:t> </a:t>
            </a:r>
            <a:endParaRPr lang="ru-RU" sz="2400" dirty="0"/>
          </a:p>
        </p:txBody>
      </p:sp>
      <p:sp>
        <p:nvSpPr>
          <p:cNvPr id="5" name="Прямоугольник 4"/>
          <p:cNvSpPr/>
          <p:nvPr/>
        </p:nvSpPr>
        <p:spPr>
          <a:xfrm>
            <a:off x="1881158" y="2571745"/>
            <a:ext cx="8715436" cy="461665"/>
          </a:xfrm>
          <a:prstGeom prst="rect">
            <a:avLst/>
          </a:prstGeom>
          <a:ln>
            <a:solidFill>
              <a:schemeClr val="tx2">
                <a:lumMod val="60000"/>
                <a:lumOff val="40000"/>
              </a:schemeClr>
            </a:solidFill>
          </a:ln>
        </p:spPr>
        <p:txBody>
          <a:bodyPr wrap="square">
            <a:spAutoFit/>
          </a:bodyPr>
          <a:lstStyle/>
          <a:p>
            <a:r>
              <a:rPr lang="ru-RU" sz="2400" b="1" dirty="0"/>
              <a:t>Действие</a:t>
            </a:r>
            <a:r>
              <a:rPr lang="en-US" sz="2400" dirty="0"/>
              <a:t> &gt; </a:t>
            </a:r>
            <a:r>
              <a:rPr lang="ru-RU" sz="2400" b="1" dirty="0"/>
              <a:t>Предполагаемый результат</a:t>
            </a:r>
            <a:r>
              <a:rPr lang="en-US" sz="2400" dirty="0"/>
              <a:t> &gt; </a:t>
            </a:r>
            <a:r>
              <a:rPr lang="ru-RU" sz="2400" b="1" dirty="0"/>
              <a:t>Результат теста</a:t>
            </a:r>
            <a:endParaRPr lang="ru-RU" sz="2400" dirty="0"/>
          </a:p>
        </p:txBody>
      </p:sp>
      <p:sp>
        <p:nvSpPr>
          <p:cNvPr id="6" name="Прямоугольник 5"/>
          <p:cNvSpPr/>
          <p:nvPr/>
        </p:nvSpPr>
        <p:spPr>
          <a:xfrm>
            <a:off x="1881158" y="2000241"/>
            <a:ext cx="1000132" cy="461665"/>
          </a:xfrm>
          <a:prstGeom prst="rect">
            <a:avLst/>
          </a:prstGeom>
        </p:spPr>
        <p:txBody>
          <a:bodyPr wrap="square">
            <a:spAutoFit/>
          </a:bodyPr>
          <a:lstStyle/>
          <a:p>
            <a:r>
              <a:rPr lang="ru-RU" sz="2400" dirty="0">
                <a:solidFill>
                  <a:prstClr val="black"/>
                </a:solidFill>
              </a:rPr>
              <a:t>или</a:t>
            </a:r>
            <a:endParaRPr lang="ru-RU" dirty="0"/>
          </a:p>
        </p:txBody>
      </p:sp>
      <p:sp>
        <p:nvSpPr>
          <p:cNvPr id="7" name="Прямоугольник 6"/>
          <p:cNvSpPr/>
          <p:nvPr/>
        </p:nvSpPr>
        <p:spPr>
          <a:xfrm>
            <a:off x="1952596" y="3181650"/>
            <a:ext cx="1643074" cy="461665"/>
          </a:xfrm>
          <a:prstGeom prst="rect">
            <a:avLst/>
          </a:prstGeom>
        </p:spPr>
        <p:txBody>
          <a:bodyPr wrap="square">
            <a:spAutoFit/>
          </a:bodyPr>
          <a:lstStyle/>
          <a:p>
            <a:r>
              <a:rPr lang="ru-RU" sz="2400" dirty="0">
                <a:solidFill>
                  <a:prstClr val="black"/>
                </a:solidFill>
              </a:rPr>
              <a:t>Пример:</a:t>
            </a:r>
            <a:endParaRPr lang="ru-RU" dirty="0"/>
          </a:p>
        </p:txBody>
      </p:sp>
      <p:graphicFrame>
        <p:nvGraphicFramePr>
          <p:cNvPr id="8" name="Таблица 7"/>
          <p:cNvGraphicFramePr>
            <a:graphicFrameLocks noGrp="1"/>
          </p:cNvGraphicFramePr>
          <p:nvPr/>
        </p:nvGraphicFramePr>
        <p:xfrm>
          <a:off x="2452662" y="4214818"/>
          <a:ext cx="7500990" cy="1943100"/>
        </p:xfrm>
        <a:graphic>
          <a:graphicData uri="http://schemas.openxmlformats.org/drawingml/2006/table">
            <a:tbl>
              <a:tblPr/>
              <a:tblGrid>
                <a:gridCol w="2500330">
                  <a:extLst>
                    <a:ext uri="{9D8B030D-6E8A-4147-A177-3AD203B41FA5}">
                      <a16:colId xmlns:a16="http://schemas.microsoft.com/office/drawing/2014/main" val="20000"/>
                    </a:ext>
                  </a:extLst>
                </a:gridCol>
                <a:gridCol w="2500330">
                  <a:extLst>
                    <a:ext uri="{9D8B030D-6E8A-4147-A177-3AD203B41FA5}">
                      <a16:colId xmlns:a16="http://schemas.microsoft.com/office/drawing/2014/main" val="20001"/>
                    </a:ext>
                  </a:extLst>
                </a:gridCol>
                <a:gridCol w="2500330">
                  <a:extLst>
                    <a:ext uri="{9D8B030D-6E8A-4147-A177-3AD203B41FA5}">
                      <a16:colId xmlns:a16="http://schemas.microsoft.com/office/drawing/2014/main" val="20002"/>
                    </a:ext>
                  </a:extLst>
                </a:gridCol>
              </a:tblGrid>
              <a:tr h="0">
                <a:tc>
                  <a:txBody>
                    <a:bodyPr/>
                    <a:lstStyle/>
                    <a:p>
                      <a:r>
                        <a:rPr lang="en-US" sz="2400" dirty="0"/>
                        <a:t>Action </a:t>
                      </a:r>
                    </a:p>
                  </a:txBody>
                  <a:tcPr marL="28575" marR="28575" marT="28575" marB="28575" anchor="ctr">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400" dirty="0"/>
                        <a:t>Expected Result </a:t>
                      </a:r>
                    </a:p>
                  </a:txBody>
                  <a:tcPr marL="28575" marR="28575" marT="28575" marB="2857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2400" dirty="0"/>
                        <a:t>Test Result</a:t>
                      </a:r>
                      <a:br>
                        <a:rPr lang="en-US" sz="2400" dirty="0"/>
                      </a:br>
                      <a:r>
                        <a:rPr lang="en-US" sz="2400" dirty="0"/>
                        <a:t>(passed/failed/blocked)</a:t>
                      </a:r>
                    </a:p>
                  </a:txBody>
                  <a:tcPr marL="28575" marR="28575" marT="28575" marB="28575" anchor="ctr">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0">
                <a:tc>
                  <a:txBody>
                    <a:bodyPr/>
                    <a:lstStyle/>
                    <a:p>
                      <a:r>
                        <a:rPr lang="en-US" sz="2400" dirty="0"/>
                        <a:t>Open page "login" </a:t>
                      </a:r>
                    </a:p>
                  </a:txBody>
                  <a:tcPr marL="28575" marR="28575" marT="28575" marB="28575" anchor="ct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r>
                        <a:rPr lang="en-US" sz="2400" dirty="0"/>
                        <a:t>Login page is opened</a:t>
                      </a:r>
                    </a:p>
                  </a:txBody>
                  <a:tcPr marL="28575" marR="28575" marT="28575" marB="28575"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r>
                        <a:rPr lang="en-US" sz="2400" dirty="0"/>
                        <a:t>Passed </a:t>
                      </a:r>
                    </a:p>
                  </a:txBody>
                  <a:tcPr marL="28575" marR="28575" marT="28575" marB="28575" anchor="ctr">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81158" y="285728"/>
            <a:ext cx="8229600" cy="1143000"/>
          </a:xfrm>
        </p:spPr>
        <p:txBody>
          <a:bodyPr>
            <a:normAutofit/>
          </a:bodyPr>
          <a:lstStyle/>
          <a:p>
            <a:r>
              <a:rPr lang="ru-RU" dirty="0"/>
              <a:t>Структура Тестовых Случаев</a:t>
            </a:r>
          </a:p>
        </p:txBody>
      </p:sp>
      <p:graphicFrame>
        <p:nvGraphicFramePr>
          <p:cNvPr id="4" name="Таблица 3"/>
          <p:cNvGraphicFramePr>
            <a:graphicFrameLocks noGrp="1"/>
          </p:cNvGraphicFramePr>
          <p:nvPr/>
        </p:nvGraphicFramePr>
        <p:xfrm>
          <a:off x="2024034" y="1785926"/>
          <a:ext cx="8358246" cy="4867146"/>
        </p:xfrm>
        <a:graphic>
          <a:graphicData uri="http://schemas.openxmlformats.org/drawingml/2006/table">
            <a:tbl>
              <a:tblPr/>
              <a:tblGrid>
                <a:gridCol w="2286016">
                  <a:extLst>
                    <a:ext uri="{9D8B030D-6E8A-4147-A177-3AD203B41FA5}">
                      <a16:colId xmlns:a16="http://schemas.microsoft.com/office/drawing/2014/main" val="20000"/>
                    </a:ext>
                  </a:extLst>
                </a:gridCol>
                <a:gridCol w="6072230">
                  <a:extLst>
                    <a:ext uri="{9D8B030D-6E8A-4147-A177-3AD203B41FA5}">
                      <a16:colId xmlns:a16="http://schemas.microsoft.com/office/drawing/2014/main" val="20001"/>
                    </a:ext>
                  </a:extLst>
                </a:gridCol>
              </a:tblGrid>
              <a:tr h="1356731">
                <a:tc>
                  <a:txBody>
                    <a:bodyPr/>
                    <a:lstStyle/>
                    <a:p>
                      <a:r>
                        <a:rPr lang="en-US" sz="2400" b="1" dirty="0" err="1"/>
                        <a:t>PreConditions</a:t>
                      </a:r>
                      <a:r>
                        <a:rPr lang="en-US" sz="2400" dirty="0"/>
                        <a:t> </a:t>
                      </a:r>
                    </a:p>
                  </a:txBody>
                  <a:tcPr marL="18711" marR="18711" marT="18711" marB="18711" anchor="ctr">
                    <a:lnL>
                      <a:noFill/>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lang="ru-RU" sz="2400" dirty="0"/>
                        <a:t>Список действий, переводящий систему в состояние пригодное для проведения основной проверки. Либо список условий, выполнение которых обеспечивает, перевод системы в состояние пригодное для проведения теста</a:t>
                      </a:r>
                    </a:p>
                  </a:txBody>
                  <a:tcPr marL="18711" marR="18711" marT="18711" marB="18711" anchor="ctr">
                    <a:lnL w="38100" cap="flat" cmpd="sng" algn="ctr">
                      <a:solidFill>
                        <a:schemeClr val="tx1"/>
                      </a:solidFill>
                      <a:prstDash val="solid"/>
                      <a:round/>
                      <a:headEnd type="none" w="med" len="med"/>
                      <a:tailEnd type="none" w="med" len="med"/>
                    </a:lnL>
                    <a:lnR>
                      <a:noFill/>
                    </a:lnR>
                    <a:lnT>
                      <a:noFill/>
                    </a:lnT>
                    <a:lnB w="381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1209394">
                <a:tc>
                  <a:txBody>
                    <a:bodyPr/>
                    <a:lstStyle/>
                    <a:p>
                      <a:r>
                        <a:rPr lang="en-US" sz="2400" b="1" dirty="0"/>
                        <a:t>Test Case Description</a:t>
                      </a:r>
                      <a:r>
                        <a:rPr lang="en-US" sz="2400" dirty="0"/>
                        <a:t> </a:t>
                      </a:r>
                    </a:p>
                  </a:txBody>
                  <a:tcPr marL="18711" marR="18711" marT="18711" marB="18711" anchor="ct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lang="ru-RU" sz="2400" dirty="0"/>
                        <a:t>Список действий, переводящих систему из одного состояния в другое, для получения результата, на основании которого можно сделать вывод о том, что реализация, удовлетворяет поставленным требованиям</a:t>
                      </a:r>
                    </a:p>
                  </a:txBody>
                  <a:tcPr marL="18711" marR="18711" marT="18711" marB="18711" anchor="ctr">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767382">
                <a:tc>
                  <a:txBody>
                    <a:bodyPr/>
                    <a:lstStyle/>
                    <a:p>
                      <a:r>
                        <a:rPr lang="en-US" sz="2400" b="1" dirty="0" err="1"/>
                        <a:t>PostConditions</a:t>
                      </a:r>
                      <a:r>
                        <a:rPr lang="en-US" sz="2400" dirty="0"/>
                        <a:t> </a:t>
                      </a:r>
                    </a:p>
                  </a:txBody>
                  <a:tcPr marL="18711" marR="18711" marT="18711" marB="18711" anchor="ctr">
                    <a:lnL>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a:noFill/>
                    </a:lnB>
                    <a:solidFill>
                      <a:schemeClr val="tx2">
                        <a:lumMod val="40000"/>
                        <a:lumOff val="60000"/>
                      </a:schemeClr>
                    </a:solidFill>
                  </a:tcPr>
                </a:tc>
                <a:tc>
                  <a:txBody>
                    <a:bodyPr/>
                    <a:lstStyle/>
                    <a:p>
                      <a:r>
                        <a:rPr lang="ru-RU" sz="2400" dirty="0"/>
                        <a:t>Список действий, переводящих систему в первоначальное состояние (</a:t>
                      </a:r>
                      <a:r>
                        <a:rPr lang="ru-RU" sz="2400" dirty="0" err="1"/>
                        <a:t>initial</a:t>
                      </a:r>
                      <a:r>
                        <a:rPr lang="ru-RU" sz="2400" dirty="0"/>
                        <a:t> </a:t>
                      </a:r>
                      <a:r>
                        <a:rPr lang="ru-RU" sz="2400" dirty="0" err="1"/>
                        <a:t>state</a:t>
                      </a:r>
                      <a:r>
                        <a:rPr lang="ru-RU" sz="2400" dirty="0"/>
                        <a:t>)</a:t>
                      </a:r>
                    </a:p>
                  </a:txBody>
                  <a:tcPr marL="18711" marR="18711" marT="18711" marB="18711" anchor="ctr">
                    <a:lnL w="38100" cap="flat" cmpd="sng" algn="ctr">
                      <a:solidFill>
                        <a:schemeClr val="tx1"/>
                      </a:solidFill>
                      <a:prstDash val="solid"/>
                      <a:round/>
                      <a:headEnd type="none" w="med" len="med"/>
                      <a:tailEnd type="none" w="med" len="med"/>
                    </a:lnL>
                    <a:lnR>
                      <a:noFill/>
                    </a:lnR>
                    <a:lnT w="38100" cap="flat" cmpd="sng" algn="ctr">
                      <a:solidFill>
                        <a:schemeClr val="tx1"/>
                      </a:solidFill>
                      <a:prstDash val="solid"/>
                      <a:round/>
                      <a:headEnd type="none" w="med" len="med"/>
                      <a:tailEnd type="none" w="med" len="med"/>
                    </a:lnT>
                    <a:lnB>
                      <a:noFill/>
                    </a:lnB>
                    <a:solidFill>
                      <a:schemeClr val="tx2">
                        <a:lumMod val="20000"/>
                        <a:lumOff val="8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81158" y="428604"/>
            <a:ext cx="8229600" cy="1143000"/>
          </a:xfrm>
        </p:spPr>
        <p:txBody>
          <a:bodyPr/>
          <a:lstStyle/>
          <a:p>
            <a:r>
              <a:rPr lang="ru-RU" b="1" dirty="0" err="1"/>
              <a:t>Баг</a:t>
            </a:r>
            <a:r>
              <a:rPr lang="ru-RU" b="1" dirty="0"/>
              <a:t> Репорт (</a:t>
            </a:r>
            <a:r>
              <a:rPr lang="en-US" b="1" dirty="0"/>
              <a:t>Bug Report)</a:t>
            </a:r>
            <a:endParaRPr lang="ru-RU" dirty="0"/>
          </a:p>
        </p:txBody>
      </p:sp>
      <p:sp>
        <p:nvSpPr>
          <p:cNvPr id="4" name="Прямоугольник 3"/>
          <p:cNvSpPr/>
          <p:nvPr/>
        </p:nvSpPr>
        <p:spPr>
          <a:xfrm>
            <a:off x="2666976" y="1643050"/>
            <a:ext cx="6858000" cy="1569660"/>
          </a:xfrm>
          <a:prstGeom prst="rect">
            <a:avLst/>
          </a:prstGeom>
        </p:spPr>
        <p:txBody>
          <a:bodyPr wrap="square">
            <a:spAutoFit/>
          </a:bodyPr>
          <a:lstStyle/>
          <a:p>
            <a:r>
              <a:rPr lang="ru-RU" sz="2400" dirty="0"/>
              <a:t>документ, описывающий ситуацию или последовательность действий приведшую к некорректной работе объекта тестирования, с указанием причин и ожидаемого результата</a:t>
            </a:r>
          </a:p>
        </p:txBody>
      </p:sp>
      <p:sp>
        <p:nvSpPr>
          <p:cNvPr id="5" name="Заголовок 1"/>
          <p:cNvSpPr txBox="1">
            <a:spLocks/>
          </p:cNvSpPr>
          <p:nvPr/>
        </p:nvSpPr>
        <p:spPr>
          <a:xfrm>
            <a:off x="1809720" y="3216662"/>
            <a:ext cx="8229600" cy="1143000"/>
          </a:xfrm>
          <a:prstGeom prst="rect">
            <a:avLst/>
          </a:prstGeom>
        </p:spPr>
        <p:txBody>
          <a:bodyPr vert="horz" lIns="0" rIns="0" bIns="0" anchor="b">
            <a:normAutofit fontScale="85000" lnSpcReduction="10000"/>
          </a:bodyPr>
          <a:lstStyle/>
          <a:p>
            <a:pPr lvl="0">
              <a:spcBef>
                <a:spcPct val="0"/>
              </a:spcBef>
            </a:pPr>
            <a:r>
              <a:rPr lang="ru-RU" sz="5000" b="1" dirty="0">
                <a:solidFill>
                  <a:schemeClr val="tx2"/>
                </a:solidFill>
                <a:latin typeface="+mj-lt"/>
                <a:ea typeface="+mj-ea"/>
                <a:cs typeface="+mj-cs"/>
              </a:rPr>
              <a:t>Тестовое Покрытие (</a:t>
            </a:r>
            <a:r>
              <a:rPr lang="en-US" sz="5000" b="1" dirty="0">
                <a:solidFill>
                  <a:schemeClr val="tx2"/>
                </a:solidFill>
                <a:latin typeface="+mj-lt"/>
                <a:ea typeface="+mj-ea"/>
                <a:cs typeface="+mj-cs"/>
              </a:rPr>
              <a:t>Test Coverage)</a:t>
            </a:r>
            <a:endParaRPr lang="ru-RU" sz="5000" dirty="0">
              <a:solidFill>
                <a:schemeClr val="tx2"/>
              </a:solidFill>
              <a:latin typeface="+mj-lt"/>
              <a:ea typeface="+mj-ea"/>
              <a:cs typeface="+mj-cs"/>
            </a:endParaRPr>
          </a:p>
        </p:txBody>
      </p:sp>
      <p:sp>
        <p:nvSpPr>
          <p:cNvPr id="6" name="Прямоугольник 5"/>
          <p:cNvSpPr/>
          <p:nvPr/>
        </p:nvSpPr>
        <p:spPr>
          <a:xfrm>
            <a:off x="2595538" y="4431109"/>
            <a:ext cx="6858000" cy="1200329"/>
          </a:xfrm>
          <a:prstGeom prst="rect">
            <a:avLst/>
          </a:prstGeom>
        </p:spPr>
        <p:txBody>
          <a:bodyPr wrap="square">
            <a:spAutoFit/>
          </a:bodyPr>
          <a:lstStyle/>
          <a:p>
            <a:r>
              <a:rPr lang="ru-RU" sz="2400" dirty="0"/>
              <a:t>одна из метрик оценки качества тестирования, представляющая из себя плотность покрытия тестами требований либо исполняемого кода</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Детализация тестового случая</a:t>
            </a:r>
            <a:r>
              <a:rPr lang="ru-RU" dirty="0"/>
              <a:t> (</a:t>
            </a:r>
            <a:r>
              <a:rPr lang="en-US" b="1" dirty="0"/>
              <a:t>Test Case Specification</a:t>
            </a:r>
            <a:r>
              <a:rPr lang="en-US" dirty="0"/>
              <a:t>) </a:t>
            </a:r>
            <a:endParaRPr lang="ru-RU" dirty="0"/>
          </a:p>
        </p:txBody>
      </p:sp>
      <p:sp>
        <p:nvSpPr>
          <p:cNvPr id="4" name="Прямоугольник 3"/>
          <p:cNvSpPr/>
          <p:nvPr/>
        </p:nvSpPr>
        <p:spPr>
          <a:xfrm>
            <a:off x="2666976" y="2071678"/>
            <a:ext cx="6643718" cy="1569660"/>
          </a:xfrm>
          <a:prstGeom prst="rect">
            <a:avLst/>
          </a:prstGeom>
        </p:spPr>
        <p:txBody>
          <a:bodyPr wrap="square">
            <a:spAutoFit/>
          </a:bodyPr>
          <a:lstStyle/>
          <a:p>
            <a:r>
              <a:rPr lang="ru-RU" sz="2400" dirty="0"/>
              <a:t>уровень детализации описания тестовых шагов и требуемого результата, при котором обеспечивается разумное соотношение времени прохождения к тестовому покрытию </a:t>
            </a:r>
          </a:p>
        </p:txBody>
      </p:sp>
      <p:sp>
        <p:nvSpPr>
          <p:cNvPr id="5" name="Заголовок 1"/>
          <p:cNvSpPr txBox="1">
            <a:spLocks/>
          </p:cNvSpPr>
          <p:nvPr/>
        </p:nvSpPr>
        <p:spPr>
          <a:xfrm>
            <a:off x="1952596" y="3635022"/>
            <a:ext cx="8229600" cy="1143000"/>
          </a:xfrm>
          <a:prstGeom prst="rect">
            <a:avLst/>
          </a:prstGeom>
        </p:spPr>
        <p:txBody>
          <a:bodyPr vert="horz" lIns="0" rIns="0" bIns="0" anchor="b">
            <a:normAutofit fontScale="82500" lnSpcReduction="10000"/>
          </a:bodyPr>
          <a:lstStyle/>
          <a:p>
            <a:pPr>
              <a:spcBef>
                <a:spcPct val="0"/>
              </a:spcBef>
            </a:pPr>
            <a:r>
              <a:rPr lang="ru-RU" sz="5000" b="1" dirty="0">
                <a:solidFill>
                  <a:schemeClr val="tx2"/>
                </a:solidFill>
                <a:latin typeface="+mj-lt"/>
                <a:ea typeface="+mj-ea"/>
                <a:cs typeface="+mj-cs"/>
              </a:rPr>
              <a:t>Время прохождения тестового случая </a:t>
            </a:r>
            <a:endParaRPr lang="ru-RU" sz="5000" dirty="0">
              <a:solidFill>
                <a:schemeClr val="tx2"/>
              </a:solidFill>
              <a:latin typeface="+mj-lt"/>
              <a:ea typeface="+mj-ea"/>
              <a:cs typeface="+mj-cs"/>
            </a:endParaRPr>
          </a:p>
        </p:txBody>
      </p:sp>
      <p:sp>
        <p:nvSpPr>
          <p:cNvPr id="6" name="Прямоугольник 5"/>
          <p:cNvSpPr/>
          <p:nvPr/>
        </p:nvSpPr>
        <p:spPr>
          <a:xfrm>
            <a:off x="2638372" y="5002613"/>
            <a:ext cx="6643718" cy="830997"/>
          </a:xfrm>
          <a:prstGeom prst="rect">
            <a:avLst/>
          </a:prstGeom>
        </p:spPr>
        <p:txBody>
          <a:bodyPr wrap="square">
            <a:spAutoFit/>
          </a:bodyPr>
          <a:lstStyle/>
          <a:p>
            <a:r>
              <a:rPr lang="ru-RU" sz="2400" dirty="0"/>
              <a:t>время от начала прохождения шагов тестового случая до получения результата теста</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436" y="2636913"/>
            <a:ext cx="6696744" cy="4041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666002" y="188640"/>
            <a:ext cx="7380820" cy="1046440"/>
          </a:xfrm>
          <a:prstGeom prst="rect">
            <a:avLst/>
          </a:prstGeom>
          <a:noFill/>
        </p:spPr>
        <p:txBody>
          <a:bodyPr wrap="square" rtlCol="0">
            <a:spAutoFit/>
          </a:bodyPr>
          <a:lstStyle/>
          <a:p>
            <a:pPr algn="ctr"/>
            <a:r>
              <a:rPr lang="ru-RU" sz="3600" b="1" dirty="0"/>
              <a:t>Методика «черный ящик»</a:t>
            </a:r>
          </a:p>
          <a:p>
            <a:pPr algn="ctr"/>
            <a:r>
              <a:rPr lang="ru-RU" sz="2600" b="1" dirty="0"/>
              <a:t>(функциональное тестирование)</a:t>
            </a:r>
          </a:p>
        </p:txBody>
      </p:sp>
      <p:sp>
        <p:nvSpPr>
          <p:cNvPr id="6" name="TextBox 5"/>
          <p:cNvSpPr txBox="1"/>
          <p:nvPr/>
        </p:nvSpPr>
        <p:spPr>
          <a:xfrm>
            <a:off x="2207568" y="1248487"/>
            <a:ext cx="7656146" cy="1200329"/>
          </a:xfrm>
          <a:prstGeom prst="rect">
            <a:avLst/>
          </a:prstGeom>
          <a:noFill/>
        </p:spPr>
        <p:txBody>
          <a:bodyPr wrap="square" rtlCol="0">
            <a:spAutoFit/>
          </a:bodyPr>
          <a:lstStyle/>
          <a:p>
            <a:r>
              <a:rPr lang="ru-RU" sz="2400" dirty="0"/>
              <a:t>Тестирование поведения программы с точки зрения </a:t>
            </a:r>
            <a:r>
              <a:rPr lang="ru-RU" sz="2400" b="1" i="1" dirty="0"/>
              <a:t>конечного пользователя</a:t>
            </a:r>
            <a:r>
              <a:rPr lang="ru-RU" sz="2400" dirty="0"/>
              <a:t> (исходный текст программы не используется).</a:t>
            </a:r>
          </a:p>
        </p:txBody>
      </p:sp>
    </p:spTree>
    <p:extLst>
      <p:ext uri="{BB962C8B-B14F-4D97-AF65-F5344CB8AC3E}">
        <p14:creationId xmlns:p14="http://schemas.microsoft.com/office/powerpoint/2010/main" val="3313596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DC46A7-2FCB-4E87-8E48-962B78CBA959}"/>
              </a:ext>
            </a:extLst>
          </p:cNvPr>
          <p:cNvSpPr>
            <a:spLocks noGrp="1"/>
          </p:cNvSpPr>
          <p:nvPr>
            <p:ph type="title"/>
          </p:nvPr>
        </p:nvSpPr>
        <p:spPr/>
        <p:txBody>
          <a:bodyPr/>
          <a:lstStyle/>
          <a:p>
            <a:pPr algn="ctr"/>
            <a:r>
              <a:rPr lang="ru-RU" b="1" dirty="0"/>
              <a:t>Тестирование чёрного ящика</a:t>
            </a:r>
            <a:r>
              <a:rPr lang="ru-RU" dirty="0"/>
              <a:t> или </a:t>
            </a:r>
            <a:r>
              <a:rPr lang="ru-RU" b="1" dirty="0"/>
              <a:t>поведенческое тестирование</a:t>
            </a:r>
            <a:endParaRPr lang="ru-RU" dirty="0"/>
          </a:p>
        </p:txBody>
      </p:sp>
      <p:sp>
        <p:nvSpPr>
          <p:cNvPr id="3" name="Объект 2">
            <a:extLst>
              <a:ext uri="{FF2B5EF4-FFF2-40B4-BE49-F238E27FC236}">
                <a16:creationId xmlns:a16="http://schemas.microsoft.com/office/drawing/2014/main" id="{E8373142-656A-4CBC-815C-3FD837A790ED}"/>
              </a:ext>
            </a:extLst>
          </p:cNvPr>
          <p:cNvSpPr>
            <a:spLocks noGrp="1"/>
          </p:cNvSpPr>
          <p:nvPr>
            <p:ph idx="1"/>
          </p:nvPr>
        </p:nvSpPr>
        <p:spPr/>
        <p:txBody>
          <a:bodyPr/>
          <a:lstStyle/>
          <a:p>
            <a:r>
              <a:rPr lang="ru-RU" dirty="0"/>
              <a:t> — стратегия (метод) тестирования функционального поведения объекта (программы, системы) с точки зрения внешнего мира, при котором не используется знание о внутреннем устройстве тестируемого объекта. </a:t>
            </a:r>
          </a:p>
          <a:p>
            <a:r>
              <a:rPr lang="ru-RU" dirty="0"/>
              <a:t>Под стратегией понимаются систематические методы отбора и создания тестов для тестового набора. </a:t>
            </a:r>
          </a:p>
          <a:p>
            <a:r>
              <a:rPr lang="ru-RU" dirty="0"/>
              <a:t>Стратегия поведенческого теста исходит из </a:t>
            </a:r>
            <a:r>
              <a:rPr lang="ru-RU" dirty="0">
                <a:hlinkClick r:id="rId2" tooltip="Требования к программному обеспечению"/>
              </a:rPr>
              <a:t>технических требований</a:t>
            </a:r>
            <a:r>
              <a:rPr lang="ru-RU" dirty="0"/>
              <a:t> и их </a:t>
            </a:r>
            <a:r>
              <a:rPr lang="ru-RU" dirty="0">
                <a:hlinkClick r:id="rId3" tooltip="Спецификация программного обеспечения"/>
              </a:rPr>
              <a:t>спецификаций</a:t>
            </a:r>
            <a:endParaRPr lang="ru-RU" baseline="30000" dirty="0"/>
          </a:p>
          <a:p>
            <a:endParaRPr lang="ru-RU" dirty="0"/>
          </a:p>
        </p:txBody>
      </p:sp>
    </p:spTree>
    <p:extLst>
      <p:ext uri="{BB962C8B-B14F-4D97-AF65-F5344CB8AC3E}">
        <p14:creationId xmlns:p14="http://schemas.microsoft.com/office/powerpoint/2010/main" val="2850321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AFF1911-EF5A-4AFC-A653-B568085CEC58}"/>
              </a:ext>
            </a:extLst>
          </p:cNvPr>
          <p:cNvSpPr>
            <a:spLocks noGrp="1"/>
          </p:cNvSpPr>
          <p:nvPr>
            <p:ph type="title"/>
          </p:nvPr>
        </p:nvSpPr>
        <p:spPr/>
        <p:txBody>
          <a:bodyPr/>
          <a:lstStyle/>
          <a:p>
            <a:pPr algn="ctr"/>
            <a:r>
              <a:rPr lang="ru-RU" b="1" i="1" u="sng" dirty="0"/>
              <a:t>Чёрный ящик</a:t>
            </a:r>
            <a:endParaRPr lang="ru-RU" dirty="0"/>
          </a:p>
        </p:txBody>
      </p:sp>
      <p:sp>
        <p:nvSpPr>
          <p:cNvPr id="3" name="Объект 2">
            <a:extLst>
              <a:ext uri="{FF2B5EF4-FFF2-40B4-BE49-F238E27FC236}">
                <a16:creationId xmlns:a16="http://schemas.microsoft.com/office/drawing/2014/main" id="{F3B72175-CDF1-420F-9F34-95AE0B0D63AB}"/>
              </a:ext>
            </a:extLst>
          </p:cNvPr>
          <p:cNvSpPr>
            <a:spLocks noGrp="1"/>
          </p:cNvSpPr>
          <p:nvPr>
            <p:ph idx="1"/>
          </p:nvPr>
        </p:nvSpPr>
        <p:spPr>
          <a:xfrm>
            <a:off x="138023" y="1518250"/>
            <a:ext cx="11869947" cy="5339750"/>
          </a:xfrm>
        </p:spPr>
        <p:txBody>
          <a:bodyPr>
            <a:normAutofit/>
          </a:bodyPr>
          <a:lstStyle/>
          <a:p>
            <a:r>
              <a:rPr lang="ru-RU" dirty="0"/>
              <a:t>Под «чёрным ящиком» понимается объект исследования, внутреннее устройство которого неизвестно. Понятие «чёрный ящик» предложено У. Р. Эшби. В кибернетике оно позволяет изучать поведение систем, то есть их реакций на разнообразные внешние воздействия и в то же время абстрагироваться от их внутреннего устройства.</a:t>
            </a:r>
          </a:p>
          <a:p>
            <a:endParaRPr lang="ru-RU" dirty="0"/>
          </a:p>
          <a:p>
            <a:r>
              <a:rPr lang="ru-RU" dirty="0"/>
              <a:t>Манипулируя только лишь со входами и выходами, можно проводить определённые исследования. На практике всегда возникает вопрос, насколько гомоморфизм «чёрного» ящика отражает адекватность его изучаемой модели, то есть как полно в модели отражаются основные свойства оригинала.</a:t>
            </a:r>
          </a:p>
        </p:txBody>
      </p:sp>
    </p:spTree>
    <p:extLst>
      <p:ext uri="{BB962C8B-B14F-4D97-AF65-F5344CB8AC3E}">
        <p14:creationId xmlns:p14="http://schemas.microsoft.com/office/powerpoint/2010/main" val="229168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90D59D-53E6-404F-B7FA-E2AF118BA861}"/>
              </a:ext>
            </a:extLst>
          </p:cNvPr>
          <p:cNvSpPr>
            <a:spLocks noGrp="1"/>
          </p:cNvSpPr>
          <p:nvPr>
            <p:ph type="title"/>
          </p:nvPr>
        </p:nvSpPr>
        <p:spPr/>
        <p:txBody>
          <a:bodyPr/>
          <a:lstStyle/>
          <a:p>
            <a:r>
              <a:rPr lang="ru-RU" dirty="0"/>
              <a:t>Принципы тестирования чёрного ящика</a:t>
            </a:r>
          </a:p>
        </p:txBody>
      </p:sp>
      <p:sp>
        <p:nvSpPr>
          <p:cNvPr id="3" name="Объект 2">
            <a:extLst>
              <a:ext uri="{FF2B5EF4-FFF2-40B4-BE49-F238E27FC236}">
                <a16:creationId xmlns:a16="http://schemas.microsoft.com/office/drawing/2014/main" id="{B5636B94-CD5C-4F81-B4D4-F483671DDB00}"/>
              </a:ext>
            </a:extLst>
          </p:cNvPr>
          <p:cNvSpPr>
            <a:spLocks noGrp="1"/>
          </p:cNvSpPr>
          <p:nvPr>
            <p:ph idx="1"/>
          </p:nvPr>
        </p:nvSpPr>
        <p:spPr>
          <a:xfrm>
            <a:off x="0" y="1380226"/>
            <a:ext cx="12192000" cy="5607169"/>
          </a:xfrm>
        </p:spPr>
        <p:txBody>
          <a:bodyPr>
            <a:normAutofit/>
          </a:bodyPr>
          <a:lstStyle/>
          <a:p>
            <a:r>
              <a:rPr lang="ru-RU" dirty="0"/>
              <a:t>В этом методе программа рассматривается как чёрный ящик. </a:t>
            </a:r>
          </a:p>
          <a:p>
            <a:r>
              <a:rPr lang="ru-RU" dirty="0"/>
              <a:t>Целью тестирования ставится выяснение обстоятельств, в которых поведение программы не соответствует спецификации. </a:t>
            </a:r>
          </a:p>
          <a:p>
            <a:r>
              <a:rPr lang="ru-RU" dirty="0"/>
              <a:t>Для обнаружения всех ошибок в программе необходимо выполнить исчерпывающее тестирование, то есть тестирование на всевозможных наборах данных. </a:t>
            </a:r>
          </a:p>
          <a:p>
            <a:r>
              <a:rPr lang="ru-RU" dirty="0"/>
              <a:t>Для большинства программ такое невозможно, поэтому применяют разумное тестирование, при котором тестирование программы ограничивается небольшим подмножеством всевозможных наборов данных. </a:t>
            </a:r>
          </a:p>
          <a:p>
            <a:r>
              <a:rPr lang="ru-RU" dirty="0"/>
              <a:t>При этом необходимо выбирать наиболее подходящие подмножества, подмножества с наивысшей вероятностью обнаружения ошибок.</a:t>
            </a:r>
          </a:p>
        </p:txBody>
      </p:sp>
    </p:spTree>
    <p:extLst>
      <p:ext uri="{BB962C8B-B14F-4D97-AF65-F5344CB8AC3E}">
        <p14:creationId xmlns:p14="http://schemas.microsoft.com/office/powerpoint/2010/main" val="3990935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0B2185-A793-46DD-8120-B5C699BE6C64}"/>
              </a:ext>
            </a:extLst>
          </p:cNvPr>
          <p:cNvSpPr>
            <a:spLocks noGrp="1"/>
          </p:cNvSpPr>
          <p:nvPr>
            <p:ph type="title"/>
          </p:nvPr>
        </p:nvSpPr>
        <p:spPr/>
        <p:txBody>
          <a:bodyPr/>
          <a:lstStyle/>
          <a:p>
            <a:r>
              <a:rPr lang="ru-RU" dirty="0"/>
              <a:t>Свойства правильно выбранного теста</a:t>
            </a:r>
            <a:br>
              <a:rPr lang="ru-RU" dirty="0"/>
            </a:br>
            <a:endParaRPr lang="ru-RU" dirty="0"/>
          </a:p>
        </p:txBody>
      </p:sp>
      <p:sp>
        <p:nvSpPr>
          <p:cNvPr id="3" name="Объект 2">
            <a:extLst>
              <a:ext uri="{FF2B5EF4-FFF2-40B4-BE49-F238E27FC236}">
                <a16:creationId xmlns:a16="http://schemas.microsoft.com/office/drawing/2014/main" id="{0151AAF1-6802-4CFA-92CA-6846EB939E3C}"/>
              </a:ext>
            </a:extLst>
          </p:cNvPr>
          <p:cNvSpPr>
            <a:spLocks noGrp="1"/>
          </p:cNvSpPr>
          <p:nvPr>
            <p:ph idx="1"/>
          </p:nvPr>
        </p:nvSpPr>
        <p:spPr/>
        <p:txBody>
          <a:bodyPr/>
          <a:lstStyle/>
          <a:p>
            <a:r>
              <a:rPr lang="ru-RU" dirty="0"/>
              <a:t>Уменьшает более чем на одно число других тестов, которые должны быть разработаны для разумного тестирования.</a:t>
            </a:r>
          </a:p>
          <a:p>
            <a:r>
              <a:rPr lang="ru-RU" dirty="0"/>
              <a:t>Покрывает значительную часть других возможных тестов, что в некоторой степени свидетельствует о наличии или отсутствии ошибки до и после ограниченного множества тестов.</a:t>
            </a:r>
          </a:p>
        </p:txBody>
      </p:sp>
    </p:spTree>
    <p:extLst>
      <p:ext uri="{BB962C8B-B14F-4D97-AF65-F5344CB8AC3E}">
        <p14:creationId xmlns:p14="http://schemas.microsoft.com/office/powerpoint/2010/main" val="1341057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097C7A-02B2-4C59-B410-9FA972906A29}"/>
              </a:ext>
            </a:extLst>
          </p:cNvPr>
          <p:cNvSpPr>
            <a:spLocks noGrp="1"/>
          </p:cNvSpPr>
          <p:nvPr>
            <p:ph type="title"/>
          </p:nvPr>
        </p:nvSpPr>
        <p:spPr/>
        <p:txBody>
          <a:bodyPr/>
          <a:lstStyle/>
          <a:p>
            <a:r>
              <a:rPr lang="ru-RU" dirty="0"/>
              <a:t>Приёмы тестирования чёрного ящика</a:t>
            </a:r>
            <a:br>
              <a:rPr lang="ru-RU" dirty="0"/>
            </a:br>
            <a:endParaRPr lang="ru-RU" dirty="0"/>
          </a:p>
        </p:txBody>
      </p:sp>
      <p:sp>
        <p:nvSpPr>
          <p:cNvPr id="3" name="Объект 2">
            <a:extLst>
              <a:ext uri="{FF2B5EF4-FFF2-40B4-BE49-F238E27FC236}">
                <a16:creationId xmlns:a16="http://schemas.microsoft.com/office/drawing/2014/main" id="{F48BFF78-2E78-4D46-A892-F61A81B139E4}"/>
              </a:ext>
            </a:extLst>
          </p:cNvPr>
          <p:cNvSpPr>
            <a:spLocks noGrp="1"/>
          </p:cNvSpPr>
          <p:nvPr>
            <p:ph idx="1"/>
          </p:nvPr>
        </p:nvSpPr>
        <p:spPr/>
        <p:txBody>
          <a:bodyPr>
            <a:normAutofit/>
          </a:bodyPr>
          <a:lstStyle/>
          <a:p>
            <a:r>
              <a:rPr lang="ru-RU" sz="3200" dirty="0"/>
              <a:t>Эквивалентное разбиение.</a:t>
            </a:r>
          </a:p>
          <a:p>
            <a:r>
              <a:rPr lang="ru-RU" sz="3200" dirty="0"/>
              <a:t>Анализ граничных значений.</a:t>
            </a:r>
          </a:p>
          <a:p>
            <a:r>
              <a:rPr lang="ru-RU" sz="3200" dirty="0"/>
              <a:t>Анализ причинно-следственных связей.</a:t>
            </a:r>
          </a:p>
          <a:p>
            <a:r>
              <a:rPr lang="ru-RU" sz="3200" dirty="0"/>
              <a:t>Предположение об ошибке.</a:t>
            </a:r>
          </a:p>
        </p:txBody>
      </p:sp>
    </p:spTree>
    <p:extLst>
      <p:ext uri="{BB962C8B-B14F-4D97-AF65-F5344CB8AC3E}">
        <p14:creationId xmlns:p14="http://schemas.microsoft.com/office/powerpoint/2010/main" val="2380333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092A53-C934-42AC-8FF3-6B95CCC817CD}"/>
              </a:ext>
            </a:extLst>
          </p:cNvPr>
          <p:cNvSpPr>
            <a:spLocks noGrp="1"/>
          </p:cNvSpPr>
          <p:nvPr>
            <p:ph type="title"/>
          </p:nvPr>
        </p:nvSpPr>
        <p:spPr/>
        <p:txBody>
          <a:bodyPr/>
          <a:lstStyle/>
          <a:p>
            <a:pPr algn="ctr"/>
            <a:r>
              <a:rPr lang="ru-RU" dirty="0"/>
              <a:t>Эквивалентное разбиение</a:t>
            </a:r>
            <a:br>
              <a:rPr lang="ru-RU" dirty="0"/>
            </a:br>
            <a:endParaRPr lang="ru-RU" dirty="0"/>
          </a:p>
        </p:txBody>
      </p:sp>
      <p:sp>
        <p:nvSpPr>
          <p:cNvPr id="3" name="Объект 2">
            <a:extLst>
              <a:ext uri="{FF2B5EF4-FFF2-40B4-BE49-F238E27FC236}">
                <a16:creationId xmlns:a16="http://schemas.microsoft.com/office/drawing/2014/main" id="{5DDD75E4-8E45-4FB3-97BB-F7E411CB3AAA}"/>
              </a:ext>
            </a:extLst>
          </p:cNvPr>
          <p:cNvSpPr>
            <a:spLocks noGrp="1"/>
          </p:cNvSpPr>
          <p:nvPr>
            <p:ph idx="1"/>
          </p:nvPr>
        </p:nvSpPr>
        <p:spPr/>
        <p:txBody>
          <a:bodyPr>
            <a:normAutofit fontScale="92500" lnSpcReduction="20000"/>
          </a:bodyPr>
          <a:lstStyle/>
          <a:p>
            <a:r>
              <a:rPr lang="ru-RU" dirty="0"/>
              <a:t>Основу метода составляют два положения:</a:t>
            </a:r>
          </a:p>
          <a:p>
            <a:endParaRPr lang="ru-RU" dirty="0"/>
          </a:p>
          <a:p>
            <a:r>
              <a:rPr lang="ru-RU" dirty="0"/>
              <a:t>Исходные данные необходимо разбить на конечное число классов эквивалентности. В одном классе эквивалентности содержатся такие тесты, что если один тест из класса эквивалентности обнаруживает некоторую ошибку, то и любой другой тест из этого класса эквивалентности должен обнаруживать эту же ошибку.</a:t>
            </a:r>
          </a:p>
          <a:p>
            <a:r>
              <a:rPr lang="ru-RU" dirty="0"/>
              <a:t>Каждый тест должен включать, по возможности, максимальное количество классов эквивалентности, чтобы минимизировать общее число тестов.</a:t>
            </a:r>
          </a:p>
          <a:p>
            <a:r>
              <a:rPr lang="ru-RU" dirty="0"/>
              <a:t>Разработка тестов этим методом осуществляется в два этапа: выделение классов эквивалентности и построение теста.</a:t>
            </a:r>
          </a:p>
        </p:txBody>
      </p:sp>
    </p:spTree>
    <p:extLst>
      <p:ext uri="{BB962C8B-B14F-4D97-AF65-F5344CB8AC3E}">
        <p14:creationId xmlns:p14="http://schemas.microsoft.com/office/powerpoint/2010/main" val="2065713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962ABC-F3E3-4BAA-BA26-8278FE272EFB}"/>
              </a:ext>
            </a:extLst>
          </p:cNvPr>
          <p:cNvSpPr>
            <a:spLocks noGrp="1"/>
          </p:cNvSpPr>
          <p:nvPr>
            <p:ph type="title"/>
          </p:nvPr>
        </p:nvSpPr>
        <p:spPr/>
        <p:txBody>
          <a:bodyPr/>
          <a:lstStyle/>
          <a:p>
            <a:r>
              <a:rPr lang="ru-RU" dirty="0"/>
              <a:t>Таблица классов эквивалентности</a:t>
            </a:r>
          </a:p>
        </p:txBody>
      </p:sp>
      <p:graphicFrame>
        <p:nvGraphicFramePr>
          <p:cNvPr id="4" name="Объект 3">
            <a:extLst>
              <a:ext uri="{FF2B5EF4-FFF2-40B4-BE49-F238E27FC236}">
                <a16:creationId xmlns:a16="http://schemas.microsoft.com/office/drawing/2014/main" id="{E5247DC6-56CA-4C13-9B0F-EF706EADCD4C}"/>
              </a:ext>
            </a:extLst>
          </p:cNvPr>
          <p:cNvGraphicFramePr>
            <a:graphicFrameLocks noGrp="1"/>
          </p:cNvGraphicFramePr>
          <p:nvPr>
            <p:ph idx="1"/>
            <p:extLst>
              <p:ext uri="{D42A27DB-BD31-4B8C-83A1-F6EECF244321}">
                <p14:modId xmlns:p14="http://schemas.microsoft.com/office/powerpoint/2010/main" val="3067582066"/>
              </p:ext>
            </p:extLst>
          </p:nvPr>
        </p:nvGraphicFramePr>
        <p:xfrm>
          <a:off x="552091" y="1825625"/>
          <a:ext cx="10801710" cy="1325562"/>
        </p:xfrm>
        <a:graphic>
          <a:graphicData uri="http://schemas.openxmlformats.org/drawingml/2006/table">
            <a:tbl>
              <a:tblPr firstRow="1" bandRow="1">
                <a:tableStyleId>{5C22544A-7EE6-4342-B048-85BDC9FD1C3A}</a:tableStyleId>
              </a:tblPr>
              <a:tblGrid>
                <a:gridCol w="3600570">
                  <a:extLst>
                    <a:ext uri="{9D8B030D-6E8A-4147-A177-3AD203B41FA5}">
                      <a16:colId xmlns:a16="http://schemas.microsoft.com/office/drawing/2014/main" val="3673072082"/>
                    </a:ext>
                  </a:extLst>
                </a:gridCol>
                <a:gridCol w="3600570">
                  <a:extLst>
                    <a:ext uri="{9D8B030D-6E8A-4147-A177-3AD203B41FA5}">
                      <a16:colId xmlns:a16="http://schemas.microsoft.com/office/drawing/2014/main" val="1295066373"/>
                    </a:ext>
                  </a:extLst>
                </a:gridCol>
                <a:gridCol w="3600570">
                  <a:extLst>
                    <a:ext uri="{9D8B030D-6E8A-4147-A177-3AD203B41FA5}">
                      <a16:colId xmlns:a16="http://schemas.microsoft.com/office/drawing/2014/main" val="274468032"/>
                    </a:ext>
                  </a:extLst>
                </a:gridCol>
              </a:tblGrid>
              <a:tr h="662781">
                <a:tc>
                  <a:txBody>
                    <a:bodyPr/>
                    <a:lstStyle/>
                    <a:p>
                      <a:r>
                        <a:rPr lang="ru-RU" dirty="0"/>
                        <a:t>Входное условие</a:t>
                      </a:r>
                    </a:p>
                  </a:txBody>
                  <a:tcPr/>
                </a:tc>
                <a:tc>
                  <a:txBody>
                    <a:bodyPr/>
                    <a:lstStyle/>
                    <a:p>
                      <a:r>
                        <a:rPr lang="ru-RU" dirty="0"/>
                        <a:t>Правильные классы эквивалентности</a:t>
                      </a:r>
                    </a:p>
                  </a:txBody>
                  <a:tcPr/>
                </a:tc>
                <a:tc>
                  <a:txBody>
                    <a:bodyPr/>
                    <a:lstStyle/>
                    <a:p>
                      <a:r>
                        <a:rPr lang="ru-RU" dirty="0"/>
                        <a:t>Неправильные классы эквивалентности</a:t>
                      </a:r>
                    </a:p>
                  </a:txBody>
                  <a:tcPr/>
                </a:tc>
                <a:extLst>
                  <a:ext uri="{0D108BD9-81ED-4DB2-BD59-A6C34878D82A}">
                    <a16:rowId xmlns:a16="http://schemas.microsoft.com/office/drawing/2014/main" val="2470637609"/>
                  </a:ext>
                </a:extLst>
              </a:tr>
              <a:tr h="662781">
                <a:tc>
                  <a:txBody>
                    <a:bodyPr/>
                    <a:lstStyle/>
                    <a:p>
                      <a:endParaRPr lang="ru-RU"/>
                    </a:p>
                  </a:txBody>
                  <a:tcPr/>
                </a:tc>
                <a:tc>
                  <a:txBody>
                    <a:bodyPr/>
                    <a:lstStyle/>
                    <a:p>
                      <a:endParaRPr lang="ru-RU"/>
                    </a:p>
                  </a:txBody>
                  <a:tcPr/>
                </a:tc>
                <a:tc>
                  <a:txBody>
                    <a:bodyPr/>
                    <a:lstStyle/>
                    <a:p>
                      <a:endParaRPr lang="ru-RU" dirty="0"/>
                    </a:p>
                  </a:txBody>
                  <a:tcPr/>
                </a:tc>
                <a:extLst>
                  <a:ext uri="{0D108BD9-81ED-4DB2-BD59-A6C34878D82A}">
                    <a16:rowId xmlns:a16="http://schemas.microsoft.com/office/drawing/2014/main" val="901731195"/>
                  </a:ext>
                </a:extLst>
              </a:tr>
            </a:tbl>
          </a:graphicData>
        </a:graphic>
      </p:graphicFrame>
    </p:spTree>
    <p:extLst>
      <p:ext uri="{BB962C8B-B14F-4D97-AF65-F5344CB8AC3E}">
        <p14:creationId xmlns:p14="http://schemas.microsoft.com/office/powerpoint/2010/main" val="2157226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324660-DB88-4756-B325-9778F05D4311}"/>
              </a:ext>
            </a:extLst>
          </p:cNvPr>
          <p:cNvSpPr>
            <a:spLocks noGrp="1"/>
          </p:cNvSpPr>
          <p:nvPr>
            <p:ph type="title"/>
          </p:nvPr>
        </p:nvSpPr>
        <p:spPr/>
        <p:txBody>
          <a:bodyPr>
            <a:normAutofit fontScale="90000"/>
          </a:bodyPr>
          <a:lstStyle/>
          <a:p>
            <a:r>
              <a:rPr lang="ru-RU" dirty="0"/>
              <a:t>Выделение классов эквивалентности является эвристическим способом, однако существует ряд правил:</a:t>
            </a:r>
            <a:br>
              <a:rPr lang="ru-RU" dirty="0"/>
            </a:br>
            <a:endParaRPr lang="ru-RU" dirty="0"/>
          </a:p>
        </p:txBody>
      </p:sp>
      <p:sp>
        <p:nvSpPr>
          <p:cNvPr id="3" name="Объект 2">
            <a:extLst>
              <a:ext uri="{FF2B5EF4-FFF2-40B4-BE49-F238E27FC236}">
                <a16:creationId xmlns:a16="http://schemas.microsoft.com/office/drawing/2014/main" id="{C47676CF-0142-4F79-8BC9-C0106A455441}"/>
              </a:ext>
            </a:extLst>
          </p:cNvPr>
          <p:cNvSpPr>
            <a:spLocks noGrp="1"/>
          </p:cNvSpPr>
          <p:nvPr>
            <p:ph idx="1"/>
          </p:nvPr>
        </p:nvSpPr>
        <p:spPr>
          <a:xfrm>
            <a:off x="-189781" y="1138687"/>
            <a:ext cx="12767094" cy="5952226"/>
          </a:xfrm>
        </p:spPr>
        <p:txBody>
          <a:bodyPr>
            <a:normAutofit lnSpcReduction="10000"/>
          </a:bodyPr>
          <a:lstStyle/>
          <a:p>
            <a:endParaRPr lang="ru-RU" dirty="0"/>
          </a:p>
          <a:p>
            <a:r>
              <a:rPr lang="ru-RU" dirty="0"/>
              <a:t>Если входное условие описывает область значений, например «Целое число принимает значение от 0 до 999», то существует один правильный класс эквивалентности и два неправильных.</a:t>
            </a:r>
          </a:p>
          <a:p>
            <a:r>
              <a:rPr lang="ru-RU" dirty="0"/>
              <a:t>Если входное условие описывает число значений, например «Число строк во входном файле лежит в интервале (1..6)», то также существует один правильный класс и два неправильных.</a:t>
            </a:r>
          </a:p>
          <a:p>
            <a:r>
              <a:rPr lang="ru-RU" dirty="0"/>
              <a:t>Если входное условие описывает множество входных значений, то определяется количество правильных классов, равное количеству элементов в множестве входных значений. Если входное условие описывает ситуацию «должно быть», например «Первый символ должен быть заглавным», тогда один класс правильный и один неправильный.</a:t>
            </a:r>
          </a:p>
          <a:p>
            <a:r>
              <a:rPr lang="ru-RU" dirty="0"/>
              <a:t>Если есть основание считать, что элементы внутри одного класса эквивалентности могут программой трактоваться по-разному, необходимо разбить данный класс на подклассы. </a:t>
            </a:r>
          </a:p>
        </p:txBody>
      </p:sp>
    </p:spTree>
    <p:extLst>
      <p:ext uri="{BB962C8B-B14F-4D97-AF65-F5344CB8AC3E}">
        <p14:creationId xmlns:p14="http://schemas.microsoft.com/office/powerpoint/2010/main" val="236328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0390F1-026B-4DAA-B570-3965EC7C7338}"/>
              </a:ext>
            </a:extLst>
          </p:cNvPr>
          <p:cNvSpPr>
            <a:spLocks noGrp="1"/>
          </p:cNvSpPr>
          <p:nvPr>
            <p:ph type="title"/>
          </p:nvPr>
        </p:nvSpPr>
        <p:spPr/>
        <p:txBody>
          <a:bodyPr/>
          <a:lstStyle/>
          <a:p>
            <a:r>
              <a:rPr lang="ru-RU" dirty="0"/>
              <a:t>Составление теста</a:t>
            </a:r>
          </a:p>
        </p:txBody>
      </p:sp>
      <p:sp>
        <p:nvSpPr>
          <p:cNvPr id="3" name="Объект 2">
            <a:extLst>
              <a:ext uri="{FF2B5EF4-FFF2-40B4-BE49-F238E27FC236}">
                <a16:creationId xmlns:a16="http://schemas.microsoft.com/office/drawing/2014/main" id="{10C6C06F-1C40-4479-BFF4-2330A95474DD}"/>
              </a:ext>
            </a:extLst>
          </p:cNvPr>
          <p:cNvSpPr>
            <a:spLocks noGrp="1"/>
          </p:cNvSpPr>
          <p:nvPr>
            <p:ph idx="1"/>
          </p:nvPr>
        </p:nvSpPr>
        <p:spPr/>
        <p:txBody>
          <a:bodyPr/>
          <a:lstStyle/>
          <a:p>
            <a:pPr indent="450215" algn="just">
              <a:spcAft>
                <a:spcPts val="0"/>
              </a:spcAft>
            </a:pPr>
            <a:r>
              <a:rPr lang="ru-RU" dirty="0">
                <a:latin typeface="Times New Roman" panose="02020603050405020304" pitchFamily="18" charset="0"/>
                <a:ea typeface="Calibri" panose="020F0502020204030204" pitchFamily="34" charset="0"/>
              </a:rPr>
              <a:t>Каждому классу эквивалентности присваивается уникальный номер.</a:t>
            </a:r>
          </a:p>
          <a:p>
            <a:pPr indent="450215" algn="just">
              <a:spcAft>
                <a:spcPts val="0"/>
              </a:spcAft>
            </a:pPr>
            <a:r>
              <a:rPr lang="ru-RU" dirty="0">
                <a:latin typeface="Times New Roman" panose="02020603050405020304" pitchFamily="18" charset="0"/>
                <a:ea typeface="Calibri" panose="020F0502020204030204" pitchFamily="34" charset="0"/>
              </a:rPr>
              <a:t>Если ещё остались не включённые в тесты правильные классы, то пишутся тесты, которые покрывают максимально возможное количество классов.</a:t>
            </a:r>
          </a:p>
          <a:p>
            <a:pPr indent="450215" algn="just">
              <a:spcAft>
                <a:spcPts val="0"/>
              </a:spcAft>
            </a:pPr>
            <a:r>
              <a:rPr lang="ru-RU" dirty="0">
                <a:latin typeface="Times New Roman" panose="02020603050405020304" pitchFamily="18" charset="0"/>
                <a:ea typeface="Calibri" panose="020F0502020204030204" pitchFamily="34" charset="0"/>
              </a:rPr>
              <a:t>Если остались не включённые в тесты неправильные классы, то пишут тесты, которые покрывают только один класс.</a:t>
            </a:r>
          </a:p>
          <a:p>
            <a:endParaRPr lang="ru-RU" dirty="0"/>
          </a:p>
        </p:txBody>
      </p:sp>
    </p:spTree>
    <p:extLst>
      <p:ext uri="{BB962C8B-B14F-4D97-AF65-F5344CB8AC3E}">
        <p14:creationId xmlns:p14="http://schemas.microsoft.com/office/powerpoint/2010/main" val="2937766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2BC358-DFEC-4D31-98C0-FC779C850FE2}"/>
              </a:ext>
            </a:extLst>
          </p:cNvPr>
          <p:cNvSpPr>
            <a:spLocks noGrp="1"/>
          </p:cNvSpPr>
          <p:nvPr>
            <p:ph type="title"/>
          </p:nvPr>
        </p:nvSpPr>
        <p:spPr/>
        <p:txBody>
          <a:bodyPr/>
          <a:lstStyle/>
          <a:p>
            <a:r>
              <a:rPr lang="ru-RU">
                <a:latin typeface="Times New Roman" panose="02020603050405020304" pitchFamily="18" charset="0"/>
                <a:ea typeface="Calibri" panose="020F0502020204030204" pitchFamily="34" charset="0"/>
              </a:rPr>
              <a:t>Анализ граничных значений</a:t>
            </a:r>
            <a:endParaRPr lang="ru-RU"/>
          </a:p>
        </p:txBody>
      </p:sp>
      <p:sp>
        <p:nvSpPr>
          <p:cNvPr id="3" name="Объект 2">
            <a:extLst>
              <a:ext uri="{FF2B5EF4-FFF2-40B4-BE49-F238E27FC236}">
                <a16:creationId xmlns:a16="http://schemas.microsoft.com/office/drawing/2014/main" id="{797D937B-27F9-416B-95E1-EC7C44A00502}"/>
              </a:ext>
            </a:extLst>
          </p:cNvPr>
          <p:cNvSpPr>
            <a:spLocks noGrp="1"/>
          </p:cNvSpPr>
          <p:nvPr>
            <p:ph idx="1"/>
          </p:nvPr>
        </p:nvSpPr>
        <p:spPr>
          <a:xfrm>
            <a:off x="293298" y="1825624"/>
            <a:ext cx="11060502" cy="5032375"/>
          </a:xfrm>
        </p:spPr>
        <p:txBody>
          <a:bodyPr>
            <a:normAutofit lnSpcReduction="10000"/>
          </a:bodyPr>
          <a:lstStyle/>
          <a:p>
            <a:pPr indent="450215" algn="just">
              <a:spcAft>
                <a:spcPts val="0"/>
              </a:spcAft>
            </a:pPr>
            <a:r>
              <a:rPr lang="ru-RU" dirty="0">
                <a:latin typeface="Times New Roman" panose="02020603050405020304" pitchFamily="18" charset="0"/>
                <a:ea typeface="Calibri" panose="020F0502020204030204" pitchFamily="34" charset="0"/>
              </a:rPr>
              <a:t>Граничные условия — это ситуации, возникающие на высших и нижних границах входных классов эквивалентности.</a:t>
            </a:r>
          </a:p>
          <a:p>
            <a:pPr indent="450215" algn="just">
              <a:spcAft>
                <a:spcPts val="0"/>
              </a:spcAft>
            </a:pPr>
            <a:r>
              <a:rPr lang="ru-RU" dirty="0">
                <a:latin typeface="Times New Roman" panose="02020603050405020304" pitchFamily="18" charset="0"/>
                <a:ea typeface="Calibri" panose="020F0502020204030204" pitchFamily="34" charset="0"/>
              </a:rPr>
              <a:t> </a:t>
            </a:r>
          </a:p>
          <a:p>
            <a:pPr indent="450215" algn="just">
              <a:spcAft>
                <a:spcPts val="0"/>
              </a:spcAft>
            </a:pPr>
            <a:r>
              <a:rPr lang="ru-RU" dirty="0">
                <a:latin typeface="Times New Roman" panose="02020603050405020304" pitchFamily="18" charset="0"/>
                <a:ea typeface="Calibri" panose="020F0502020204030204" pitchFamily="34" charset="0"/>
              </a:rPr>
              <a:t>Анализ граничных значений отличается от эквивалентного разбиения следующим:</a:t>
            </a:r>
          </a:p>
          <a:p>
            <a:pPr indent="450215" algn="just">
              <a:spcAft>
                <a:spcPts val="0"/>
              </a:spcAft>
            </a:pPr>
            <a:r>
              <a:rPr lang="ru-RU" dirty="0">
                <a:latin typeface="Times New Roman" panose="02020603050405020304" pitchFamily="18" charset="0"/>
                <a:ea typeface="Calibri" panose="020F0502020204030204" pitchFamily="34" charset="0"/>
              </a:rPr>
              <a:t> </a:t>
            </a:r>
          </a:p>
          <a:p>
            <a:pPr indent="450215" algn="just">
              <a:spcAft>
                <a:spcPts val="0"/>
              </a:spcAft>
            </a:pPr>
            <a:r>
              <a:rPr lang="ru-RU" dirty="0">
                <a:latin typeface="Times New Roman" panose="02020603050405020304" pitchFamily="18" charset="0"/>
                <a:ea typeface="Calibri" panose="020F0502020204030204" pitchFamily="34" charset="0"/>
              </a:rPr>
              <a:t>Выбор любого элемента в классе эквивалентности в качестве представительного осуществляется таким образом, чтобы проверить тестом каждую границу этого класса.</a:t>
            </a:r>
          </a:p>
          <a:p>
            <a:pPr indent="450215" algn="just">
              <a:spcAft>
                <a:spcPts val="0"/>
              </a:spcAft>
            </a:pPr>
            <a:r>
              <a:rPr lang="ru-RU" dirty="0">
                <a:latin typeface="Times New Roman" panose="02020603050405020304" pitchFamily="18" charset="0"/>
                <a:ea typeface="Calibri" panose="020F0502020204030204" pitchFamily="34" charset="0"/>
              </a:rPr>
              <a:t>При разработке тестов рассматриваются не только входные значения (пространство входов), но и выходные (пространство выходов).</a:t>
            </a:r>
          </a:p>
          <a:p>
            <a:endParaRPr lang="ru-RU" dirty="0"/>
          </a:p>
        </p:txBody>
      </p:sp>
    </p:spTree>
    <p:extLst>
      <p:ext uri="{BB962C8B-B14F-4D97-AF65-F5344CB8AC3E}">
        <p14:creationId xmlns:p14="http://schemas.microsoft.com/office/powerpoint/2010/main" val="1315849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8F043C-741B-4BC4-8D32-482FAC8DCD10}"/>
              </a:ext>
            </a:extLst>
          </p:cNvPr>
          <p:cNvSpPr>
            <a:spLocks noGrp="1"/>
          </p:cNvSpPr>
          <p:nvPr>
            <p:ph type="title"/>
          </p:nvPr>
        </p:nvSpPr>
        <p:spPr/>
        <p:txBody>
          <a:bodyPr/>
          <a:lstStyle/>
          <a:p>
            <a:r>
              <a:rPr lang="ru-RU" dirty="0">
                <a:latin typeface="Times New Roman" panose="02020603050405020304" pitchFamily="18" charset="0"/>
                <a:ea typeface="Calibri" panose="020F0502020204030204" pitchFamily="34" charset="0"/>
              </a:rPr>
              <a:t>Существует несколько правил:</a:t>
            </a:r>
            <a:br>
              <a:rPr lang="ru-RU" dirty="0">
                <a:latin typeface="Times New Roman" panose="02020603050405020304" pitchFamily="18" charset="0"/>
                <a:ea typeface="Calibri" panose="020F0502020204030204" pitchFamily="34" charset="0"/>
              </a:rPr>
            </a:br>
            <a:endParaRPr lang="ru-RU" dirty="0"/>
          </a:p>
        </p:txBody>
      </p:sp>
      <p:sp>
        <p:nvSpPr>
          <p:cNvPr id="3" name="Объект 2">
            <a:extLst>
              <a:ext uri="{FF2B5EF4-FFF2-40B4-BE49-F238E27FC236}">
                <a16:creationId xmlns:a16="http://schemas.microsoft.com/office/drawing/2014/main" id="{BB1055EB-BFBE-4BEA-99DD-96569546FE44}"/>
              </a:ext>
            </a:extLst>
          </p:cNvPr>
          <p:cNvSpPr>
            <a:spLocks noGrp="1"/>
          </p:cNvSpPr>
          <p:nvPr>
            <p:ph idx="1"/>
          </p:nvPr>
        </p:nvSpPr>
        <p:spPr>
          <a:xfrm>
            <a:off x="0" y="1086928"/>
            <a:ext cx="12192000" cy="5771071"/>
          </a:xfrm>
        </p:spPr>
        <p:txBody>
          <a:bodyPr>
            <a:normAutofit lnSpcReduction="10000"/>
          </a:bodyPr>
          <a:lstStyle/>
          <a:p>
            <a:pPr indent="450215" algn="just">
              <a:spcAft>
                <a:spcPts val="0"/>
              </a:spcAft>
            </a:pPr>
            <a:r>
              <a:rPr lang="ru-RU" dirty="0">
                <a:latin typeface="Times New Roman" panose="02020603050405020304" pitchFamily="18" charset="0"/>
                <a:ea typeface="Calibri" panose="020F0502020204030204" pitchFamily="34" charset="0"/>
              </a:rPr>
              <a:t>Построить тесты с неправильными входными данными для ситуации незначительного выхода за границы области значений. Если входные значения должны быть в интервале [-1.0 .. +1.0], проверяем −1.0, 1.0, −1.000001, 1.000001.</a:t>
            </a:r>
          </a:p>
          <a:p>
            <a:pPr indent="450215" algn="just">
              <a:spcAft>
                <a:spcPts val="0"/>
              </a:spcAft>
            </a:pPr>
            <a:r>
              <a:rPr lang="ru-RU" dirty="0">
                <a:latin typeface="Times New Roman" panose="02020603050405020304" pitchFamily="18" charset="0"/>
                <a:ea typeface="Calibri" panose="020F0502020204030204" pitchFamily="34" charset="0"/>
              </a:rPr>
              <a:t>Обязательно писать тесты для минимальной и максимальной границы диапазона.</a:t>
            </a:r>
          </a:p>
          <a:p>
            <a:pPr indent="450215" algn="just">
              <a:spcAft>
                <a:spcPts val="0"/>
              </a:spcAft>
            </a:pPr>
            <a:r>
              <a:rPr lang="ru-RU" dirty="0">
                <a:latin typeface="Times New Roman" panose="02020603050405020304" pitchFamily="18" charset="0"/>
                <a:ea typeface="Calibri" panose="020F0502020204030204" pitchFamily="34" charset="0"/>
              </a:rPr>
              <a:t>Использовать первые два правила для каждого из входных значений (использовать пункт 2 для всех выходных значений).</a:t>
            </a:r>
          </a:p>
          <a:p>
            <a:pPr indent="450215" algn="just">
              <a:spcAft>
                <a:spcPts val="0"/>
              </a:spcAft>
            </a:pPr>
            <a:r>
              <a:rPr lang="ru-RU" dirty="0">
                <a:latin typeface="Times New Roman" panose="02020603050405020304" pitchFamily="18" charset="0"/>
                <a:ea typeface="Calibri" panose="020F0502020204030204" pitchFamily="34" charset="0"/>
              </a:rPr>
              <a:t>Если вход и выход программы представляет упорядоченное множество, сосредоточить внимание на первом и последнем элементах списка.</a:t>
            </a:r>
          </a:p>
          <a:p>
            <a:pPr indent="450215" algn="just">
              <a:spcAft>
                <a:spcPts val="0"/>
              </a:spcAft>
            </a:pPr>
            <a:r>
              <a:rPr lang="ru-RU" dirty="0">
                <a:latin typeface="Times New Roman" panose="02020603050405020304" pitchFamily="18" charset="0"/>
                <a:ea typeface="Calibri" panose="020F0502020204030204" pitchFamily="34" charset="0"/>
              </a:rPr>
              <a:t>Анализ граничных значений, если он применён правильно, позволяет обнаружить большое число ошибок. Однако определение этих границ для каждой задачи может являться отдельной трудной задачей. Также этот метод не проверяет комбинации входных значений.</a:t>
            </a:r>
          </a:p>
          <a:p>
            <a:endParaRPr lang="ru-RU" dirty="0"/>
          </a:p>
        </p:txBody>
      </p:sp>
    </p:spTree>
    <p:extLst>
      <p:ext uri="{BB962C8B-B14F-4D97-AF65-F5344CB8AC3E}">
        <p14:creationId xmlns:p14="http://schemas.microsoft.com/office/powerpoint/2010/main" val="10353147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1E20B5-4CC3-4C34-B748-2112127C1CF8}"/>
              </a:ext>
            </a:extLst>
          </p:cNvPr>
          <p:cNvSpPr>
            <a:spLocks noGrp="1"/>
          </p:cNvSpPr>
          <p:nvPr>
            <p:ph type="title"/>
          </p:nvPr>
        </p:nvSpPr>
        <p:spPr/>
        <p:txBody>
          <a:bodyPr/>
          <a:lstStyle/>
          <a:p>
            <a:r>
              <a:rPr lang="ru-RU">
                <a:latin typeface="Times New Roman" panose="02020603050405020304" pitchFamily="18" charset="0"/>
                <a:ea typeface="Calibri" panose="020F0502020204030204" pitchFamily="34" charset="0"/>
              </a:rPr>
              <a:t>Анализ причинно-следственных связей</a:t>
            </a:r>
            <a:endParaRPr lang="ru-RU"/>
          </a:p>
        </p:txBody>
      </p:sp>
      <p:sp>
        <p:nvSpPr>
          <p:cNvPr id="3" name="Объект 2">
            <a:extLst>
              <a:ext uri="{FF2B5EF4-FFF2-40B4-BE49-F238E27FC236}">
                <a16:creationId xmlns:a16="http://schemas.microsoft.com/office/drawing/2014/main" id="{F674D4B3-29D9-4FF0-91CC-2DF2723800CA}"/>
              </a:ext>
            </a:extLst>
          </p:cNvPr>
          <p:cNvSpPr>
            <a:spLocks noGrp="1"/>
          </p:cNvSpPr>
          <p:nvPr>
            <p:ph idx="1"/>
          </p:nvPr>
        </p:nvSpPr>
        <p:spPr>
          <a:xfrm>
            <a:off x="0" y="1345722"/>
            <a:ext cx="12192000" cy="5512278"/>
          </a:xfrm>
        </p:spPr>
        <p:txBody>
          <a:bodyPr>
            <a:normAutofit/>
          </a:bodyPr>
          <a:lstStyle/>
          <a:p>
            <a:pPr indent="450215" algn="just">
              <a:spcAft>
                <a:spcPts val="0"/>
              </a:spcAft>
            </a:pPr>
            <a:r>
              <a:rPr lang="ru-RU" dirty="0">
                <a:latin typeface="Times New Roman" panose="02020603050405020304" pitchFamily="18" charset="0"/>
                <a:ea typeface="Calibri" panose="020F0502020204030204" pitchFamily="34" charset="0"/>
              </a:rPr>
              <a:t>Спецификация разбивается на рабочие участки.</a:t>
            </a:r>
          </a:p>
          <a:p>
            <a:pPr indent="450215" algn="just">
              <a:spcAft>
                <a:spcPts val="0"/>
              </a:spcAft>
            </a:pPr>
            <a:r>
              <a:rPr lang="ru-RU" dirty="0">
                <a:latin typeface="Times New Roman" panose="02020603050405020304" pitchFamily="18" charset="0"/>
                <a:ea typeface="Calibri" panose="020F0502020204030204" pitchFamily="34" charset="0"/>
              </a:rPr>
              <a:t>В спецификации определяются множество причин и следствий. Под причиной понимается отдельное входное условие или класс эквивалентности. Следствие представляет собой выходное условие или преобразование системы. Здесь каждой причине и следствию присваивается номер.</a:t>
            </a:r>
          </a:p>
          <a:p>
            <a:pPr indent="450215" algn="just">
              <a:spcAft>
                <a:spcPts val="0"/>
              </a:spcAft>
            </a:pPr>
            <a:r>
              <a:rPr lang="ru-RU" dirty="0">
                <a:latin typeface="Times New Roman" panose="02020603050405020304" pitchFamily="18" charset="0"/>
                <a:ea typeface="Calibri" panose="020F0502020204030204" pitchFamily="34" charset="0"/>
              </a:rPr>
              <a:t>На основе анализа семантического (смыслового) содержания спецификации строится таблица истинности, в которой последовательно перебираются всевозможные комбинации причин и определяются следствия для каждой комбинации причин.</a:t>
            </a:r>
          </a:p>
          <a:p>
            <a:r>
              <a:rPr lang="ru-RU" dirty="0">
                <a:latin typeface="Times New Roman" panose="02020603050405020304" pitchFamily="18" charset="0"/>
                <a:ea typeface="Calibri" panose="020F0502020204030204" pitchFamily="34" charset="0"/>
              </a:rPr>
              <a:t>Таблица снабжается примечаниями, задающими ограничения и описывающими комбинации, которые невозможны. Недостатком этого подхода является плохое исследование граничных условий.</a:t>
            </a:r>
            <a:endParaRPr lang="ru-RU" dirty="0"/>
          </a:p>
        </p:txBody>
      </p:sp>
    </p:spTree>
    <p:extLst>
      <p:ext uri="{BB962C8B-B14F-4D97-AF65-F5344CB8AC3E}">
        <p14:creationId xmlns:p14="http://schemas.microsoft.com/office/powerpoint/2010/main" val="810534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F51A8A-036B-4643-82AF-9BD5B578301C}"/>
              </a:ext>
            </a:extLst>
          </p:cNvPr>
          <p:cNvSpPr>
            <a:spLocks noGrp="1"/>
          </p:cNvSpPr>
          <p:nvPr>
            <p:ph type="title"/>
          </p:nvPr>
        </p:nvSpPr>
        <p:spPr/>
        <p:txBody>
          <a:bodyPr/>
          <a:lstStyle/>
          <a:p>
            <a:r>
              <a:rPr lang="ru-RU">
                <a:latin typeface="Times New Roman" panose="02020603050405020304" pitchFamily="18" charset="0"/>
                <a:ea typeface="Calibri" panose="020F0502020204030204" pitchFamily="34" charset="0"/>
              </a:rPr>
              <a:t>Предположение об ошибке</a:t>
            </a:r>
            <a:endParaRPr lang="ru-RU"/>
          </a:p>
        </p:txBody>
      </p:sp>
      <p:sp>
        <p:nvSpPr>
          <p:cNvPr id="3" name="Объект 2">
            <a:extLst>
              <a:ext uri="{FF2B5EF4-FFF2-40B4-BE49-F238E27FC236}">
                <a16:creationId xmlns:a16="http://schemas.microsoft.com/office/drawing/2014/main" id="{5FAC6081-DD83-4A67-83BC-40F7C1FA3211}"/>
              </a:ext>
            </a:extLst>
          </p:cNvPr>
          <p:cNvSpPr>
            <a:spLocks noGrp="1"/>
          </p:cNvSpPr>
          <p:nvPr>
            <p:ph idx="1"/>
          </p:nvPr>
        </p:nvSpPr>
        <p:spPr/>
        <p:txBody>
          <a:bodyPr/>
          <a:lstStyle/>
          <a:p>
            <a:r>
              <a:rPr lang="ru-RU" dirty="0">
                <a:latin typeface="Times New Roman" panose="02020603050405020304" pitchFamily="18" charset="0"/>
                <a:ea typeface="Calibri" panose="020F0502020204030204" pitchFamily="34" charset="0"/>
              </a:rPr>
              <a:t>Тестировщик с большим опытом выискивает ошибки без всяких методов, но при этом он подсознательно использует метод предположения об ошибке. </a:t>
            </a:r>
          </a:p>
          <a:p>
            <a:r>
              <a:rPr lang="ru-RU" dirty="0">
                <a:latin typeface="Times New Roman" panose="02020603050405020304" pitchFamily="18" charset="0"/>
                <a:ea typeface="Calibri" panose="020F0502020204030204" pitchFamily="34" charset="0"/>
              </a:rPr>
              <a:t>Данный метод в значительной степени основан на интуиции. </a:t>
            </a:r>
          </a:p>
          <a:p>
            <a:r>
              <a:rPr lang="ru-RU" dirty="0">
                <a:latin typeface="Times New Roman" panose="02020603050405020304" pitchFamily="18" charset="0"/>
                <a:ea typeface="Calibri" panose="020F0502020204030204" pitchFamily="34" charset="0"/>
              </a:rPr>
              <a:t>Основная идея метода состоит в том, чтобы составить список, который перечисляет возможные ошибки и ситуации, в которых эти ошибки могли проявиться. </a:t>
            </a:r>
          </a:p>
          <a:p>
            <a:r>
              <a:rPr lang="ru-RU" dirty="0">
                <a:latin typeface="Times New Roman" panose="02020603050405020304" pitchFamily="18" charset="0"/>
                <a:ea typeface="Calibri" panose="020F0502020204030204" pitchFamily="34" charset="0"/>
              </a:rPr>
              <a:t>Потом на основе списка составляются тесты.</a:t>
            </a:r>
            <a:endParaRPr lang="ru-RU" dirty="0"/>
          </a:p>
        </p:txBody>
      </p:sp>
    </p:spTree>
    <p:extLst>
      <p:ext uri="{BB962C8B-B14F-4D97-AF65-F5344CB8AC3E}">
        <p14:creationId xmlns:p14="http://schemas.microsoft.com/office/powerpoint/2010/main" val="313936937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TotalTime>
  <Words>1803</Words>
  <Application>Microsoft Office PowerPoint</Application>
  <PresentationFormat>Широкоэкранный</PresentationFormat>
  <Paragraphs>152</Paragraphs>
  <Slides>33</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33</vt:i4>
      </vt:variant>
    </vt:vector>
  </HeadingPairs>
  <TitlesOfParts>
    <vt:vector size="39" baseType="lpstr">
      <vt:lpstr>Arial</vt:lpstr>
      <vt:lpstr>Calibri</vt:lpstr>
      <vt:lpstr>Calibri Light</vt:lpstr>
      <vt:lpstr>Times New Roman</vt:lpstr>
      <vt:lpstr>Wingdings</vt:lpstr>
      <vt:lpstr>Тема Office</vt:lpstr>
      <vt:lpstr>Лекция 4. Тестирование программы как черного ящика</vt:lpstr>
      <vt:lpstr>Что почитать?</vt:lpstr>
      <vt:lpstr>Что такое тестирование?</vt:lpstr>
      <vt:lpstr>Презентация PowerPoint</vt:lpstr>
      <vt:lpstr>Баг (англ. Bug - жучок)</vt:lpstr>
      <vt:lpstr>Презентация PowerPoint</vt:lpstr>
      <vt:lpstr>Презентация PowerPoint</vt:lpstr>
      <vt:lpstr>Презентация PowerPoint</vt:lpstr>
      <vt:lpstr>Презентация PowerPoint</vt:lpstr>
      <vt:lpstr>Презентация PowerPoint</vt:lpstr>
      <vt:lpstr>Тестирование программного обеспечения (Software Testing)</vt:lpstr>
      <vt:lpstr>Тест Дизайн (Test Design)</vt:lpstr>
      <vt:lpstr>Презентация PowerPoint</vt:lpstr>
      <vt:lpstr>Тестовый случай (Test Case)</vt:lpstr>
      <vt:lpstr>Позитивный тест случай</vt:lpstr>
      <vt:lpstr>Структура тестового случая</vt:lpstr>
      <vt:lpstr>Структура Тестовых Случаев</vt:lpstr>
      <vt:lpstr>Баг Репорт (Bug Report)</vt:lpstr>
      <vt:lpstr>Детализация тестового случая (Test Case Specification) </vt:lpstr>
      <vt:lpstr>Презентация PowerPoint</vt:lpstr>
      <vt:lpstr>Тестирование чёрного ящика или поведенческое тестирование</vt:lpstr>
      <vt:lpstr>Чёрный ящик</vt:lpstr>
      <vt:lpstr>Принципы тестирования чёрного ящика</vt:lpstr>
      <vt:lpstr>Свойства правильно выбранного теста </vt:lpstr>
      <vt:lpstr>Приёмы тестирования чёрного ящика </vt:lpstr>
      <vt:lpstr>Эквивалентное разбиение </vt:lpstr>
      <vt:lpstr>Таблица классов эквивалентности</vt:lpstr>
      <vt:lpstr>Выделение классов эквивалентности является эвристическим способом, однако существует ряд правил: </vt:lpstr>
      <vt:lpstr>Составление теста</vt:lpstr>
      <vt:lpstr>Анализ граничных значений</vt:lpstr>
      <vt:lpstr>Существует несколько правил: </vt:lpstr>
      <vt:lpstr>Анализ причинно-следственных связей</vt:lpstr>
      <vt:lpstr>Предположение об ошибке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2. Основы отладки программного обеспечения</dc:title>
  <dc:creator>Евгений Ткачук</dc:creator>
  <cp:lastModifiedBy>Евгений Ткачук</cp:lastModifiedBy>
  <cp:revision>30</cp:revision>
  <dcterms:created xsi:type="dcterms:W3CDTF">2019-08-14T13:27:45Z</dcterms:created>
  <dcterms:modified xsi:type="dcterms:W3CDTF">2019-08-22T11:05:54Z</dcterms:modified>
</cp:coreProperties>
</file>